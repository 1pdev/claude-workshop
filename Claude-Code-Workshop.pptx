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5" r:id="rId3"/>
    <p:sldId id="257" r:id="rId4"/>
    <p:sldId id="258" r:id="rId5"/>
    <p:sldId id="274" r:id="rId6"/>
    <p:sldId id="259" r:id="rId7"/>
    <p:sldId id="273" r:id="rId8"/>
    <p:sldId id="260" r:id="rId9"/>
    <p:sldId id="272" r:id="rId10"/>
    <p:sldId id="261" r:id="rId11"/>
    <p:sldId id="269" r:id="rId12"/>
    <p:sldId id="271" r:id="rId13"/>
    <p:sldId id="262" r:id="rId14"/>
    <p:sldId id="270" r:id="rId15"/>
    <p:sldId id="263" r:id="rId16"/>
    <p:sldId id="264" r:id="rId17"/>
    <p:sldId id="265" r:id="rId18"/>
    <p:sldId id="266" r:id="rId19"/>
    <p:sldId id="267" r:id="rId20"/>
    <p:sldId id="26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2" d="100"/>
          <a:sy n="132" d="100"/>
        </p:scale>
        <p:origin x="2646"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9472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5D8AE-EB59-D458-45F9-12DC79149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44747-22BC-6C5A-296D-6111B296C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2E5C3-F524-54E1-3723-24A617A902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B81218-BE4F-B362-B355-7366D947E1D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06715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1289983" y="1504950"/>
            <a:ext cx="6564035" cy="571500"/>
          </a:xfrm>
          <a:prstGeom prst="rect">
            <a:avLst/>
          </a:prstGeom>
          <a:noFill/>
          <a:ln/>
        </p:spPr>
        <p:txBody>
          <a:bodyPr wrap="square" lIns="0" tIns="0" rIns="0" bIns="0" rtlCol="0" anchor="t"/>
          <a:lstStyle/>
          <a:p>
            <a:pPr marL="0" indent="0" algn="ctr">
              <a:lnSpc>
                <a:spcPts val="4500"/>
              </a:lnSpc>
              <a:spcAft>
                <a:spcPts val="1200"/>
              </a:spcAft>
              <a:buNone/>
            </a:pPr>
            <a:r>
              <a:rPr lang="en-US" sz="4500" b="1" dirty="0">
                <a:solidFill>
                  <a:srgbClr val="FFFFFF"/>
                </a:solidFill>
                <a:latin typeface="Arial" pitchFamily="34" charset="0"/>
                <a:ea typeface="Arial" pitchFamily="34" charset="-122"/>
                <a:cs typeface="Arial" pitchFamily="34" charset="-120"/>
              </a:rPr>
              <a:t>Claude Code Workshop</a:t>
            </a:r>
            <a:endParaRPr lang="en-US" sz="4500" dirty="0"/>
          </a:p>
        </p:txBody>
      </p:sp>
      <p:sp>
        <p:nvSpPr>
          <p:cNvPr id="3" name="Text 1"/>
          <p:cNvSpPr/>
          <p:nvPr/>
        </p:nvSpPr>
        <p:spPr>
          <a:xfrm>
            <a:off x="2320281" y="2419350"/>
            <a:ext cx="4503438" cy="266700"/>
          </a:xfrm>
          <a:prstGeom prst="rect">
            <a:avLst/>
          </a:prstGeom>
          <a:noFill/>
          <a:ln/>
        </p:spPr>
        <p:txBody>
          <a:bodyPr wrap="square" lIns="0" tIns="0" rIns="0" bIns="0" rtlCol="0" anchor="t"/>
          <a:lstStyle/>
          <a:p>
            <a:pPr marL="0" indent="0" algn="ctr">
              <a:lnSpc>
                <a:spcPts val="2100"/>
              </a:lnSpc>
              <a:spcBef>
                <a:spcPts val="300"/>
              </a:spcBef>
              <a:spcAft>
                <a:spcPts val="2400"/>
              </a:spcAft>
              <a:buNone/>
            </a:pPr>
            <a:r>
              <a:rPr lang="en-US" sz="1500" dirty="0">
                <a:solidFill>
                  <a:srgbClr val="FFFFFF"/>
                </a:solidFill>
                <a:latin typeface="Arial" pitchFamily="34" charset="0"/>
                <a:ea typeface="Arial" pitchFamily="34" charset="-122"/>
                <a:cs typeface="Arial" pitchFamily="34" charset="-120"/>
              </a:rPr>
              <a:t>From Development to Production-Ready AI Systems</a:t>
            </a:r>
            <a:endParaRPr lang="en-US" sz="1500" dirty="0"/>
          </a:p>
        </p:txBody>
      </p:sp>
      <p:sp>
        <p:nvSpPr>
          <p:cNvPr id="4" name="Text 2"/>
          <p:cNvSpPr/>
          <p:nvPr/>
        </p:nvSpPr>
        <p:spPr>
          <a:xfrm>
            <a:off x="2640955" y="3143250"/>
            <a:ext cx="872430" cy="495300"/>
          </a:xfrm>
          <a:prstGeom prst="roundRect">
            <a:avLst>
              <a:gd name="adj" fmla="val 12308"/>
            </a:avLst>
          </a:prstGeom>
          <a:solidFill>
            <a:srgbClr val="EF6B5E"/>
          </a:solidFill>
          <a:ln/>
        </p:spPr>
        <p:txBody>
          <a:bodyPr wrap="square" rtlCol="0" anchor="ctr"/>
          <a:lstStyle/>
          <a:p>
            <a:pPr marL="0" indent="0">
              <a:buNone/>
            </a:pPr>
            <a:endParaRPr lang="en-US" dirty="0"/>
          </a:p>
        </p:txBody>
      </p:sp>
      <p:sp>
        <p:nvSpPr>
          <p:cNvPr id="5" name="Text 3"/>
          <p:cNvSpPr/>
          <p:nvPr/>
        </p:nvSpPr>
        <p:spPr>
          <a:xfrm>
            <a:off x="2826541" y="3276600"/>
            <a:ext cx="501259" cy="228600"/>
          </a:xfrm>
          <a:prstGeom prst="rect">
            <a:avLst/>
          </a:prstGeom>
          <a:noFill/>
          <a:ln/>
        </p:spPr>
        <p:txBody>
          <a:bodyPr wrap="square" lIns="0" tIns="0" rIns="0" bIns="0" rtlCol="0" anchor="t"/>
          <a:lstStyle/>
          <a:p>
            <a:pPr marL="0" indent="0" algn="ctr">
              <a:lnSpc>
                <a:spcPts val="1800"/>
              </a:lnSpc>
              <a:spcBef>
                <a:spcPts val="300"/>
              </a:spcBef>
              <a:spcAft>
                <a:spcPts val="300"/>
              </a:spcAft>
              <a:buNone/>
            </a:pPr>
            <a:r>
              <a:rPr lang="en-US" sz="1200" b="1" dirty="0">
                <a:solidFill>
                  <a:srgbClr val="FFFFFF"/>
                </a:solidFill>
                <a:latin typeface="Arial" pitchFamily="34" charset="0"/>
                <a:ea typeface="Arial" pitchFamily="34" charset="-122"/>
                <a:cs typeface="Arial" pitchFamily="34" charset="-120"/>
              </a:rPr>
              <a:t>3 Days</a:t>
            </a:r>
            <a:endParaRPr lang="en-US" sz="1200" dirty="0"/>
          </a:p>
        </p:txBody>
      </p:sp>
      <p:sp>
        <p:nvSpPr>
          <p:cNvPr id="6" name="Text 4"/>
          <p:cNvSpPr/>
          <p:nvPr/>
        </p:nvSpPr>
        <p:spPr>
          <a:xfrm>
            <a:off x="3665786" y="3143250"/>
            <a:ext cx="1033165" cy="495300"/>
          </a:xfrm>
          <a:prstGeom prst="roundRect">
            <a:avLst>
              <a:gd name="adj" fmla="val 12308"/>
            </a:avLst>
          </a:prstGeom>
          <a:solidFill>
            <a:srgbClr val="FFFFFF"/>
          </a:solidFill>
          <a:ln/>
        </p:spPr>
        <p:txBody>
          <a:bodyPr wrap="square" rtlCol="0" anchor="ctr"/>
          <a:lstStyle/>
          <a:p>
            <a:pPr marL="0" indent="0">
              <a:buNone/>
            </a:pPr>
            <a:endParaRPr lang="en-US" dirty="0"/>
          </a:p>
        </p:txBody>
      </p:sp>
      <p:sp>
        <p:nvSpPr>
          <p:cNvPr id="7" name="Text 5"/>
          <p:cNvSpPr/>
          <p:nvPr/>
        </p:nvSpPr>
        <p:spPr>
          <a:xfrm>
            <a:off x="3849764" y="3276600"/>
            <a:ext cx="665208" cy="228600"/>
          </a:xfrm>
          <a:prstGeom prst="rect">
            <a:avLst/>
          </a:prstGeom>
          <a:noFill/>
          <a:ln/>
        </p:spPr>
        <p:txBody>
          <a:bodyPr wrap="square" lIns="0" tIns="0" rIns="0" bIns="0" rtlCol="0" anchor="t"/>
          <a:lstStyle/>
          <a:p>
            <a:pPr marL="0" indent="0" algn="ctr">
              <a:lnSpc>
                <a:spcPts val="1800"/>
              </a:lnSpc>
              <a:spcBef>
                <a:spcPts val="300"/>
              </a:spcBef>
              <a:spcAft>
                <a:spcPts val="300"/>
              </a:spcAft>
              <a:buNone/>
            </a:pPr>
            <a:r>
              <a:rPr lang="en-US" sz="1200" b="1" dirty="0">
                <a:solidFill>
                  <a:srgbClr val="1A1A2E"/>
                </a:solidFill>
                <a:latin typeface="Arial" pitchFamily="34" charset="0"/>
                <a:ea typeface="Arial" pitchFamily="34" charset="-122"/>
                <a:cs typeface="Arial" pitchFamily="34" charset="-120"/>
              </a:rPr>
              <a:t>12 Hours</a:t>
            </a:r>
            <a:endParaRPr lang="en-US" sz="1200" dirty="0"/>
          </a:p>
        </p:txBody>
      </p:sp>
      <p:sp>
        <p:nvSpPr>
          <p:cNvPr id="8" name="Text 6"/>
          <p:cNvSpPr/>
          <p:nvPr/>
        </p:nvSpPr>
        <p:spPr>
          <a:xfrm>
            <a:off x="4851350" y="3143250"/>
            <a:ext cx="1651546" cy="495300"/>
          </a:xfrm>
          <a:prstGeom prst="roundRect">
            <a:avLst>
              <a:gd name="adj" fmla="val 12308"/>
            </a:avLst>
          </a:prstGeom>
          <a:solidFill>
            <a:srgbClr val="FFFFFF"/>
          </a:solidFill>
          <a:ln/>
        </p:spPr>
        <p:txBody>
          <a:bodyPr wrap="square" rtlCol="0" anchor="ctr"/>
          <a:lstStyle/>
          <a:p>
            <a:pPr marL="0" indent="0">
              <a:buNone/>
            </a:pPr>
            <a:endParaRPr lang="en-US" dirty="0"/>
          </a:p>
        </p:txBody>
      </p:sp>
      <p:sp>
        <p:nvSpPr>
          <p:cNvPr id="9" name="Text 7"/>
          <p:cNvSpPr/>
          <p:nvPr/>
        </p:nvSpPr>
        <p:spPr>
          <a:xfrm>
            <a:off x="5029145" y="3276600"/>
            <a:ext cx="1295957" cy="228600"/>
          </a:xfrm>
          <a:prstGeom prst="rect">
            <a:avLst/>
          </a:prstGeom>
          <a:noFill/>
          <a:ln/>
        </p:spPr>
        <p:txBody>
          <a:bodyPr wrap="square" lIns="0" tIns="0" rIns="0" bIns="0" rtlCol="0" anchor="t"/>
          <a:lstStyle/>
          <a:p>
            <a:pPr marL="0" indent="0" algn="ctr">
              <a:lnSpc>
                <a:spcPts val="1800"/>
              </a:lnSpc>
              <a:spcBef>
                <a:spcPts val="300"/>
              </a:spcBef>
              <a:spcAft>
                <a:spcPts val="300"/>
              </a:spcAft>
              <a:buNone/>
            </a:pPr>
            <a:r>
              <a:rPr lang="en-US" sz="1200" b="1" dirty="0">
                <a:solidFill>
                  <a:srgbClr val="1A1A2E"/>
                </a:solidFill>
                <a:latin typeface="Arial" pitchFamily="34" charset="0"/>
                <a:ea typeface="Arial" pitchFamily="34" charset="-122"/>
                <a:cs typeface="Arial" pitchFamily="34" charset="-120"/>
              </a:rPr>
              <a:t>Healthcare Focus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4636216-7F58-9D47-A6D7-7EB5E528952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4BA083-49E0-9CC7-E9FC-621C7ED7D5E5}"/>
              </a:ext>
            </a:extLst>
          </p:cNvPr>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a:extLst>
              <a:ext uri="{FF2B5EF4-FFF2-40B4-BE49-F238E27FC236}">
                <a16:creationId xmlns:a16="http://schemas.microsoft.com/office/drawing/2014/main" id="{17D96FE8-F31C-A513-DA59-BC06875E2B88}"/>
              </a:ext>
            </a:extLst>
          </p:cNvPr>
          <p:cNvSpPr/>
          <p:nvPr/>
        </p:nvSpPr>
        <p:spPr>
          <a:xfrm>
            <a:off x="476250" y="381000"/>
            <a:ext cx="330631"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endParaRPr lang="en-US" sz="900" dirty="0"/>
          </a:p>
        </p:txBody>
      </p:sp>
      <p:sp>
        <p:nvSpPr>
          <p:cNvPr id="4" name="Text 2">
            <a:extLst>
              <a:ext uri="{FF2B5EF4-FFF2-40B4-BE49-F238E27FC236}">
                <a16:creationId xmlns:a16="http://schemas.microsoft.com/office/drawing/2014/main" id="{02D4B61B-A4A1-ABE0-DBB9-6429557B89E8}"/>
              </a:ext>
            </a:extLst>
          </p:cNvPr>
          <p:cNvSpPr/>
          <p:nvPr/>
        </p:nvSpPr>
        <p:spPr>
          <a:xfrm>
            <a:off x="971848" y="285750"/>
            <a:ext cx="4507385"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cs typeface="Arial" pitchFamily="34" charset="-120"/>
              </a:rPr>
              <a:t>What are we doing here???</a:t>
            </a:r>
            <a:endParaRPr lang="en-US" sz="2250" dirty="0">
              <a:solidFill>
                <a:schemeClr val="bg1"/>
              </a:solidFill>
            </a:endParaRPr>
          </a:p>
        </p:txBody>
      </p:sp>
      <p:sp>
        <p:nvSpPr>
          <p:cNvPr id="5" name="Text 3">
            <a:extLst>
              <a:ext uri="{FF2B5EF4-FFF2-40B4-BE49-F238E27FC236}">
                <a16:creationId xmlns:a16="http://schemas.microsoft.com/office/drawing/2014/main" id="{4139F1E7-9C8E-3A5D-0C6D-64FA73A0FE83}"/>
              </a:ext>
            </a:extLst>
          </p:cNvPr>
          <p:cNvSpPr/>
          <p:nvPr/>
        </p:nvSpPr>
        <p:spPr>
          <a:xfrm>
            <a:off x="476250" y="768350"/>
            <a:ext cx="3702213"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Fundamentals</a:t>
            </a:r>
            <a:endParaRPr lang="en-US" sz="1350" dirty="0"/>
          </a:p>
        </p:txBody>
      </p:sp>
      <p:sp>
        <p:nvSpPr>
          <p:cNvPr id="8" name="Text 6">
            <a:extLst>
              <a:ext uri="{FF2B5EF4-FFF2-40B4-BE49-F238E27FC236}">
                <a16:creationId xmlns:a16="http://schemas.microsoft.com/office/drawing/2014/main" id="{85FE0B89-CA36-8D28-AA55-10D8B008DB95}"/>
              </a:ext>
            </a:extLst>
          </p:cNvPr>
          <p:cNvSpPr/>
          <p:nvPr/>
        </p:nvSpPr>
        <p:spPr>
          <a:xfrm>
            <a:off x="417295" y="1128486"/>
            <a:ext cx="7384133" cy="3522436"/>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chemeClr val="bg1"/>
                </a:solidFill>
                <a:latin typeface="Arial" pitchFamily="34" charset="0"/>
                <a:ea typeface="Arial" pitchFamily="34" charset="-122"/>
                <a:cs typeface="Arial" pitchFamily="34" charset="-120"/>
              </a:rPr>
              <a:t> AI is a data regurgitation technology.  It doesn’t think, but it does surface information quickly.  </a:t>
            </a:r>
          </a:p>
          <a:p>
            <a:pPr marL="533400" lvl="1" indent="-76200">
              <a:lnSpc>
                <a:spcPts val="2100"/>
              </a:lnSpc>
              <a:buSzPct val="100000"/>
              <a:buChar char="•"/>
            </a:pPr>
            <a:r>
              <a:rPr lang="en-US" sz="1350" dirty="0">
                <a:solidFill>
                  <a:schemeClr val="bg1"/>
                </a:solidFill>
                <a:latin typeface="Arial" pitchFamily="34" charset="0"/>
                <a:cs typeface="Arial" pitchFamily="34" charset="-120"/>
              </a:rPr>
              <a:t>Before Google, you’d go to the library and find a bunch of books to get your answer.  With Google, you’d type what you’re looking for, then read the top n results to get your answer.  With LLMs, you type your question, and it assembles the answer for you.  </a:t>
            </a:r>
          </a:p>
          <a:p>
            <a:pPr marL="76200" indent="-76200">
              <a:lnSpc>
                <a:spcPts val="2100"/>
              </a:lnSpc>
              <a:buSzPct val="100000"/>
              <a:buChar char="•"/>
            </a:pPr>
            <a:r>
              <a:rPr lang="en-US" sz="1350" dirty="0">
                <a:solidFill>
                  <a:schemeClr val="bg1"/>
                </a:solidFill>
                <a:latin typeface="Arial" pitchFamily="34" charset="0"/>
                <a:cs typeface="Arial" pitchFamily="34" charset="-120"/>
              </a:rPr>
              <a:t> How to make AI work</a:t>
            </a:r>
          </a:p>
          <a:p>
            <a:pPr marL="533400" lvl="1" indent="-76200">
              <a:lnSpc>
                <a:spcPts val="2100"/>
              </a:lnSpc>
              <a:buSzPct val="100000"/>
              <a:buChar char="•"/>
            </a:pPr>
            <a:r>
              <a:rPr lang="en-US" sz="1350" dirty="0">
                <a:solidFill>
                  <a:schemeClr val="bg1"/>
                </a:solidFill>
                <a:latin typeface="Arial" pitchFamily="34" charset="0"/>
                <a:cs typeface="Arial" pitchFamily="34" charset="-120"/>
              </a:rPr>
              <a:t>Context is everything.  You were taught to tailor your prompt, but all that is doing is reducing the context search area to the vectors necessary.  The better structured your prompt, the smaller the context search area.  </a:t>
            </a:r>
          </a:p>
          <a:p>
            <a:pPr marL="533400" lvl="1" indent="-76200">
              <a:lnSpc>
                <a:spcPts val="2100"/>
              </a:lnSpc>
              <a:buSzPct val="100000"/>
              <a:buChar char="•"/>
            </a:pPr>
            <a:r>
              <a:rPr lang="en-US" sz="1350" dirty="0">
                <a:solidFill>
                  <a:schemeClr val="bg1"/>
                </a:solidFill>
                <a:latin typeface="Arial" pitchFamily="34" charset="0"/>
                <a:cs typeface="Arial" pitchFamily="34" charset="-120"/>
              </a:rPr>
              <a:t>Now, when you are asking an AI Agent to do something, you are trying to provide it with just enough context for it to do what it needs to do.  If you give it too much information, it is more likely to mess up. </a:t>
            </a:r>
          </a:p>
          <a:p>
            <a:pPr marL="76200" indent="-76200">
              <a:lnSpc>
                <a:spcPts val="2100"/>
              </a:lnSpc>
              <a:buSzPct val="100000"/>
              <a:buChar char="•"/>
            </a:pPr>
            <a:r>
              <a:rPr lang="en-US" sz="1350" dirty="0">
                <a:solidFill>
                  <a:schemeClr val="bg1"/>
                </a:solidFill>
                <a:latin typeface="Arial" pitchFamily="34" charset="0"/>
                <a:cs typeface="Arial" pitchFamily="34" charset="-120"/>
              </a:rPr>
              <a:t> This is ALL AI is/does.  It is not incredibly complicated, and every innovation will be about infrastructure or structuring context to get closer to the correct answer. </a:t>
            </a:r>
          </a:p>
        </p:txBody>
      </p:sp>
    </p:spTree>
    <p:extLst>
      <p:ext uri="{BB962C8B-B14F-4D97-AF65-F5344CB8AC3E}">
        <p14:creationId xmlns:p14="http://schemas.microsoft.com/office/powerpoint/2010/main" val="2828615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285750"/>
            <a:ext cx="4284536" cy="342900"/>
          </a:xfrm>
          <a:prstGeom prst="rect">
            <a:avLst/>
          </a:prstGeom>
          <a:noFill/>
          <a:ln/>
        </p:spPr>
        <p:txBody>
          <a:bodyPr wrap="square" lIns="0" tIns="0" rIns="0" bIns="0" rtlCol="0" anchor="t"/>
          <a:lstStyle/>
          <a:p>
            <a:pPr marL="0" indent="0" algn="l">
              <a:lnSpc>
                <a:spcPts val="2700"/>
              </a:lnSpc>
              <a:spcAft>
                <a:spcPts val="1500"/>
              </a:spcAft>
              <a:buNone/>
            </a:pPr>
            <a:r>
              <a:rPr lang="en-US" sz="2250" b="1" dirty="0">
                <a:solidFill>
                  <a:schemeClr val="bg1"/>
                </a:solidFill>
                <a:latin typeface="Arial" pitchFamily="34" charset="0"/>
                <a:ea typeface="Arial" pitchFamily="34" charset="-122"/>
                <a:cs typeface="Arial" pitchFamily="34" charset="-120"/>
              </a:rPr>
              <a:t>Workshop Journey</a:t>
            </a:r>
            <a:endParaRPr lang="en-US" sz="2250" dirty="0">
              <a:solidFill>
                <a:schemeClr val="bg1"/>
              </a:solidFill>
            </a:endParaRPr>
          </a:p>
        </p:txBody>
      </p:sp>
      <p:sp>
        <p:nvSpPr>
          <p:cNvPr id="3" name="Text 1"/>
          <p:cNvSpPr/>
          <p:nvPr/>
        </p:nvSpPr>
        <p:spPr>
          <a:xfrm>
            <a:off x="381000" y="971550"/>
            <a:ext cx="2389584" cy="3886200"/>
          </a:xfrm>
          <a:prstGeom prst="roundRect">
            <a:avLst>
              <a:gd name="adj" fmla="val 2551"/>
            </a:avLst>
          </a:prstGeom>
          <a:solidFill>
            <a:srgbClr val="F8FAFC"/>
          </a:solidFill>
          <a:ln/>
        </p:spPr>
        <p:txBody>
          <a:bodyPr wrap="square" rtlCol="0" anchor="ctr"/>
          <a:lstStyle/>
          <a:p>
            <a:pPr marL="0" indent="0">
              <a:buNone/>
            </a:pPr>
            <a:endParaRPr lang="en-US" dirty="0"/>
          </a:p>
        </p:txBody>
      </p:sp>
      <p:sp>
        <p:nvSpPr>
          <p:cNvPr id="4" name="Text 2"/>
          <p:cNvSpPr/>
          <p:nvPr/>
        </p:nvSpPr>
        <p:spPr>
          <a:xfrm>
            <a:off x="571500" y="2266950"/>
            <a:ext cx="2008584"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5" name="Text 3"/>
          <p:cNvSpPr/>
          <p:nvPr/>
        </p:nvSpPr>
        <p:spPr>
          <a:xfrm>
            <a:off x="685800" y="2343150"/>
            <a:ext cx="1815584"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1</a:t>
            </a:r>
            <a:endParaRPr lang="en-US" sz="900" dirty="0"/>
          </a:p>
        </p:txBody>
      </p:sp>
      <p:sp>
        <p:nvSpPr>
          <p:cNvPr id="6" name="Text 4"/>
          <p:cNvSpPr/>
          <p:nvPr/>
        </p:nvSpPr>
        <p:spPr>
          <a:xfrm>
            <a:off x="571500" y="2876550"/>
            <a:ext cx="2048756" cy="228600"/>
          </a:xfrm>
          <a:prstGeom prst="rect">
            <a:avLst/>
          </a:prstGeom>
          <a:noFill/>
          <a:ln/>
        </p:spPr>
        <p:txBody>
          <a:bodyPr wrap="square" lIns="0" tIns="0" rIns="0" bIns="0" rtlCol="0" anchor="t"/>
          <a:lstStyle/>
          <a:p>
            <a:pPr marL="0" indent="0" algn="l">
              <a:lnSpc>
                <a:spcPts val="1800"/>
              </a:lnSpc>
              <a:spcBef>
                <a:spcPts val="300"/>
              </a:spcBef>
              <a:spcAft>
                <a:spcPts val="600"/>
              </a:spcAft>
              <a:buNone/>
            </a:pPr>
            <a:r>
              <a:rPr lang="en-US" sz="1200" b="1" dirty="0">
                <a:solidFill>
                  <a:srgbClr val="1A1A2E"/>
                </a:solidFill>
                <a:latin typeface="Arial" pitchFamily="34" charset="0"/>
                <a:ea typeface="Arial" pitchFamily="34" charset="-122"/>
                <a:cs typeface="Arial" pitchFamily="34" charset="-120"/>
              </a:rPr>
              <a:t>Foundations</a:t>
            </a:r>
            <a:endParaRPr lang="en-US" sz="1200" dirty="0"/>
          </a:p>
        </p:txBody>
      </p:sp>
      <p:sp>
        <p:nvSpPr>
          <p:cNvPr id="7" name="Text 5"/>
          <p:cNvSpPr/>
          <p:nvPr/>
        </p:nvSpPr>
        <p:spPr>
          <a:xfrm>
            <a:off x="571500" y="3371850"/>
            <a:ext cx="2048756"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CLAUDE.md • Skills • MCP • Workflows</a:t>
            </a:r>
            <a:endParaRPr lang="en-US" sz="900" dirty="0"/>
          </a:p>
        </p:txBody>
      </p:sp>
      <p:sp>
        <p:nvSpPr>
          <p:cNvPr id="8" name="Text 6"/>
          <p:cNvSpPr/>
          <p:nvPr/>
        </p:nvSpPr>
        <p:spPr>
          <a:xfrm>
            <a:off x="3075384" y="971550"/>
            <a:ext cx="1947714" cy="3886200"/>
          </a:xfrm>
          <a:prstGeom prst="roundRect">
            <a:avLst>
              <a:gd name="adj" fmla="val 3130"/>
            </a:avLst>
          </a:prstGeom>
          <a:solidFill>
            <a:srgbClr val="F8FAFC"/>
          </a:solidFill>
          <a:ln/>
        </p:spPr>
        <p:txBody>
          <a:bodyPr wrap="square" rtlCol="0" anchor="ctr"/>
          <a:lstStyle/>
          <a:p>
            <a:pPr marL="0" indent="0">
              <a:buNone/>
            </a:pPr>
            <a:endParaRPr lang="en-US" dirty="0"/>
          </a:p>
        </p:txBody>
      </p:sp>
      <p:sp>
        <p:nvSpPr>
          <p:cNvPr id="9" name="Text 7"/>
          <p:cNvSpPr/>
          <p:nvPr/>
        </p:nvSpPr>
        <p:spPr>
          <a:xfrm>
            <a:off x="3265884" y="2266950"/>
            <a:ext cx="1566714"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10" name="Text 8"/>
          <p:cNvSpPr/>
          <p:nvPr/>
        </p:nvSpPr>
        <p:spPr>
          <a:xfrm>
            <a:off x="3380184" y="2343150"/>
            <a:ext cx="1364876"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2</a:t>
            </a:r>
            <a:endParaRPr lang="en-US" sz="900" dirty="0"/>
          </a:p>
        </p:txBody>
      </p:sp>
      <p:sp>
        <p:nvSpPr>
          <p:cNvPr id="11" name="Text 9"/>
          <p:cNvSpPr/>
          <p:nvPr/>
        </p:nvSpPr>
        <p:spPr>
          <a:xfrm>
            <a:off x="3265884" y="2876550"/>
            <a:ext cx="1598048" cy="228600"/>
          </a:xfrm>
          <a:prstGeom prst="rect">
            <a:avLst/>
          </a:prstGeom>
          <a:noFill/>
          <a:ln/>
        </p:spPr>
        <p:txBody>
          <a:bodyPr wrap="square" lIns="0" tIns="0" rIns="0" bIns="0" rtlCol="0" anchor="t"/>
          <a:lstStyle/>
          <a:p>
            <a:pPr marL="0" indent="0" algn="l">
              <a:lnSpc>
                <a:spcPts val="1800"/>
              </a:lnSpc>
              <a:spcBef>
                <a:spcPts val="300"/>
              </a:spcBef>
              <a:spcAft>
                <a:spcPts val="600"/>
              </a:spcAft>
              <a:buNone/>
            </a:pPr>
            <a:r>
              <a:rPr lang="en-US" sz="1200" b="1" dirty="0">
                <a:solidFill>
                  <a:srgbClr val="1A1A2E"/>
                </a:solidFill>
                <a:latin typeface="Arial" pitchFamily="34" charset="0"/>
                <a:ea typeface="Arial" pitchFamily="34" charset="-122"/>
                <a:cs typeface="Arial" pitchFamily="34" charset="-120"/>
              </a:rPr>
              <a:t>Multi-Agent</a:t>
            </a:r>
            <a:endParaRPr lang="en-US" sz="1200" dirty="0"/>
          </a:p>
        </p:txBody>
      </p:sp>
      <p:sp>
        <p:nvSpPr>
          <p:cNvPr id="12" name="Text 10"/>
          <p:cNvSpPr/>
          <p:nvPr/>
        </p:nvSpPr>
        <p:spPr>
          <a:xfrm>
            <a:off x="3265884" y="3371850"/>
            <a:ext cx="159804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Sub-agents • Pipelines • CI/CD</a:t>
            </a:r>
            <a:endParaRPr lang="en-US" sz="900" dirty="0"/>
          </a:p>
        </p:txBody>
      </p:sp>
      <p:sp>
        <p:nvSpPr>
          <p:cNvPr id="13" name="Text 11"/>
          <p:cNvSpPr/>
          <p:nvPr/>
        </p:nvSpPr>
        <p:spPr>
          <a:xfrm>
            <a:off x="5327898" y="971550"/>
            <a:ext cx="2379762" cy="3886200"/>
          </a:xfrm>
          <a:prstGeom prst="roundRect">
            <a:avLst>
              <a:gd name="adj" fmla="val 2562"/>
            </a:avLst>
          </a:prstGeom>
          <a:solidFill>
            <a:srgbClr val="F8FAFC"/>
          </a:solidFill>
          <a:ln/>
        </p:spPr>
        <p:txBody>
          <a:bodyPr wrap="square" rtlCol="0" anchor="ctr"/>
          <a:lstStyle/>
          <a:p>
            <a:pPr marL="0" indent="0">
              <a:buNone/>
            </a:pPr>
            <a:endParaRPr lang="en-US" dirty="0"/>
          </a:p>
        </p:txBody>
      </p:sp>
      <p:sp>
        <p:nvSpPr>
          <p:cNvPr id="14" name="Text 12"/>
          <p:cNvSpPr/>
          <p:nvPr/>
        </p:nvSpPr>
        <p:spPr>
          <a:xfrm>
            <a:off x="5518398" y="2266950"/>
            <a:ext cx="1998762" cy="304800"/>
          </a:xfrm>
          <a:prstGeom prst="roundRect">
            <a:avLst>
              <a:gd name="adj" fmla="val 20000"/>
            </a:avLst>
          </a:prstGeom>
          <a:solidFill>
            <a:srgbClr val="EF6B5E"/>
          </a:solidFill>
          <a:ln/>
        </p:spPr>
        <p:txBody>
          <a:bodyPr wrap="square" rtlCol="0" anchor="ctr"/>
          <a:lstStyle/>
          <a:p>
            <a:pPr marL="0" indent="0">
              <a:buNone/>
            </a:pPr>
            <a:endParaRPr lang="en-US" dirty="0"/>
          </a:p>
        </p:txBody>
      </p:sp>
      <p:sp>
        <p:nvSpPr>
          <p:cNvPr id="15" name="Text 13"/>
          <p:cNvSpPr/>
          <p:nvPr/>
        </p:nvSpPr>
        <p:spPr>
          <a:xfrm>
            <a:off x="5632698" y="2343150"/>
            <a:ext cx="1805565"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3</a:t>
            </a:r>
            <a:endParaRPr lang="en-US" sz="900" dirty="0"/>
          </a:p>
        </p:txBody>
      </p:sp>
      <p:sp>
        <p:nvSpPr>
          <p:cNvPr id="16" name="Text 14"/>
          <p:cNvSpPr/>
          <p:nvPr/>
        </p:nvSpPr>
        <p:spPr>
          <a:xfrm>
            <a:off x="5518398" y="2876550"/>
            <a:ext cx="2038737" cy="228600"/>
          </a:xfrm>
          <a:prstGeom prst="rect">
            <a:avLst/>
          </a:prstGeom>
          <a:noFill/>
          <a:ln/>
        </p:spPr>
        <p:txBody>
          <a:bodyPr wrap="square" lIns="0" tIns="0" rIns="0" bIns="0" rtlCol="0" anchor="t"/>
          <a:lstStyle/>
          <a:p>
            <a:pPr marL="0" indent="0" algn="l">
              <a:lnSpc>
                <a:spcPts val="1800"/>
              </a:lnSpc>
              <a:spcBef>
                <a:spcPts val="300"/>
              </a:spcBef>
              <a:spcAft>
                <a:spcPts val="600"/>
              </a:spcAft>
              <a:buNone/>
            </a:pPr>
            <a:r>
              <a:rPr lang="en-US" sz="1200" b="1" dirty="0">
                <a:solidFill>
                  <a:srgbClr val="1A1A2E"/>
                </a:solidFill>
                <a:latin typeface="Arial" pitchFamily="34" charset="0"/>
                <a:ea typeface="Arial" pitchFamily="34" charset="-122"/>
                <a:cs typeface="Arial" pitchFamily="34" charset="-120"/>
              </a:rPr>
              <a:t>Production</a:t>
            </a:r>
            <a:endParaRPr lang="en-US" sz="1200" dirty="0"/>
          </a:p>
        </p:txBody>
      </p:sp>
      <p:sp>
        <p:nvSpPr>
          <p:cNvPr id="17" name="Text 15"/>
          <p:cNvSpPr/>
          <p:nvPr/>
        </p:nvSpPr>
        <p:spPr>
          <a:xfrm>
            <a:off x="5518398" y="3371850"/>
            <a:ext cx="2038737"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Evaluations • Monitoring • Improvement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1</a:t>
            </a:r>
            <a:endParaRPr lang="en-US" sz="900" dirty="0"/>
          </a:p>
        </p:txBody>
      </p:sp>
      <p:sp>
        <p:nvSpPr>
          <p:cNvPr id="4" name="Text 2"/>
          <p:cNvSpPr/>
          <p:nvPr/>
        </p:nvSpPr>
        <p:spPr>
          <a:xfrm>
            <a:off x="971848" y="285750"/>
            <a:ext cx="5165458"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CLAUDE.md — Project Configuration</a:t>
            </a:r>
            <a:endParaRPr lang="en-US" sz="2250" dirty="0">
              <a:solidFill>
                <a:schemeClr val="bg1"/>
              </a:solidFill>
            </a:endParaRPr>
          </a:p>
        </p:txBody>
      </p:sp>
      <p:sp>
        <p:nvSpPr>
          <p:cNvPr id="5" name="Text 3"/>
          <p:cNvSpPr/>
          <p:nvPr/>
        </p:nvSpPr>
        <p:spPr>
          <a:xfrm>
            <a:off x="381000" y="1695450"/>
            <a:ext cx="3702213"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What Is It?</a:t>
            </a:r>
            <a:endParaRPr lang="en-US" sz="1350" dirty="0"/>
          </a:p>
        </p:txBody>
      </p:sp>
      <p:sp>
        <p:nvSpPr>
          <p:cNvPr id="6" name="Text 4"/>
          <p:cNvSpPr/>
          <p:nvPr/>
        </p:nvSpPr>
        <p:spPr>
          <a:xfrm>
            <a:off x="381000" y="2228850"/>
            <a:ext cx="3702213" cy="190500"/>
          </a:xfrm>
          <a:prstGeom prst="rect">
            <a:avLst/>
          </a:prstGeom>
          <a:noFill/>
          <a:ln/>
        </p:spPr>
        <p:txBody>
          <a:bodyPr wrap="square" lIns="0" tIns="0" rIns="0" bIns="0" rtlCol="0" anchor="t"/>
          <a:lstStyle/>
          <a:p>
            <a:pPr marL="0" indent="0" algn="l">
              <a:lnSpc>
                <a:spcPts val="1500"/>
              </a:lnSpc>
              <a:spcBef>
                <a:spcPts val="300"/>
              </a:spcBef>
              <a:spcAft>
                <a:spcPts val="1200"/>
              </a:spcAft>
              <a:buNone/>
            </a:pPr>
            <a:r>
              <a:rPr lang="en-US" sz="1050" dirty="0">
                <a:solidFill>
                  <a:srgbClr val="8B95A1"/>
                </a:solidFill>
                <a:latin typeface="Arial" pitchFamily="34" charset="0"/>
                <a:ea typeface="Arial" pitchFamily="34" charset="-122"/>
                <a:cs typeface="Arial" pitchFamily="34" charset="-120"/>
              </a:rPr>
              <a:t>Persistent context for Claude — like onboarding docs for AI.</a:t>
            </a:r>
            <a:endParaRPr lang="en-US" sz="1050" dirty="0"/>
          </a:p>
        </p:txBody>
      </p:sp>
      <p:sp>
        <p:nvSpPr>
          <p:cNvPr id="7" name="Text 5"/>
          <p:cNvSpPr/>
          <p:nvPr/>
        </p:nvSpPr>
        <p:spPr>
          <a:xfrm>
            <a:off x="381000" y="2762250"/>
            <a:ext cx="3702213"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Contents</a:t>
            </a:r>
            <a:endParaRPr lang="en-US" sz="1350" dirty="0"/>
          </a:p>
        </p:txBody>
      </p:sp>
      <p:sp>
        <p:nvSpPr>
          <p:cNvPr id="8" name="Text 6"/>
          <p:cNvSpPr/>
          <p:nvPr/>
        </p:nvSpPr>
        <p:spPr>
          <a:xfrm>
            <a:off x="381000" y="3257550"/>
            <a:ext cx="3629620"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Tech stack &amp; conventions</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Critical rules (HIPAA)</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Common commands</a:t>
            </a:r>
            <a:endParaRPr lang="en-US" sz="1350" dirty="0"/>
          </a:p>
        </p:txBody>
      </p:sp>
      <p:sp>
        <p:nvSpPr>
          <p:cNvPr id="9" name="Text 7"/>
          <p:cNvSpPr/>
          <p:nvPr/>
        </p:nvSpPr>
        <p:spPr>
          <a:xfrm>
            <a:off x="4315420" y="1638300"/>
            <a:ext cx="4447580" cy="2514600"/>
          </a:xfrm>
          <a:prstGeom prst="roundRect">
            <a:avLst>
              <a:gd name="adj" fmla="val 2424"/>
            </a:avLst>
          </a:prstGeom>
          <a:solidFill>
            <a:srgbClr val="F8FAFC"/>
          </a:solidFill>
          <a:ln/>
        </p:spPr>
        <p:txBody>
          <a:bodyPr wrap="square" rtlCol="0" anchor="ctr"/>
          <a:lstStyle/>
          <a:p>
            <a:pPr marL="0" indent="0">
              <a:buNone/>
            </a:pPr>
            <a:endParaRPr lang="en-US" dirty="0"/>
          </a:p>
        </p:txBody>
      </p:sp>
      <p:sp>
        <p:nvSpPr>
          <p:cNvPr id="10" name="Text 8"/>
          <p:cNvSpPr/>
          <p:nvPr/>
        </p:nvSpPr>
        <p:spPr>
          <a:xfrm>
            <a:off x="4467820" y="1828800"/>
            <a:ext cx="4225635" cy="190500"/>
          </a:xfrm>
          <a:prstGeom prst="rect">
            <a:avLst/>
          </a:prstGeom>
          <a:noFill/>
          <a:ln/>
        </p:spPr>
        <p:txBody>
          <a:bodyPr wrap="square" lIns="0" tIns="0" rIns="0" bIns="0" rtlCol="0" anchor="t"/>
          <a:lstStyle/>
          <a:p>
            <a:pPr marL="0" indent="0" algn="l">
              <a:lnSpc>
                <a:spcPts val="1500"/>
              </a:lnSpc>
              <a:spcBef>
                <a:spcPts val="300"/>
              </a:spcBef>
              <a:spcAft>
                <a:spcPts val="900"/>
              </a:spcAft>
              <a:buNone/>
            </a:pPr>
            <a:r>
              <a:rPr lang="en-US" sz="1050" b="1" dirty="0">
                <a:solidFill>
                  <a:srgbClr val="1A1A2E"/>
                </a:solidFill>
                <a:latin typeface="Arial" pitchFamily="34" charset="0"/>
                <a:ea typeface="Arial" pitchFamily="34" charset="-122"/>
                <a:cs typeface="Arial" pitchFamily="34" charset="-120"/>
              </a:rPr>
              <a:t>Hierarchy</a:t>
            </a:r>
            <a:endParaRPr lang="en-US" sz="1050" dirty="0"/>
          </a:p>
        </p:txBody>
      </p:sp>
      <p:sp>
        <p:nvSpPr>
          <p:cNvPr id="11" name="Text 9"/>
          <p:cNvSpPr/>
          <p:nvPr/>
        </p:nvSpPr>
        <p:spPr>
          <a:xfrm>
            <a:off x="4467820" y="2286000"/>
            <a:ext cx="4142780" cy="419100"/>
          </a:xfrm>
          <a:prstGeom prst="roundRect">
            <a:avLst>
              <a:gd name="adj" fmla="val 14545"/>
            </a:avLst>
          </a:prstGeom>
          <a:solidFill>
            <a:srgbClr val="FFFFFF"/>
          </a:solidFill>
          <a:ln/>
        </p:spPr>
        <p:txBody>
          <a:bodyPr wrap="square" rtlCol="0" anchor="ctr"/>
          <a:lstStyle/>
          <a:p>
            <a:pPr marL="0" indent="0">
              <a:buNone/>
            </a:pPr>
            <a:endParaRPr lang="en-US" dirty="0"/>
          </a:p>
        </p:txBody>
      </p:sp>
      <p:sp>
        <p:nvSpPr>
          <p:cNvPr id="12" name="Text 10"/>
          <p:cNvSpPr/>
          <p:nvPr/>
        </p:nvSpPr>
        <p:spPr>
          <a:xfrm>
            <a:off x="4563070" y="2419350"/>
            <a:ext cx="4031325"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Personal:</a:t>
            </a:r>
            <a:r>
              <a:rPr lang="en-US" sz="900" dirty="0">
                <a:solidFill>
                  <a:srgbClr val="8B95A1"/>
                </a:solidFill>
                <a:latin typeface="Arial" pitchFamily="34" charset="0"/>
                <a:ea typeface="Arial" pitchFamily="34" charset="-122"/>
                <a:cs typeface="Arial" pitchFamily="34" charset="-120"/>
              </a:rPr>
              <a:t> ~/.claude/CLAUDE.md</a:t>
            </a:r>
            <a:endParaRPr lang="en-US" sz="900" dirty="0"/>
          </a:p>
        </p:txBody>
      </p:sp>
      <p:sp>
        <p:nvSpPr>
          <p:cNvPr id="13" name="Text 11"/>
          <p:cNvSpPr/>
          <p:nvPr/>
        </p:nvSpPr>
        <p:spPr>
          <a:xfrm>
            <a:off x="4467820" y="2933700"/>
            <a:ext cx="4142780" cy="419100"/>
          </a:xfrm>
          <a:prstGeom prst="roundRect">
            <a:avLst>
              <a:gd name="adj" fmla="val 14545"/>
            </a:avLst>
          </a:prstGeom>
          <a:solidFill>
            <a:srgbClr val="FFFFFF"/>
          </a:solidFill>
          <a:ln/>
        </p:spPr>
        <p:txBody>
          <a:bodyPr wrap="square" rtlCol="0" anchor="ctr"/>
          <a:lstStyle/>
          <a:p>
            <a:pPr marL="0" indent="0">
              <a:buNone/>
            </a:pPr>
            <a:endParaRPr lang="en-US" dirty="0"/>
          </a:p>
        </p:txBody>
      </p:sp>
      <p:sp>
        <p:nvSpPr>
          <p:cNvPr id="14" name="Text 12"/>
          <p:cNvSpPr/>
          <p:nvPr/>
        </p:nvSpPr>
        <p:spPr>
          <a:xfrm>
            <a:off x="4563070" y="3067050"/>
            <a:ext cx="4031325"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Project:</a:t>
            </a:r>
            <a:r>
              <a:rPr lang="en-US" sz="900" dirty="0">
                <a:solidFill>
                  <a:srgbClr val="8B95A1"/>
                </a:solidFill>
                <a:latin typeface="Arial" pitchFamily="34" charset="0"/>
                <a:ea typeface="Arial" pitchFamily="34" charset="-122"/>
                <a:cs typeface="Arial" pitchFamily="34" charset="-120"/>
              </a:rPr>
              <a:t> ./CLAUDE.md</a:t>
            </a:r>
            <a:endParaRPr lang="en-US" sz="900" dirty="0"/>
          </a:p>
        </p:txBody>
      </p:sp>
      <p:sp>
        <p:nvSpPr>
          <p:cNvPr id="15" name="Text 13"/>
          <p:cNvSpPr/>
          <p:nvPr/>
        </p:nvSpPr>
        <p:spPr>
          <a:xfrm>
            <a:off x="4467820" y="3581400"/>
            <a:ext cx="4142780" cy="419100"/>
          </a:xfrm>
          <a:prstGeom prst="roundRect">
            <a:avLst>
              <a:gd name="adj" fmla="val 14545"/>
            </a:avLst>
          </a:prstGeom>
          <a:solidFill>
            <a:srgbClr val="FFFFFF"/>
          </a:solidFill>
          <a:ln/>
        </p:spPr>
        <p:txBody>
          <a:bodyPr wrap="square" rtlCol="0" anchor="ctr"/>
          <a:lstStyle/>
          <a:p>
            <a:pPr marL="0" indent="0">
              <a:buNone/>
            </a:pPr>
            <a:endParaRPr lang="en-US" dirty="0"/>
          </a:p>
        </p:txBody>
      </p:sp>
      <p:sp>
        <p:nvSpPr>
          <p:cNvPr id="16" name="Text 14"/>
          <p:cNvSpPr/>
          <p:nvPr/>
        </p:nvSpPr>
        <p:spPr>
          <a:xfrm>
            <a:off x="4563070" y="3714750"/>
            <a:ext cx="4031325"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Local:</a:t>
            </a:r>
            <a:r>
              <a:rPr lang="en-US" sz="900" dirty="0">
                <a:solidFill>
                  <a:srgbClr val="8B95A1"/>
                </a:solidFill>
                <a:latin typeface="Arial" pitchFamily="34" charset="0"/>
                <a:ea typeface="Arial" pitchFamily="34" charset="-122"/>
                <a:cs typeface="Arial" pitchFamily="34" charset="-120"/>
              </a:rPr>
              <a:t> ./CLAUDE.local.md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52A2E"/>
        </a:solidFill>
        <a:effectLst/>
      </p:bgPr>
    </p:bg>
    <p:spTree>
      <p:nvGrpSpPr>
        <p:cNvPr id="1" name=""/>
        <p:cNvGrpSpPr/>
        <p:nvPr/>
      </p:nvGrpSpPr>
      <p:grpSpPr>
        <a:xfrm>
          <a:off x="0" y="0"/>
          <a:ext cx="0" cy="0"/>
          <a:chOff x="0" y="0"/>
          <a:chExt cx="0" cy="0"/>
        </a:xfrm>
      </p:grpSpPr>
      <p:sp>
        <p:nvSpPr>
          <p:cNvPr id="2" name="Rounded Rectangle 1"/>
          <p:cNvSpPr/>
          <p:nvPr/>
        </p:nvSpPr>
        <p:spPr>
          <a:xfrm>
            <a:off x="365760" y="292608"/>
            <a:ext cx="548640" cy="320040"/>
          </a:xfrm>
          <a:prstGeom prst="roundRect">
            <a:avLst/>
          </a:prstGeom>
          <a:solidFill>
            <a:srgbClr val="10E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29184"/>
            <a:ext cx="512064" cy="274320"/>
          </a:xfrm>
          <a:prstGeom prst="rect">
            <a:avLst/>
          </a:prstGeom>
          <a:noFill/>
        </p:spPr>
        <p:txBody>
          <a:bodyPr wrap="none">
            <a:spAutoFit/>
          </a:bodyPr>
          <a:lstStyle/>
          <a:p>
            <a:pPr algn="ctr">
              <a:defRPr sz="900" b="1">
                <a:solidFill>
                  <a:srgbClr val="252A2E"/>
                </a:solidFill>
                <a:latin typeface="Arial"/>
              </a:defRPr>
            </a:pPr>
            <a:r>
              <a:t>DAY 1</a:t>
            </a:r>
          </a:p>
        </p:txBody>
      </p:sp>
      <p:sp>
        <p:nvSpPr>
          <p:cNvPr id="4" name="Rounded Rectangle 3"/>
          <p:cNvSpPr/>
          <p:nvPr/>
        </p:nvSpPr>
        <p:spPr>
          <a:xfrm>
            <a:off x="960120" y="292608"/>
            <a:ext cx="777240"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329184"/>
            <a:ext cx="740664" cy="274320"/>
          </a:xfrm>
          <a:prstGeom prst="rect">
            <a:avLst/>
          </a:prstGeom>
          <a:noFill/>
        </p:spPr>
        <p:txBody>
          <a:bodyPr wrap="none">
            <a:spAutoFit/>
          </a:bodyPr>
          <a:lstStyle/>
          <a:p>
            <a:pPr algn="ctr">
              <a:defRPr sz="900" b="1">
                <a:solidFill>
                  <a:srgbClr val="FFFFFF"/>
                </a:solidFill>
                <a:latin typeface="Arial"/>
              </a:defRPr>
            </a:pPr>
            <a:r>
              <a:t>EXAMPLE</a:t>
            </a:r>
          </a:p>
        </p:txBody>
      </p:sp>
      <p:sp>
        <p:nvSpPr>
          <p:cNvPr id="6" name="TextBox 5"/>
          <p:cNvSpPr txBox="1"/>
          <p:nvPr/>
        </p:nvSpPr>
        <p:spPr>
          <a:xfrm>
            <a:off x="1828800" y="274320"/>
            <a:ext cx="5486400" cy="365760"/>
          </a:xfrm>
          <a:prstGeom prst="rect">
            <a:avLst/>
          </a:prstGeom>
          <a:noFill/>
        </p:spPr>
        <p:txBody>
          <a:bodyPr wrap="square">
            <a:spAutoFit/>
          </a:bodyPr>
          <a:lstStyle/>
          <a:p>
            <a:pPr algn="l">
              <a:defRPr sz="2250" b="1">
                <a:solidFill>
                  <a:srgbClr val="FFFFFF"/>
                </a:solidFill>
                <a:latin typeface="Arial"/>
              </a:defRPr>
            </a:pPr>
            <a:r>
              <a:t>To-Do App — CLAUDE.md</a:t>
            </a:r>
          </a:p>
        </p:txBody>
      </p:sp>
      <p:sp>
        <p:nvSpPr>
          <p:cNvPr id="7" name="Rounded Rectangle 6"/>
          <p:cNvSpPr/>
          <p:nvPr/>
        </p:nvSpPr>
        <p:spPr>
          <a:xfrm>
            <a:off x="365760" y="777240"/>
            <a:ext cx="475488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2064" y="868680"/>
            <a:ext cx="4480560" cy="228600"/>
          </a:xfrm>
          <a:prstGeom prst="rect">
            <a:avLst/>
          </a:prstGeom>
          <a:noFill/>
        </p:spPr>
        <p:txBody>
          <a:bodyPr wrap="square">
            <a:spAutoFit/>
          </a:bodyPr>
          <a:lstStyle/>
          <a:p>
            <a:pPr algn="l">
              <a:defRPr sz="1050" b="1">
                <a:solidFill>
                  <a:srgbClr val="10E3B3"/>
                </a:solidFill>
                <a:latin typeface="Arial"/>
              </a:defRPr>
            </a:pPr>
            <a:r>
              <a:t>./CLAUDE.md</a:t>
            </a:r>
          </a:p>
        </p:txBody>
      </p:sp>
      <p:sp>
        <p:nvSpPr>
          <p:cNvPr id="9" name="Rounded Rectangle 8"/>
          <p:cNvSpPr/>
          <p:nvPr/>
        </p:nvSpPr>
        <p:spPr>
          <a:xfrm>
            <a:off x="457200" y="1143000"/>
            <a:ext cx="4572000" cy="338328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16152"/>
            <a:ext cx="4389120" cy="3236976"/>
          </a:xfrm>
          <a:prstGeom prst="rect">
            <a:avLst/>
          </a:prstGeom>
          <a:noFill/>
        </p:spPr>
        <p:txBody>
          <a:bodyPr wrap="none">
            <a:spAutoFit/>
          </a:bodyPr>
          <a:lstStyle/>
          <a:p>
            <a:pPr>
              <a:spcBef>
                <a:spcPts val="0"/>
              </a:spcBef>
              <a:spcAft>
                <a:spcPts val="0"/>
              </a:spcAft>
              <a:defRPr sz="700">
                <a:solidFill>
                  <a:srgbClr val="10E3B3"/>
                </a:solidFill>
                <a:latin typeface="Courier New"/>
              </a:defRPr>
            </a:pPr>
            <a:r>
              <a:t># To-Do Application</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Tech Stack</a:t>
            </a:r>
          </a:p>
          <a:p>
            <a:pPr>
              <a:spcBef>
                <a:spcPts val="0"/>
              </a:spcBef>
              <a:spcAft>
                <a:spcPts val="0"/>
              </a:spcAft>
              <a:defRPr sz="700">
                <a:solidFill>
                  <a:srgbClr val="10E3B3"/>
                </a:solidFill>
                <a:latin typeface="Courier New"/>
              </a:defRPr>
            </a:pPr>
            <a:r>
              <a:t>- Frontend: React 18 + TypeScript</a:t>
            </a:r>
          </a:p>
          <a:p>
            <a:pPr>
              <a:spcBef>
                <a:spcPts val="0"/>
              </a:spcBef>
              <a:spcAft>
                <a:spcPts val="0"/>
              </a:spcAft>
              <a:defRPr sz="700">
                <a:solidFill>
                  <a:srgbClr val="10E3B3"/>
                </a:solidFill>
                <a:latin typeface="Courier New"/>
              </a:defRPr>
            </a:pPr>
            <a:r>
              <a:t>- Backend: Node.js + Express</a:t>
            </a:r>
          </a:p>
          <a:p>
            <a:pPr>
              <a:spcBef>
                <a:spcPts val="0"/>
              </a:spcBef>
              <a:spcAft>
                <a:spcPts val="0"/>
              </a:spcAft>
              <a:defRPr sz="700">
                <a:solidFill>
                  <a:srgbClr val="10E3B3"/>
                </a:solidFill>
                <a:latin typeface="Courier New"/>
              </a:defRPr>
            </a:pPr>
            <a:r>
              <a:t>- Database: PostgreSQL + Prisma ORM</a:t>
            </a:r>
          </a:p>
          <a:p>
            <a:pPr>
              <a:spcBef>
                <a:spcPts val="0"/>
              </a:spcBef>
              <a:spcAft>
                <a:spcPts val="0"/>
              </a:spcAft>
              <a:defRPr sz="700">
                <a:solidFill>
                  <a:srgbClr val="10E3B3"/>
                </a:solidFill>
                <a:latin typeface="Courier New"/>
              </a:defRPr>
            </a:pPr>
            <a:r>
              <a:t>- Testing: Jest + React Testing Library</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Code Standards</a:t>
            </a:r>
          </a:p>
          <a:p>
            <a:pPr>
              <a:spcBef>
                <a:spcPts val="0"/>
              </a:spcBef>
              <a:spcAft>
                <a:spcPts val="0"/>
              </a:spcAft>
              <a:defRPr sz="700">
                <a:solidFill>
                  <a:srgbClr val="10E3B3"/>
                </a:solidFill>
                <a:latin typeface="Courier New"/>
              </a:defRPr>
            </a:pPr>
            <a:r>
              <a:t>- Use functional components with hooks</a:t>
            </a:r>
          </a:p>
          <a:p>
            <a:pPr>
              <a:spcBef>
                <a:spcPts val="0"/>
              </a:spcBef>
              <a:spcAft>
                <a:spcPts val="0"/>
              </a:spcAft>
              <a:defRPr sz="700">
                <a:solidFill>
                  <a:srgbClr val="10E3B3"/>
                </a:solidFill>
                <a:latin typeface="Courier New"/>
              </a:defRPr>
            </a:pPr>
            <a:r>
              <a:t>- All components must be accessible (WCAG 2.1 AA)</a:t>
            </a:r>
          </a:p>
          <a:p>
            <a:pPr>
              <a:spcBef>
                <a:spcPts val="0"/>
              </a:spcBef>
              <a:spcAft>
                <a:spcPts val="0"/>
              </a:spcAft>
              <a:defRPr sz="700">
                <a:solidFill>
                  <a:srgbClr val="10E3B3"/>
                </a:solidFill>
                <a:latin typeface="Courier New"/>
              </a:defRPr>
            </a:pPr>
            <a:r>
              <a:t>- API responses follow JSON:API spec</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Key Commands</a:t>
            </a:r>
          </a:p>
          <a:p>
            <a:pPr>
              <a:spcBef>
                <a:spcPts val="0"/>
              </a:spcBef>
              <a:spcAft>
                <a:spcPts val="0"/>
              </a:spcAft>
              <a:defRPr sz="700">
                <a:solidFill>
                  <a:srgbClr val="10E3B3"/>
                </a:solidFill>
                <a:latin typeface="Courier New"/>
              </a:defRPr>
            </a:pPr>
            <a:r>
              <a:t>- npm run dev     # Start dev server</a:t>
            </a:r>
          </a:p>
          <a:p>
            <a:pPr>
              <a:spcBef>
                <a:spcPts val="0"/>
              </a:spcBef>
              <a:spcAft>
                <a:spcPts val="0"/>
              </a:spcAft>
              <a:defRPr sz="700">
                <a:solidFill>
                  <a:srgbClr val="10E3B3"/>
                </a:solidFill>
                <a:latin typeface="Courier New"/>
              </a:defRPr>
            </a:pPr>
            <a:r>
              <a:t>- npm run test    # Run test suite</a:t>
            </a:r>
          </a:p>
          <a:p>
            <a:pPr>
              <a:spcBef>
                <a:spcPts val="0"/>
              </a:spcBef>
              <a:spcAft>
                <a:spcPts val="0"/>
              </a:spcAft>
              <a:defRPr sz="700">
                <a:solidFill>
                  <a:srgbClr val="10E3B3"/>
                </a:solidFill>
                <a:latin typeface="Courier New"/>
              </a:defRPr>
            </a:pPr>
            <a:r>
              <a:t>- npm run a11y    # Accessibility audit</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Critical Rules</a:t>
            </a:r>
          </a:p>
          <a:p>
            <a:pPr>
              <a:spcBef>
                <a:spcPts val="0"/>
              </a:spcBef>
              <a:spcAft>
                <a:spcPts val="0"/>
              </a:spcAft>
              <a:defRPr sz="700">
                <a:solidFill>
                  <a:srgbClr val="10E3B3"/>
                </a:solidFill>
                <a:latin typeface="Courier New"/>
              </a:defRPr>
            </a:pPr>
            <a:r>
              <a:t>- NEVER skip accessibility attributes</a:t>
            </a:r>
          </a:p>
          <a:p>
            <a:pPr>
              <a:spcBef>
                <a:spcPts val="0"/>
              </a:spcBef>
              <a:spcAft>
                <a:spcPts val="0"/>
              </a:spcAft>
              <a:defRPr sz="700">
                <a:solidFill>
                  <a:srgbClr val="10E3B3"/>
                </a:solidFill>
                <a:latin typeface="Courier New"/>
              </a:defRPr>
            </a:pPr>
            <a:r>
              <a:t>- All forms need aria-labels</a:t>
            </a:r>
          </a:p>
          <a:p>
            <a:pPr>
              <a:spcBef>
                <a:spcPts val="0"/>
              </a:spcBef>
              <a:spcAft>
                <a:spcPts val="0"/>
              </a:spcAft>
              <a:defRPr sz="700">
                <a:solidFill>
                  <a:srgbClr val="10E3B3"/>
                </a:solidFill>
                <a:latin typeface="Courier New"/>
              </a:defRPr>
            </a:pPr>
            <a:r>
              <a:t>- Color contrast ratio &gt;= 4.5:1</a:t>
            </a:r>
          </a:p>
        </p:txBody>
      </p:sp>
      <p:sp>
        <p:nvSpPr>
          <p:cNvPr id="11" name="Rounded Rectangle 10"/>
          <p:cNvSpPr/>
          <p:nvPr/>
        </p:nvSpPr>
        <p:spPr>
          <a:xfrm>
            <a:off x="5303520" y="777240"/>
            <a:ext cx="347472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9824" y="868680"/>
            <a:ext cx="3200400" cy="228600"/>
          </a:xfrm>
          <a:prstGeom prst="rect">
            <a:avLst/>
          </a:prstGeom>
          <a:noFill/>
        </p:spPr>
        <p:txBody>
          <a:bodyPr wrap="square">
            <a:spAutoFit/>
          </a:bodyPr>
          <a:lstStyle/>
          <a:p>
            <a:pPr algn="l">
              <a:defRPr sz="1050" b="1">
                <a:solidFill>
                  <a:srgbClr val="EF6B5E"/>
                </a:solidFill>
                <a:latin typeface="Arial"/>
              </a:defRPr>
            </a:pPr>
            <a:r>
              <a:t>Best Practices Applied</a:t>
            </a:r>
          </a:p>
        </p:txBody>
      </p:sp>
      <p:sp>
        <p:nvSpPr>
          <p:cNvPr id="13" name="TextBox 12"/>
          <p:cNvSpPr txBox="1"/>
          <p:nvPr/>
        </p:nvSpPr>
        <p:spPr>
          <a:xfrm>
            <a:off x="5449824" y="1188720"/>
            <a:ext cx="3200400" cy="3291840"/>
          </a:xfrm>
          <a:prstGeom prst="rect">
            <a:avLst/>
          </a:prstGeom>
          <a:noFill/>
        </p:spPr>
        <p:txBody>
          <a:bodyPr wrap="square">
            <a:spAutoFit/>
          </a:bodyPr>
          <a:lstStyle/>
          <a:p>
            <a:pPr>
              <a:spcBef>
                <a:spcPts val="0"/>
              </a:spcBef>
              <a:defRPr sz="900" b="1">
                <a:solidFill>
                  <a:srgbClr val="10E3B3"/>
                </a:solidFill>
              </a:defRPr>
            </a:pPr>
            <a:r>
              <a:t>Tech Stack First</a:t>
            </a:r>
          </a:p>
          <a:p>
            <a:pPr>
              <a:defRPr sz="800">
                <a:solidFill>
                  <a:srgbClr val="A8B3BE"/>
                </a:solidFill>
              </a:defRPr>
            </a:pPr>
            <a:r>
              <a:t>Claude knows exact versions and tools</a:t>
            </a:r>
          </a:p>
          <a:p>
            <a:pPr>
              <a:spcBef>
                <a:spcPts val="800"/>
              </a:spcBef>
              <a:defRPr sz="900" b="1">
                <a:solidFill>
                  <a:srgbClr val="10E3B3"/>
                </a:solidFill>
              </a:defRPr>
            </a:pPr>
            <a:r>
              <a:t>Code Standards</a:t>
            </a:r>
          </a:p>
          <a:p>
            <a:pPr>
              <a:defRPr sz="800">
                <a:solidFill>
                  <a:srgbClr val="A8B3BE"/>
                </a:solidFill>
              </a:defRPr>
            </a:pPr>
            <a:r>
              <a:t>Enforces consistency across code</a:t>
            </a:r>
          </a:p>
          <a:p>
            <a:pPr>
              <a:spcBef>
                <a:spcPts val="800"/>
              </a:spcBef>
              <a:defRPr sz="900" b="1">
                <a:solidFill>
                  <a:srgbClr val="10E3B3"/>
                </a:solidFill>
              </a:defRPr>
            </a:pPr>
            <a:r>
              <a:t>Key Commands</a:t>
            </a:r>
          </a:p>
          <a:p>
            <a:pPr>
              <a:defRPr sz="800">
                <a:solidFill>
                  <a:srgbClr val="A8B3BE"/>
                </a:solidFill>
              </a:defRPr>
            </a:pPr>
            <a:r>
              <a:t>Claude can run tests automatically</a:t>
            </a:r>
          </a:p>
          <a:p>
            <a:pPr>
              <a:spcBef>
                <a:spcPts val="800"/>
              </a:spcBef>
              <a:defRPr sz="900" b="1">
                <a:solidFill>
                  <a:srgbClr val="10E3B3"/>
                </a:solidFill>
              </a:defRPr>
            </a:pPr>
            <a:r>
              <a:t>Critical Rules</a:t>
            </a:r>
          </a:p>
          <a:p>
            <a:pPr>
              <a:defRPr sz="800">
                <a:solidFill>
                  <a:srgbClr val="A8B3BE"/>
                </a:solidFill>
              </a:defRPr>
            </a:pPr>
            <a:r>
              <a:t>Non-negotiable requirements</a:t>
            </a:r>
          </a:p>
          <a:p>
            <a:pPr>
              <a:spcBef>
                <a:spcPts val="800"/>
              </a:spcBef>
              <a:defRPr sz="900" b="1">
                <a:solidFill>
                  <a:srgbClr val="10E3B3"/>
                </a:solidFill>
              </a:defRPr>
            </a:pPr>
            <a:r>
              <a:t>Accessibility Focus</a:t>
            </a:r>
          </a:p>
          <a:p>
            <a:pPr>
              <a:defRPr sz="800">
                <a:solidFill>
                  <a:srgbClr val="A8B3BE"/>
                </a:solidFill>
              </a:defRPr>
            </a:pPr>
            <a:r>
              <a:t>508/WCAG compliance baked 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1</a:t>
            </a:r>
            <a:endParaRPr lang="en-US" sz="900" dirty="0"/>
          </a:p>
        </p:txBody>
      </p:sp>
      <p:sp>
        <p:nvSpPr>
          <p:cNvPr id="4" name="Text 2"/>
          <p:cNvSpPr/>
          <p:nvPr/>
        </p:nvSpPr>
        <p:spPr>
          <a:xfrm>
            <a:off x="971848" y="285750"/>
            <a:ext cx="4583287"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Agent Skills — Extending Claude</a:t>
            </a:r>
            <a:endParaRPr lang="en-US" sz="2250" dirty="0">
              <a:solidFill>
                <a:schemeClr val="bg1"/>
              </a:solidFill>
            </a:endParaRPr>
          </a:p>
        </p:txBody>
      </p:sp>
      <p:sp>
        <p:nvSpPr>
          <p:cNvPr id="5" name="Text 3"/>
          <p:cNvSpPr/>
          <p:nvPr/>
        </p:nvSpPr>
        <p:spPr>
          <a:xfrm>
            <a:off x="381000" y="1609725"/>
            <a:ext cx="4113452"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What Are Skills?</a:t>
            </a:r>
            <a:endParaRPr lang="en-US" sz="1350" dirty="0"/>
          </a:p>
        </p:txBody>
      </p:sp>
      <p:sp>
        <p:nvSpPr>
          <p:cNvPr id="6" name="Text 4"/>
          <p:cNvSpPr/>
          <p:nvPr/>
        </p:nvSpPr>
        <p:spPr>
          <a:xfrm>
            <a:off x="381000" y="2143125"/>
            <a:ext cx="4113452" cy="381000"/>
          </a:xfrm>
          <a:prstGeom prst="rect">
            <a:avLst/>
          </a:prstGeom>
          <a:noFill/>
          <a:ln/>
        </p:spPr>
        <p:txBody>
          <a:bodyPr wrap="square" lIns="0" tIns="0" rIns="0" bIns="0" rtlCol="0" anchor="t"/>
          <a:lstStyle/>
          <a:p>
            <a:pPr marL="0" indent="0" algn="l">
              <a:lnSpc>
                <a:spcPts val="1500"/>
              </a:lnSpc>
              <a:spcBef>
                <a:spcPts val="300"/>
              </a:spcBef>
              <a:spcAft>
                <a:spcPts val="1200"/>
              </a:spcAft>
              <a:buNone/>
            </a:pPr>
            <a:r>
              <a:rPr lang="en-US" sz="1050" dirty="0">
                <a:solidFill>
                  <a:srgbClr val="8B95A1"/>
                </a:solidFill>
                <a:latin typeface="Arial" pitchFamily="34" charset="0"/>
                <a:ea typeface="Arial" pitchFamily="34" charset="-122"/>
                <a:cs typeface="Arial" pitchFamily="34" charset="-120"/>
              </a:rPr>
              <a:t>Modular capabilities that transform Claude from generalist to specialist.</a:t>
            </a:r>
            <a:endParaRPr lang="en-US" sz="1050" dirty="0"/>
          </a:p>
        </p:txBody>
      </p:sp>
      <p:sp>
        <p:nvSpPr>
          <p:cNvPr id="7" name="Text 5"/>
          <p:cNvSpPr/>
          <p:nvPr/>
        </p:nvSpPr>
        <p:spPr>
          <a:xfrm>
            <a:off x="381000" y="2828925"/>
            <a:ext cx="4032796" cy="1390650"/>
          </a:xfrm>
          <a:prstGeom prst="roundRect">
            <a:avLst>
              <a:gd name="adj" fmla="val 4384"/>
            </a:avLst>
          </a:prstGeom>
          <a:solidFill>
            <a:srgbClr val="F8FAFC"/>
          </a:solidFill>
          <a:ln/>
        </p:spPr>
        <p:txBody>
          <a:bodyPr wrap="square" rtlCol="0" anchor="ctr"/>
          <a:lstStyle/>
          <a:p>
            <a:pPr marL="0" indent="0">
              <a:buNone/>
            </a:pPr>
            <a:endParaRPr lang="en-US" dirty="0"/>
          </a:p>
        </p:txBody>
      </p:sp>
      <p:sp>
        <p:nvSpPr>
          <p:cNvPr id="8" name="Text 6"/>
          <p:cNvSpPr/>
          <p:nvPr/>
        </p:nvSpPr>
        <p:spPr>
          <a:xfrm>
            <a:off x="495300" y="2981325"/>
            <a:ext cx="3880280"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1A1A2E"/>
                </a:solidFill>
                <a:latin typeface="Arial" pitchFamily="34" charset="0"/>
                <a:ea typeface="Arial" pitchFamily="34" charset="-122"/>
                <a:cs typeface="Arial" pitchFamily="34" charset="-120"/>
              </a:rPr>
              <a:t>Progressive Loading</a:t>
            </a:r>
            <a:endParaRPr lang="en-US" sz="1050" dirty="0"/>
          </a:p>
        </p:txBody>
      </p:sp>
      <p:sp>
        <p:nvSpPr>
          <p:cNvPr id="9" name="Text 7"/>
          <p:cNvSpPr/>
          <p:nvPr/>
        </p:nvSpPr>
        <p:spPr>
          <a:xfrm>
            <a:off x="495300" y="3228975"/>
            <a:ext cx="3804196"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Metadata — Always loaded</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Instructions — On trigger</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Resources — As needed</a:t>
            </a:r>
            <a:endParaRPr lang="en-US" sz="1350" dirty="0"/>
          </a:p>
        </p:txBody>
      </p:sp>
      <p:sp>
        <p:nvSpPr>
          <p:cNvPr id="10" name="Text 8"/>
          <p:cNvSpPr/>
          <p:nvPr/>
        </p:nvSpPr>
        <p:spPr>
          <a:xfrm>
            <a:off x="4718596" y="1562100"/>
            <a:ext cx="4044404" cy="2667000"/>
          </a:xfrm>
          <a:prstGeom prst="roundRect">
            <a:avLst>
              <a:gd name="adj" fmla="val 2286"/>
            </a:avLst>
          </a:prstGeom>
          <a:solidFill>
            <a:srgbClr val="F8FAFC"/>
          </a:solidFill>
          <a:ln/>
        </p:spPr>
        <p:txBody>
          <a:bodyPr wrap="square" rtlCol="0" anchor="ctr"/>
          <a:lstStyle/>
          <a:p>
            <a:pPr marL="0" indent="0">
              <a:buNone/>
            </a:pPr>
            <a:endParaRPr lang="en-US" dirty="0"/>
          </a:p>
        </p:txBody>
      </p:sp>
      <p:sp>
        <p:nvSpPr>
          <p:cNvPr id="11" name="Text 9"/>
          <p:cNvSpPr/>
          <p:nvPr/>
        </p:nvSpPr>
        <p:spPr>
          <a:xfrm>
            <a:off x="4870996" y="1752600"/>
            <a:ext cx="3814396" cy="190500"/>
          </a:xfrm>
          <a:prstGeom prst="rect">
            <a:avLst/>
          </a:prstGeom>
          <a:noFill/>
          <a:ln/>
        </p:spPr>
        <p:txBody>
          <a:bodyPr wrap="square" lIns="0" tIns="0" rIns="0" bIns="0" rtlCol="0" anchor="t"/>
          <a:lstStyle/>
          <a:p>
            <a:pPr marL="0" indent="0" algn="l">
              <a:lnSpc>
                <a:spcPts val="1500"/>
              </a:lnSpc>
              <a:spcBef>
                <a:spcPts val="300"/>
              </a:spcBef>
              <a:spcAft>
                <a:spcPts val="750"/>
              </a:spcAft>
              <a:buNone/>
            </a:pPr>
            <a:r>
              <a:rPr lang="en-US" sz="1050" b="1" dirty="0">
                <a:solidFill>
                  <a:srgbClr val="1A1A2E"/>
                </a:solidFill>
                <a:latin typeface="Arial" pitchFamily="34" charset="0"/>
                <a:ea typeface="Arial" pitchFamily="34" charset="-122"/>
                <a:cs typeface="Arial" pitchFamily="34" charset="-120"/>
              </a:rPr>
              <a:t>Example: HIPAA Validator</a:t>
            </a:r>
            <a:endParaRPr lang="en-US" sz="1050" dirty="0"/>
          </a:p>
        </p:txBody>
      </p:sp>
      <p:sp>
        <p:nvSpPr>
          <p:cNvPr id="12" name="Text 10"/>
          <p:cNvSpPr/>
          <p:nvPr/>
        </p:nvSpPr>
        <p:spPr>
          <a:xfrm>
            <a:off x="4870996" y="2190750"/>
            <a:ext cx="3739604" cy="1447800"/>
          </a:xfrm>
          <a:prstGeom prst="roundRect">
            <a:avLst>
              <a:gd name="adj" fmla="val 4211"/>
            </a:avLst>
          </a:prstGeom>
          <a:solidFill>
            <a:srgbClr val="FFFFFF"/>
          </a:solidFill>
          <a:ln/>
        </p:spPr>
        <p:txBody>
          <a:bodyPr wrap="square" rtlCol="0" anchor="ctr"/>
          <a:lstStyle/>
          <a:p>
            <a:pPr marL="0" indent="0">
              <a:buNone/>
            </a:pPr>
            <a:endParaRPr lang="en-US" dirty="0"/>
          </a:p>
        </p:txBody>
      </p:sp>
      <p:sp>
        <p:nvSpPr>
          <p:cNvPr id="13" name="Text 11"/>
          <p:cNvSpPr/>
          <p:nvPr/>
        </p:nvSpPr>
        <p:spPr>
          <a:xfrm>
            <a:off x="4966246" y="232410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name: hipaa-validator</a:t>
            </a:r>
            <a:endParaRPr lang="en-US" sz="1500" dirty="0"/>
          </a:p>
        </p:txBody>
      </p:sp>
      <p:sp>
        <p:nvSpPr>
          <p:cNvPr id="14" name="Text 12"/>
          <p:cNvSpPr/>
          <p:nvPr/>
        </p:nvSpPr>
        <p:spPr>
          <a:xfrm>
            <a:off x="4966246" y="262890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a:t>
            </a:r>
            <a:endParaRPr lang="en-US" sz="1500" dirty="0"/>
          </a:p>
        </p:txBody>
      </p:sp>
      <p:sp>
        <p:nvSpPr>
          <p:cNvPr id="15" name="Text 13"/>
          <p:cNvSpPr/>
          <p:nvPr/>
        </p:nvSpPr>
        <p:spPr>
          <a:xfrm>
            <a:off x="4966246" y="293370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1. Check for PHI in logs</a:t>
            </a:r>
            <a:endParaRPr lang="en-US" sz="1500" dirty="0"/>
          </a:p>
        </p:txBody>
      </p:sp>
      <p:sp>
        <p:nvSpPr>
          <p:cNvPr id="16" name="Text 14"/>
          <p:cNvSpPr/>
          <p:nvPr/>
        </p:nvSpPr>
        <p:spPr>
          <a:xfrm>
            <a:off x="4966246" y="323850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2. Verify encryption</a:t>
            </a:r>
            <a:endParaRPr lang="en-US" sz="1500" dirty="0"/>
          </a:p>
        </p:txBody>
      </p:sp>
      <p:sp>
        <p:nvSpPr>
          <p:cNvPr id="17" name="Text 15"/>
          <p:cNvSpPr/>
          <p:nvPr/>
        </p:nvSpPr>
        <p:spPr>
          <a:xfrm>
            <a:off x="4870996" y="3886200"/>
            <a:ext cx="3814396" cy="152400"/>
          </a:xfrm>
          <a:prstGeom prst="rect">
            <a:avLst/>
          </a:prstGeom>
          <a:noFill/>
          <a:ln/>
        </p:spPr>
        <p:txBody>
          <a:bodyPr wrap="square" lIns="0" tIns="0" rIns="0" bIns="0" rtlCol="0" anchor="t"/>
          <a:lstStyle/>
          <a:p>
            <a:pPr marL="0" indent="0" algn="l">
              <a:lnSpc>
                <a:spcPts val="1200"/>
              </a:lnSpc>
              <a:spcBef>
                <a:spcPts val="750"/>
              </a:spcBef>
              <a:spcAft>
                <a:spcPts val="300"/>
              </a:spcAft>
              <a:buNone/>
            </a:pPr>
            <a:r>
              <a:rPr lang="en-US" sz="900" b="1" dirty="0">
                <a:solidFill>
                  <a:srgbClr val="8B95A1"/>
                </a:solidFill>
                <a:latin typeface="Arial" pitchFamily="34" charset="0"/>
                <a:ea typeface="Arial" pitchFamily="34" charset="-122"/>
                <a:cs typeface="Arial" pitchFamily="34" charset="-120"/>
              </a:rPr>
              <a:t>.claude/skills/</a:t>
            </a:r>
            <a:r>
              <a:rPr lang="en-US" sz="900" dirty="0">
                <a:solidFill>
                  <a:srgbClr val="8B95A1"/>
                </a:solidFill>
                <a:latin typeface="Arial" pitchFamily="34" charset="0"/>
                <a:ea typeface="Arial" pitchFamily="34" charset="-122"/>
                <a:cs typeface="Arial" pitchFamily="34" charset="-120"/>
              </a:rPr>
              <a:t> — Project-level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52A2E"/>
        </a:solidFill>
        <a:effectLst/>
      </p:bgPr>
    </p:bg>
    <p:spTree>
      <p:nvGrpSpPr>
        <p:cNvPr id="1" name=""/>
        <p:cNvGrpSpPr/>
        <p:nvPr/>
      </p:nvGrpSpPr>
      <p:grpSpPr>
        <a:xfrm>
          <a:off x="0" y="0"/>
          <a:ext cx="0" cy="0"/>
          <a:chOff x="0" y="0"/>
          <a:chExt cx="0" cy="0"/>
        </a:xfrm>
      </p:grpSpPr>
      <p:sp>
        <p:nvSpPr>
          <p:cNvPr id="2" name="Rounded Rectangle 1"/>
          <p:cNvSpPr/>
          <p:nvPr/>
        </p:nvSpPr>
        <p:spPr>
          <a:xfrm>
            <a:off x="365760" y="292608"/>
            <a:ext cx="548640" cy="320040"/>
          </a:xfrm>
          <a:prstGeom prst="roundRect">
            <a:avLst/>
          </a:prstGeom>
          <a:solidFill>
            <a:srgbClr val="10E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29184"/>
            <a:ext cx="512064" cy="274320"/>
          </a:xfrm>
          <a:prstGeom prst="rect">
            <a:avLst/>
          </a:prstGeom>
          <a:noFill/>
        </p:spPr>
        <p:txBody>
          <a:bodyPr wrap="none">
            <a:spAutoFit/>
          </a:bodyPr>
          <a:lstStyle/>
          <a:p>
            <a:pPr algn="ctr">
              <a:defRPr sz="900" b="1">
                <a:solidFill>
                  <a:srgbClr val="252A2E"/>
                </a:solidFill>
                <a:latin typeface="Arial"/>
              </a:defRPr>
            </a:pPr>
            <a:r>
              <a:t>DAY 1</a:t>
            </a:r>
          </a:p>
        </p:txBody>
      </p:sp>
      <p:sp>
        <p:nvSpPr>
          <p:cNvPr id="4" name="Rounded Rectangle 3"/>
          <p:cNvSpPr/>
          <p:nvPr/>
        </p:nvSpPr>
        <p:spPr>
          <a:xfrm>
            <a:off x="960120" y="292608"/>
            <a:ext cx="777240"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329184"/>
            <a:ext cx="740664" cy="274320"/>
          </a:xfrm>
          <a:prstGeom prst="rect">
            <a:avLst/>
          </a:prstGeom>
          <a:noFill/>
        </p:spPr>
        <p:txBody>
          <a:bodyPr wrap="none">
            <a:spAutoFit/>
          </a:bodyPr>
          <a:lstStyle/>
          <a:p>
            <a:pPr algn="ctr">
              <a:defRPr sz="900" b="1">
                <a:solidFill>
                  <a:srgbClr val="FFFFFF"/>
                </a:solidFill>
                <a:latin typeface="Arial"/>
              </a:defRPr>
            </a:pPr>
            <a:r>
              <a:t>EXAMPLE</a:t>
            </a:r>
          </a:p>
        </p:txBody>
      </p:sp>
      <p:sp>
        <p:nvSpPr>
          <p:cNvPr id="6" name="TextBox 5"/>
          <p:cNvSpPr txBox="1"/>
          <p:nvPr/>
        </p:nvSpPr>
        <p:spPr>
          <a:xfrm>
            <a:off x="1828800" y="274320"/>
            <a:ext cx="5486400" cy="365760"/>
          </a:xfrm>
          <a:prstGeom prst="rect">
            <a:avLst/>
          </a:prstGeom>
          <a:noFill/>
        </p:spPr>
        <p:txBody>
          <a:bodyPr wrap="square">
            <a:spAutoFit/>
          </a:bodyPr>
          <a:lstStyle/>
          <a:p>
            <a:pPr algn="l">
              <a:defRPr sz="2250" b="1">
                <a:solidFill>
                  <a:srgbClr val="FFFFFF"/>
                </a:solidFill>
                <a:latin typeface="Arial"/>
              </a:defRPr>
            </a:pPr>
            <a:r>
              <a:t>To-Do App — Accessibility Skill</a:t>
            </a:r>
          </a:p>
        </p:txBody>
      </p:sp>
      <p:sp>
        <p:nvSpPr>
          <p:cNvPr id="7" name="Rounded Rectangle 6"/>
          <p:cNvSpPr/>
          <p:nvPr/>
        </p:nvSpPr>
        <p:spPr>
          <a:xfrm>
            <a:off x="365760" y="777240"/>
            <a:ext cx="438912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2064" y="868680"/>
            <a:ext cx="4114800" cy="228600"/>
          </a:xfrm>
          <a:prstGeom prst="rect">
            <a:avLst/>
          </a:prstGeom>
          <a:noFill/>
        </p:spPr>
        <p:txBody>
          <a:bodyPr wrap="square">
            <a:spAutoFit/>
          </a:bodyPr>
          <a:lstStyle/>
          <a:p>
            <a:pPr algn="l">
              <a:defRPr sz="900" b="1">
                <a:solidFill>
                  <a:srgbClr val="10E3B3"/>
                </a:solidFill>
                <a:latin typeface="Arial"/>
              </a:defRPr>
            </a:pPr>
            <a:r>
              <a:t>.claude/skills/a11y-checker/SKILL.md</a:t>
            </a:r>
          </a:p>
        </p:txBody>
      </p:sp>
      <p:sp>
        <p:nvSpPr>
          <p:cNvPr id="9" name="Rounded Rectangle 8"/>
          <p:cNvSpPr/>
          <p:nvPr/>
        </p:nvSpPr>
        <p:spPr>
          <a:xfrm>
            <a:off x="457200" y="1143000"/>
            <a:ext cx="4206240" cy="338328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16152"/>
            <a:ext cx="4023360" cy="3236976"/>
          </a:xfrm>
          <a:prstGeom prst="rect">
            <a:avLst/>
          </a:prstGeom>
          <a:noFill/>
        </p:spPr>
        <p:txBody>
          <a:bodyPr wrap="none">
            <a:spAutoFit/>
          </a:bodyPr>
          <a:lstStyle/>
          <a:p>
            <a:pPr>
              <a:spcBef>
                <a:spcPts val="0"/>
              </a:spcBef>
              <a:spcAft>
                <a:spcPts val="0"/>
              </a:spcAft>
              <a:defRPr sz="700">
                <a:solidFill>
                  <a:srgbClr val="10E3B3"/>
                </a:solidFill>
                <a:latin typeface="Courier New"/>
              </a:defRPr>
            </a:pPr>
            <a:r>
              <a:t>---</a:t>
            </a:r>
          </a:p>
          <a:p>
            <a:pPr>
              <a:spcBef>
                <a:spcPts val="0"/>
              </a:spcBef>
              <a:spcAft>
                <a:spcPts val="0"/>
              </a:spcAft>
              <a:defRPr sz="700">
                <a:solidFill>
                  <a:srgbClr val="10E3B3"/>
                </a:solidFill>
                <a:latin typeface="Courier New"/>
              </a:defRPr>
            </a:pPr>
            <a:r>
              <a:t>name: a11y-checker</a:t>
            </a:r>
          </a:p>
          <a:p>
            <a:pPr>
              <a:spcBef>
                <a:spcPts val="0"/>
              </a:spcBef>
              <a:spcAft>
                <a:spcPts val="0"/>
              </a:spcAft>
              <a:defRPr sz="700">
                <a:solidFill>
                  <a:srgbClr val="10E3B3"/>
                </a:solidFill>
                <a:latin typeface="Courier New"/>
              </a:defRPr>
            </a:pPr>
            <a:r>
              <a:t>description: Validate UI components for</a:t>
            </a:r>
          </a:p>
          <a:p>
            <a:pPr>
              <a:spcBef>
                <a:spcPts val="0"/>
              </a:spcBef>
              <a:spcAft>
                <a:spcPts val="0"/>
              </a:spcAft>
              <a:defRPr sz="700">
                <a:solidFill>
                  <a:srgbClr val="10E3B3"/>
                </a:solidFill>
                <a:latin typeface="Courier New"/>
              </a:defRPr>
            </a:pPr>
            <a:r>
              <a:t>  WCAG 2.1 AA and Section 508 compliance.</a:t>
            </a:r>
          </a:p>
          <a:p>
            <a:pPr>
              <a:spcBef>
                <a:spcPts val="0"/>
              </a:spcBef>
              <a:spcAft>
                <a:spcPts val="0"/>
              </a:spcAft>
              <a:defRPr sz="700">
                <a:solidFill>
                  <a:srgbClr val="10E3B3"/>
                </a:solidFill>
                <a:latin typeface="Courier New"/>
              </a:defRPr>
            </a:pPr>
            <a:r>
              <a:t>  Use for accessibility audits, form</a:t>
            </a:r>
          </a:p>
          <a:p>
            <a:pPr>
              <a:spcBef>
                <a:spcPts val="0"/>
              </a:spcBef>
              <a:spcAft>
                <a:spcPts val="0"/>
              </a:spcAft>
              <a:defRPr sz="700">
                <a:solidFill>
                  <a:srgbClr val="10E3B3"/>
                </a:solidFill>
                <a:latin typeface="Courier New"/>
              </a:defRPr>
            </a:pPr>
            <a:r>
              <a:t>  validation, and color contrast checks.</a:t>
            </a:r>
          </a:p>
          <a:p>
            <a:pPr>
              <a:spcBef>
                <a:spcPts val="0"/>
              </a:spcBef>
              <a:spcAft>
                <a:spcPts val="0"/>
              </a:spcAft>
              <a:defRPr sz="700">
                <a:solidFill>
                  <a:srgbClr val="10E3B3"/>
                </a:solidFill>
                <a:latin typeface="Courier New"/>
              </a:defRPr>
            </a:pPr>
            <a:r>
              <a:t>---</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Accessibility Checker</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Required Checks</a:t>
            </a:r>
          </a:p>
          <a:p>
            <a:pPr>
              <a:spcBef>
                <a:spcPts val="0"/>
              </a:spcBef>
              <a:spcAft>
                <a:spcPts val="0"/>
              </a:spcAft>
              <a:defRPr sz="700">
                <a:solidFill>
                  <a:srgbClr val="10E3B3"/>
                </a:solidFill>
                <a:latin typeface="Courier New"/>
              </a:defRPr>
            </a:pPr>
            <a:r>
              <a:t>1. All interactive elements keyboard</a:t>
            </a:r>
          </a:p>
          <a:p>
            <a:pPr>
              <a:spcBef>
                <a:spcPts val="0"/>
              </a:spcBef>
              <a:spcAft>
                <a:spcPts val="0"/>
              </a:spcAft>
              <a:defRPr sz="700">
                <a:solidFill>
                  <a:srgbClr val="10E3B3"/>
                </a:solidFill>
                <a:latin typeface="Courier New"/>
              </a:defRPr>
            </a:pPr>
            <a:r>
              <a:t>   accessible (Tab, Enter, Escape)</a:t>
            </a:r>
          </a:p>
          <a:p>
            <a:pPr>
              <a:spcBef>
                <a:spcPts val="0"/>
              </a:spcBef>
              <a:spcAft>
                <a:spcPts val="0"/>
              </a:spcAft>
              <a:defRPr sz="700">
                <a:solidFill>
                  <a:srgbClr val="10E3B3"/>
                </a:solidFill>
                <a:latin typeface="Courier New"/>
              </a:defRPr>
            </a:pPr>
            <a:r>
              <a:t>2. Images have meaningful alt text</a:t>
            </a:r>
          </a:p>
          <a:p>
            <a:pPr>
              <a:spcBef>
                <a:spcPts val="0"/>
              </a:spcBef>
              <a:spcAft>
                <a:spcPts val="0"/>
              </a:spcAft>
              <a:defRPr sz="700">
                <a:solidFill>
                  <a:srgbClr val="10E3B3"/>
                </a:solidFill>
                <a:latin typeface="Courier New"/>
              </a:defRPr>
            </a:pPr>
            <a:r>
              <a:t>3. Form inputs have associated labels</a:t>
            </a:r>
          </a:p>
          <a:p>
            <a:pPr>
              <a:spcBef>
                <a:spcPts val="0"/>
              </a:spcBef>
              <a:spcAft>
                <a:spcPts val="0"/>
              </a:spcAft>
              <a:defRPr sz="700">
                <a:solidFill>
                  <a:srgbClr val="10E3B3"/>
                </a:solidFill>
                <a:latin typeface="Courier New"/>
              </a:defRPr>
            </a:pPr>
            <a:r>
              <a:t>4. Color contrast &gt;= 4.5:1 for text</a:t>
            </a:r>
          </a:p>
          <a:p>
            <a:pPr>
              <a:spcBef>
                <a:spcPts val="0"/>
              </a:spcBef>
              <a:spcAft>
                <a:spcPts val="0"/>
              </a:spcAft>
              <a:defRPr sz="700">
                <a:solidFill>
                  <a:srgbClr val="10E3B3"/>
                </a:solidFill>
                <a:latin typeface="Courier New"/>
              </a:defRPr>
            </a:pPr>
            <a:r>
              <a:t>5. Focus states are visible</a:t>
            </a:r>
          </a:p>
          <a:p>
            <a:pPr>
              <a:spcBef>
                <a:spcPts val="0"/>
              </a:spcBef>
              <a:spcAft>
                <a:spcPts val="0"/>
              </a:spcAft>
              <a:defRPr sz="700">
                <a:solidFill>
                  <a:srgbClr val="10E3B3"/>
                </a:solidFill>
                <a:latin typeface="Courier New"/>
              </a:defRPr>
            </a:pPr>
            <a:r>
              <a:t>6. ARIA roles used correctly</a:t>
            </a:r>
          </a:p>
          <a:p>
            <a:pPr>
              <a:spcBef>
                <a:spcPts val="0"/>
              </a:spcBef>
              <a:spcAft>
                <a:spcPts val="0"/>
              </a:spcAft>
              <a:defRPr sz="700">
                <a:solidFill>
                  <a:srgbClr val="10E3B3"/>
                </a:solidFill>
                <a:latin typeface="Courier New"/>
              </a:defRPr>
            </a:pPr>
            <a:endParaRPr/>
          </a:p>
          <a:p>
            <a:pPr>
              <a:spcBef>
                <a:spcPts val="0"/>
              </a:spcBef>
              <a:spcAft>
                <a:spcPts val="0"/>
              </a:spcAft>
              <a:defRPr sz="700">
                <a:solidFill>
                  <a:srgbClr val="10E3B3"/>
                </a:solidFill>
                <a:latin typeface="Courier New"/>
              </a:defRPr>
            </a:pPr>
            <a:r>
              <a:t>## Run Audit</a:t>
            </a:r>
          </a:p>
          <a:p>
            <a:pPr>
              <a:spcBef>
                <a:spcPts val="0"/>
              </a:spcBef>
              <a:spcAft>
                <a:spcPts val="0"/>
              </a:spcAft>
              <a:defRPr sz="700">
                <a:solidFill>
                  <a:srgbClr val="10E3B3"/>
                </a:solidFill>
                <a:latin typeface="Courier New"/>
              </a:defRPr>
            </a:pPr>
            <a:r>
              <a:t>npx axe-core --rules wcag2aa</a:t>
            </a:r>
          </a:p>
        </p:txBody>
      </p:sp>
      <p:sp>
        <p:nvSpPr>
          <p:cNvPr id="11" name="Rounded Rectangle 10"/>
          <p:cNvSpPr/>
          <p:nvPr/>
        </p:nvSpPr>
        <p:spPr>
          <a:xfrm>
            <a:off x="4937760" y="777240"/>
            <a:ext cx="384048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868680"/>
            <a:ext cx="3566160" cy="228600"/>
          </a:xfrm>
          <a:prstGeom prst="rect">
            <a:avLst/>
          </a:prstGeom>
          <a:noFill/>
        </p:spPr>
        <p:txBody>
          <a:bodyPr wrap="square">
            <a:spAutoFit/>
          </a:bodyPr>
          <a:lstStyle/>
          <a:p>
            <a:pPr algn="l">
              <a:defRPr sz="1050" b="1">
                <a:solidFill>
                  <a:srgbClr val="EF6B5E"/>
                </a:solidFill>
                <a:latin typeface="Arial"/>
              </a:defRPr>
            </a:pPr>
            <a:r>
              <a:t>Trigger Keywords</a:t>
            </a:r>
          </a:p>
        </p:txBody>
      </p:sp>
      <p:sp>
        <p:nvSpPr>
          <p:cNvPr id="13" name="TextBox 12"/>
          <p:cNvSpPr txBox="1"/>
          <p:nvPr/>
        </p:nvSpPr>
        <p:spPr>
          <a:xfrm>
            <a:off x="5084064" y="1143000"/>
            <a:ext cx="3566160" cy="731520"/>
          </a:xfrm>
          <a:prstGeom prst="rect">
            <a:avLst/>
          </a:prstGeom>
          <a:noFill/>
        </p:spPr>
        <p:txBody>
          <a:bodyPr wrap="square">
            <a:spAutoFit/>
          </a:bodyPr>
          <a:lstStyle/>
          <a:p>
            <a:pPr>
              <a:defRPr sz="800">
                <a:solidFill>
                  <a:srgbClr val="A8B3BE"/>
                </a:solidFill>
              </a:defRPr>
            </a:pPr>
            <a:r>
              <a:t>"accessibility", "a11y", "508", "WCAG", "screen reader", "keyboard navigation"</a:t>
            </a:r>
          </a:p>
        </p:txBody>
      </p:sp>
      <p:sp>
        <p:nvSpPr>
          <p:cNvPr id="14" name="TextBox 13"/>
          <p:cNvSpPr txBox="1"/>
          <p:nvPr/>
        </p:nvSpPr>
        <p:spPr>
          <a:xfrm>
            <a:off x="5084064" y="1828800"/>
            <a:ext cx="3566160" cy="228600"/>
          </a:xfrm>
          <a:prstGeom prst="rect">
            <a:avLst/>
          </a:prstGeom>
          <a:noFill/>
        </p:spPr>
        <p:txBody>
          <a:bodyPr wrap="square">
            <a:spAutoFit/>
          </a:bodyPr>
          <a:lstStyle/>
          <a:p>
            <a:pPr algn="l">
              <a:defRPr sz="1050" b="1">
                <a:solidFill>
                  <a:srgbClr val="10E3B3"/>
                </a:solidFill>
                <a:latin typeface="Arial"/>
              </a:defRPr>
            </a:pPr>
            <a:r>
              <a:t>Example Prompts</a:t>
            </a:r>
          </a:p>
        </p:txBody>
      </p:sp>
      <p:sp>
        <p:nvSpPr>
          <p:cNvPr id="15" name="Rounded Rectangle 14"/>
          <p:cNvSpPr/>
          <p:nvPr/>
        </p:nvSpPr>
        <p:spPr>
          <a:xfrm>
            <a:off x="5084064" y="2103120"/>
            <a:ext cx="3566160" cy="128016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75504" y="2194560"/>
            <a:ext cx="3383280" cy="1097280"/>
          </a:xfrm>
          <a:prstGeom prst="rect">
            <a:avLst/>
          </a:prstGeom>
          <a:noFill/>
        </p:spPr>
        <p:txBody>
          <a:bodyPr wrap="square">
            <a:spAutoFit/>
          </a:bodyPr>
          <a:lstStyle/>
          <a:p>
            <a:pPr>
              <a:spcBef>
                <a:spcPts val="0"/>
              </a:spcBef>
              <a:defRPr sz="800">
                <a:solidFill>
                  <a:srgbClr val="10E3B3"/>
                </a:solidFill>
                <a:latin typeface="Courier New"/>
              </a:defRPr>
            </a:pPr>
            <a:r>
              <a:t>&gt; "Check TaskForm for accessibility"</a:t>
            </a:r>
          </a:p>
          <a:p>
            <a:pPr>
              <a:spcBef>
                <a:spcPts val="400"/>
              </a:spcBef>
              <a:defRPr sz="800">
                <a:solidFill>
                  <a:srgbClr val="10E3B3"/>
                </a:solidFill>
                <a:latin typeface="Courier New"/>
              </a:defRPr>
            </a:pPr>
            <a:r>
              <a:t>&gt; "Is the modal keyboard accessible?"</a:t>
            </a:r>
          </a:p>
          <a:p>
            <a:pPr>
              <a:spcBef>
                <a:spcPts val="400"/>
              </a:spcBef>
              <a:defRPr sz="800">
                <a:solidFill>
                  <a:srgbClr val="10E3B3"/>
                </a:solidFill>
                <a:latin typeface="Courier New"/>
              </a:defRPr>
            </a:pPr>
            <a:r>
              <a:t>&gt; "Audit dashboard for 508 compliance"</a:t>
            </a:r>
          </a:p>
        </p:txBody>
      </p:sp>
      <p:sp>
        <p:nvSpPr>
          <p:cNvPr id="17" name="TextBox 16"/>
          <p:cNvSpPr txBox="1"/>
          <p:nvPr/>
        </p:nvSpPr>
        <p:spPr>
          <a:xfrm>
            <a:off x="5084064" y="3520440"/>
            <a:ext cx="3566160" cy="228600"/>
          </a:xfrm>
          <a:prstGeom prst="rect">
            <a:avLst/>
          </a:prstGeom>
          <a:noFill/>
        </p:spPr>
        <p:txBody>
          <a:bodyPr wrap="square">
            <a:spAutoFit/>
          </a:bodyPr>
          <a:lstStyle/>
          <a:p>
            <a:pPr algn="l">
              <a:defRPr sz="1050" b="1">
                <a:solidFill>
                  <a:srgbClr val="10E3B3"/>
                </a:solidFill>
                <a:latin typeface="Arial"/>
              </a:defRPr>
            </a:pPr>
            <a:r>
              <a:t>Auto-Loaded When Relevant</a:t>
            </a:r>
          </a:p>
        </p:txBody>
      </p:sp>
      <p:sp>
        <p:nvSpPr>
          <p:cNvPr id="18" name="TextBox 17"/>
          <p:cNvSpPr txBox="1"/>
          <p:nvPr/>
        </p:nvSpPr>
        <p:spPr>
          <a:xfrm>
            <a:off x="5084064" y="3794760"/>
            <a:ext cx="3566160" cy="731520"/>
          </a:xfrm>
          <a:prstGeom prst="rect">
            <a:avLst/>
          </a:prstGeom>
          <a:noFill/>
        </p:spPr>
        <p:txBody>
          <a:bodyPr wrap="square">
            <a:spAutoFit/>
          </a:bodyPr>
          <a:lstStyle/>
          <a:p>
            <a:pPr>
              <a:defRPr sz="800">
                <a:solidFill>
                  <a:srgbClr val="A8B3BE"/>
                </a:solidFill>
              </a:defRPr>
            </a:pPr>
            <a:r>
              <a:t>Claude reads SKILL.md only when your request matches the description keywords.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1</a:t>
            </a:r>
            <a:endParaRPr lang="en-US" sz="900" dirty="0"/>
          </a:p>
        </p:txBody>
      </p:sp>
      <p:sp>
        <p:nvSpPr>
          <p:cNvPr id="4" name="Text 2"/>
          <p:cNvSpPr/>
          <p:nvPr/>
        </p:nvSpPr>
        <p:spPr>
          <a:xfrm>
            <a:off x="971848" y="285750"/>
            <a:ext cx="4507385"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MCP — External Tool Integration</a:t>
            </a:r>
            <a:endParaRPr lang="en-US" sz="2250" dirty="0">
              <a:solidFill>
                <a:schemeClr val="bg1"/>
              </a:solidFill>
            </a:endParaRPr>
          </a:p>
        </p:txBody>
      </p:sp>
      <p:sp>
        <p:nvSpPr>
          <p:cNvPr id="5" name="Text 3"/>
          <p:cNvSpPr/>
          <p:nvPr/>
        </p:nvSpPr>
        <p:spPr>
          <a:xfrm>
            <a:off x="381000" y="1638300"/>
            <a:ext cx="3702213"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Model Context Protocol</a:t>
            </a:r>
            <a:endParaRPr lang="en-US" sz="1350" dirty="0"/>
          </a:p>
        </p:txBody>
      </p:sp>
      <p:sp>
        <p:nvSpPr>
          <p:cNvPr id="6" name="Text 4"/>
          <p:cNvSpPr/>
          <p:nvPr/>
        </p:nvSpPr>
        <p:spPr>
          <a:xfrm>
            <a:off x="381000" y="2171700"/>
            <a:ext cx="3702213" cy="381000"/>
          </a:xfrm>
          <a:prstGeom prst="rect">
            <a:avLst/>
          </a:prstGeom>
          <a:noFill/>
          <a:ln/>
        </p:spPr>
        <p:txBody>
          <a:bodyPr wrap="square" lIns="0" tIns="0" rIns="0" bIns="0" rtlCol="0" anchor="t"/>
          <a:lstStyle/>
          <a:p>
            <a:pPr marL="0" indent="0" algn="l">
              <a:lnSpc>
                <a:spcPts val="1500"/>
              </a:lnSpc>
              <a:spcBef>
                <a:spcPts val="300"/>
              </a:spcBef>
              <a:spcAft>
                <a:spcPts val="1200"/>
              </a:spcAft>
              <a:buNone/>
            </a:pPr>
            <a:r>
              <a:rPr lang="en-US" sz="1050" dirty="0">
                <a:solidFill>
                  <a:srgbClr val="8B95A1"/>
                </a:solidFill>
                <a:latin typeface="Arial" pitchFamily="34" charset="0"/>
                <a:ea typeface="Arial" pitchFamily="34" charset="-122"/>
                <a:cs typeface="Arial" pitchFamily="34" charset="-120"/>
              </a:rPr>
              <a:t>Connect Claude to databases, APIs, and tools. "USB-C for AI"</a:t>
            </a:r>
            <a:endParaRPr lang="en-US" sz="1050" dirty="0"/>
          </a:p>
        </p:txBody>
      </p:sp>
      <p:sp>
        <p:nvSpPr>
          <p:cNvPr id="7" name="Text 5"/>
          <p:cNvSpPr/>
          <p:nvPr/>
        </p:nvSpPr>
        <p:spPr>
          <a:xfrm>
            <a:off x="381000" y="2895600"/>
            <a:ext cx="3702213"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1A1A2E"/>
                </a:solidFill>
                <a:latin typeface="Arial" pitchFamily="34" charset="0"/>
                <a:ea typeface="Arial" pitchFamily="34" charset="-122"/>
                <a:cs typeface="Arial" pitchFamily="34" charset="-120"/>
              </a:rPr>
              <a:t>Popular Servers</a:t>
            </a:r>
            <a:endParaRPr lang="en-US" sz="1050" dirty="0"/>
          </a:p>
        </p:txBody>
      </p:sp>
      <p:sp>
        <p:nvSpPr>
          <p:cNvPr id="8" name="Text 6"/>
          <p:cNvSpPr/>
          <p:nvPr/>
        </p:nvSpPr>
        <p:spPr>
          <a:xfrm>
            <a:off x="381000" y="3314700"/>
            <a:ext cx="3629620"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GitHub — Issues, PRs</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PostgreSQL — Databases</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Slack — Messages</a:t>
            </a:r>
            <a:endParaRPr lang="en-US" sz="1350" dirty="0"/>
          </a:p>
        </p:txBody>
      </p:sp>
      <p:sp>
        <p:nvSpPr>
          <p:cNvPr id="9" name="Text 7"/>
          <p:cNvSpPr/>
          <p:nvPr/>
        </p:nvSpPr>
        <p:spPr>
          <a:xfrm>
            <a:off x="4315420" y="1714500"/>
            <a:ext cx="4447580" cy="2362200"/>
          </a:xfrm>
          <a:prstGeom prst="roundRect">
            <a:avLst>
              <a:gd name="adj" fmla="val 2581"/>
            </a:avLst>
          </a:prstGeom>
          <a:solidFill>
            <a:srgbClr val="F8FAFC"/>
          </a:solidFill>
          <a:ln/>
        </p:spPr>
        <p:txBody>
          <a:bodyPr wrap="square" rtlCol="0" anchor="ctr"/>
          <a:lstStyle/>
          <a:p>
            <a:pPr marL="0" indent="0">
              <a:buNone/>
            </a:pPr>
            <a:endParaRPr lang="en-US" dirty="0"/>
          </a:p>
        </p:txBody>
      </p:sp>
      <p:sp>
        <p:nvSpPr>
          <p:cNvPr id="10" name="Text 8"/>
          <p:cNvSpPr/>
          <p:nvPr/>
        </p:nvSpPr>
        <p:spPr>
          <a:xfrm>
            <a:off x="4467820" y="1905000"/>
            <a:ext cx="4225635" cy="190500"/>
          </a:xfrm>
          <a:prstGeom prst="rect">
            <a:avLst/>
          </a:prstGeom>
          <a:noFill/>
          <a:ln/>
        </p:spPr>
        <p:txBody>
          <a:bodyPr wrap="square" lIns="0" tIns="0" rIns="0" bIns="0" rtlCol="0" anchor="t"/>
          <a:lstStyle/>
          <a:p>
            <a:pPr marL="0" indent="0" algn="l">
              <a:lnSpc>
                <a:spcPts val="1500"/>
              </a:lnSpc>
              <a:spcBef>
                <a:spcPts val="300"/>
              </a:spcBef>
              <a:spcAft>
                <a:spcPts val="750"/>
              </a:spcAft>
              <a:buNone/>
            </a:pPr>
            <a:r>
              <a:rPr lang="en-US" sz="1050" b="1" dirty="0">
                <a:solidFill>
                  <a:srgbClr val="1A1A2E"/>
                </a:solidFill>
                <a:latin typeface="Arial" pitchFamily="34" charset="0"/>
                <a:ea typeface="Arial" pitchFamily="34" charset="-122"/>
                <a:cs typeface="Arial" pitchFamily="34" charset="-120"/>
              </a:rPr>
              <a:t>Team Config: .mcp.json</a:t>
            </a:r>
            <a:endParaRPr lang="en-US" sz="1050" dirty="0"/>
          </a:p>
        </p:txBody>
      </p:sp>
      <p:sp>
        <p:nvSpPr>
          <p:cNvPr id="11" name="Text 9"/>
          <p:cNvSpPr/>
          <p:nvPr/>
        </p:nvSpPr>
        <p:spPr>
          <a:xfrm>
            <a:off x="4467820" y="2343150"/>
            <a:ext cx="4142780" cy="1143000"/>
          </a:xfrm>
          <a:prstGeom prst="roundRect">
            <a:avLst>
              <a:gd name="adj" fmla="val 5333"/>
            </a:avLst>
          </a:prstGeom>
          <a:solidFill>
            <a:srgbClr val="FFFFFF"/>
          </a:solidFill>
          <a:ln/>
        </p:spPr>
        <p:txBody>
          <a:bodyPr wrap="square" rtlCol="0" anchor="ctr"/>
          <a:lstStyle/>
          <a:p>
            <a:pPr marL="0" indent="0">
              <a:buNone/>
            </a:pPr>
            <a:endParaRPr lang="en-US" dirty="0"/>
          </a:p>
        </p:txBody>
      </p:sp>
      <p:sp>
        <p:nvSpPr>
          <p:cNvPr id="12" name="Text 10"/>
          <p:cNvSpPr/>
          <p:nvPr/>
        </p:nvSpPr>
        <p:spPr>
          <a:xfrm>
            <a:off x="4563070" y="2476500"/>
            <a:ext cx="4031325"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 "mcpServers": {</a:t>
            </a:r>
            <a:endParaRPr lang="en-US" sz="1500" dirty="0"/>
          </a:p>
        </p:txBody>
      </p:sp>
      <p:sp>
        <p:nvSpPr>
          <p:cNvPr id="13" name="Text 11"/>
          <p:cNvSpPr/>
          <p:nvPr/>
        </p:nvSpPr>
        <p:spPr>
          <a:xfrm>
            <a:off x="4563070" y="2781300"/>
            <a:ext cx="4031325"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"github": { "command": "npx" }</a:t>
            </a:r>
            <a:endParaRPr lang="en-US" sz="1500" dirty="0"/>
          </a:p>
        </p:txBody>
      </p:sp>
      <p:sp>
        <p:nvSpPr>
          <p:cNvPr id="14" name="Text 12"/>
          <p:cNvSpPr/>
          <p:nvPr/>
        </p:nvSpPr>
        <p:spPr>
          <a:xfrm>
            <a:off x="4563070" y="3086100"/>
            <a:ext cx="4031325"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a:t>
            </a:r>
            <a:endParaRPr lang="en-US" sz="1500" dirty="0"/>
          </a:p>
        </p:txBody>
      </p:sp>
      <p:sp>
        <p:nvSpPr>
          <p:cNvPr id="15" name="Text 13"/>
          <p:cNvSpPr/>
          <p:nvPr/>
        </p:nvSpPr>
        <p:spPr>
          <a:xfrm>
            <a:off x="4467820" y="3733800"/>
            <a:ext cx="4225635" cy="152400"/>
          </a:xfrm>
          <a:prstGeom prst="rect">
            <a:avLst/>
          </a:prstGeom>
          <a:noFill/>
          <a:ln/>
        </p:spPr>
        <p:txBody>
          <a:bodyPr wrap="square" lIns="0" tIns="0" rIns="0" bIns="0" rtlCol="0" anchor="t"/>
          <a:lstStyle/>
          <a:p>
            <a:pPr marL="0" indent="0" algn="l">
              <a:lnSpc>
                <a:spcPts val="1200"/>
              </a:lnSpc>
              <a:spcBef>
                <a:spcPts val="750"/>
              </a:spcBef>
              <a:spcAft>
                <a:spcPts val="300"/>
              </a:spcAft>
              <a:buNone/>
            </a:pPr>
            <a:r>
              <a:rPr lang="en-US" sz="900" dirty="0">
                <a:solidFill>
                  <a:srgbClr val="8B95A1"/>
                </a:solidFill>
                <a:latin typeface="Arial" pitchFamily="34" charset="0"/>
                <a:ea typeface="Arial" pitchFamily="34" charset="-122"/>
                <a:cs typeface="Arial" pitchFamily="34" charset="-120"/>
              </a:rPr>
              <a:t>Commit to git for team access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52A2E"/>
        </a:solidFill>
        <a:effectLst/>
      </p:bgPr>
    </p:bg>
    <p:spTree>
      <p:nvGrpSpPr>
        <p:cNvPr id="1" name=""/>
        <p:cNvGrpSpPr/>
        <p:nvPr/>
      </p:nvGrpSpPr>
      <p:grpSpPr>
        <a:xfrm>
          <a:off x="0" y="0"/>
          <a:ext cx="0" cy="0"/>
          <a:chOff x="0" y="0"/>
          <a:chExt cx="0" cy="0"/>
        </a:xfrm>
      </p:grpSpPr>
      <p:sp>
        <p:nvSpPr>
          <p:cNvPr id="2" name="Rounded Rectangle 1"/>
          <p:cNvSpPr/>
          <p:nvPr/>
        </p:nvSpPr>
        <p:spPr>
          <a:xfrm>
            <a:off x="365760" y="292608"/>
            <a:ext cx="548640" cy="320040"/>
          </a:xfrm>
          <a:prstGeom prst="roundRect">
            <a:avLst/>
          </a:prstGeom>
          <a:solidFill>
            <a:srgbClr val="10E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29184"/>
            <a:ext cx="512064" cy="274320"/>
          </a:xfrm>
          <a:prstGeom prst="rect">
            <a:avLst/>
          </a:prstGeom>
          <a:noFill/>
        </p:spPr>
        <p:txBody>
          <a:bodyPr wrap="none">
            <a:spAutoFit/>
          </a:bodyPr>
          <a:lstStyle/>
          <a:p>
            <a:pPr algn="ctr">
              <a:defRPr sz="900" b="1">
                <a:solidFill>
                  <a:srgbClr val="252A2E"/>
                </a:solidFill>
                <a:latin typeface="Arial"/>
              </a:defRPr>
            </a:pPr>
            <a:r>
              <a:t>DAY 1</a:t>
            </a:r>
          </a:p>
        </p:txBody>
      </p:sp>
      <p:sp>
        <p:nvSpPr>
          <p:cNvPr id="4" name="Rounded Rectangle 3"/>
          <p:cNvSpPr/>
          <p:nvPr/>
        </p:nvSpPr>
        <p:spPr>
          <a:xfrm>
            <a:off x="960120" y="292608"/>
            <a:ext cx="777240"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329184"/>
            <a:ext cx="740664" cy="274320"/>
          </a:xfrm>
          <a:prstGeom prst="rect">
            <a:avLst/>
          </a:prstGeom>
          <a:noFill/>
        </p:spPr>
        <p:txBody>
          <a:bodyPr wrap="none">
            <a:spAutoFit/>
          </a:bodyPr>
          <a:lstStyle/>
          <a:p>
            <a:pPr algn="ctr">
              <a:defRPr sz="900" b="1">
                <a:solidFill>
                  <a:srgbClr val="FFFFFF"/>
                </a:solidFill>
                <a:latin typeface="Arial"/>
              </a:defRPr>
            </a:pPr>
            <a:r>
              <a:t>EXAMPLE</a:t>
            </a:r>
          </a:p>
        </p:txBody>
      </p:sp>
      <p:sp>
        <p:nvSpPr>
          <p:cNvPr id="6" name="TextBox 5"/>
          <p:cNvSpPr txBox="1"/>
          <p:nvPr/>
        </p:nvSpPr>
        <p:spPr>
          <a:xfrm>
            <a:off x="1828800" y="274320"/>
            <a:ext cx="5486400" cy="365760"/>
          </a:xfrm>
          <a:prstGeom prst="rect">
            <a:avLst/>
          </a:prstGeom>
          <a:noFill/>
        </p:spPr>
        <p:txBody>
          <a:bodyPr wrap="square">
            <a:spAutoFit/>
          </a:bodyPr>
          <a:lstStyle/>
          <a:p>
            <a:pPr algn="l">
              <a:defRPr sz="2250" b="1">
                <a:solidFill>
                  <a:srgbClr val="FFFFFF"/>
                </a:solidFill>
                <a:latin typeface="Arial"/>
              </a:defRPr>
            </a:pPr>
            <a:r>
              <a:t>To-Do App — GitHub MCP</a:t>
            </a:r>
          </a:p>
        </p:txBody>
      </p:sp>
      <p:sp>
        <p:nvSpPr>
          <p:cNvPr id="7" name="Rounded Rectangle 6"/>
          <p:cNvSpPr/>
          <p:nvPr/>
        </p:nvSpPr>
        <p:spPr>
          <a:xfrm>
            <a:off x="365760" y="777240"/>
            <a:ext cx="411480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2064" y="868680"/>
            <a:ext cx="3840480" cy="228600"/>
          </a:xfrm>
          <a:prstGeom prst="rect">
            <a:avLst/>
          </a:prstGeom>
          <a:noFill/>
        </p:spPr>
        <p:txBody>
          <a:bodyPr wrap="square">
            <a:spAutoFit/>
          </a:bodyPr>
          <a:lstStyle/>
          <a:p>
            <a:pPr algn="l">
              <a:defRPr sz="1050" b="1">
                <a:solidFill>
                  <a:srgbClr val="10E3B3"/>
                </a:solidFill>
                <a:latin typeface="Arial"/>
              </a:defRPr>
            </a:pPr>
            <a:r>
              <a:t>.mcp.json</a:t>
            </a:r>
          </a:p>
        </p:txBody>
      </p:sp>
      <p:sp>
        <p:nvSpPr>
          <p:cNvPr id="9" name="Rounded Rectangle 8"/>
          <p:cNvSpPr/>
          <p:nvPr/>
        </p:nvSpPr>
        <p:spPr>
          <a:xfrm>
            <a:off x="457200" y="1143000"/>
            <a:ext cx="3931920" cy="237744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16152"/>
            <a:ext cx="3749040" cy="2231136"/>
          </a:xfrm>
          <a:prstGeom prst="rect">
            <a:avLst/>
          </a:prstGeom>
          <a:noFill/>
        </p:spPr>
        <p:txBody>
          <a:bodyPr wrap="none">
            <a:spAutoFit/>
          </a:bodyPr>
          <a:lstStyle/>
          <a:p>
            <a:pPr>
              <a:spcBef>
                <a:spcPts val="0"/>
              </a:spcBef>
              <a:spcAft>
                <a:spcPts val="0"/>
              </a:spcAft>
              <a:defRPr sz="750">
                <a:solidFill>
                  <a:srgbClr val="10E3B3"/>
                </a:solidFill>
                <a:latin typeface="Courier New"/>
              </a:defRPr>
            </a:pPr>
            <a:r>
              <a:t>{</a:t>
            </a:r>
          </a:p>
          <a:p>
            <a:pPr>
              <a:spcBef>
                <a:spcPts val="0"/>
              </a:spcBef>
              <a:spcAft>
                <a:spcPts val="0"/>
              </a:spcAft>
              <a:defRPr sz="750">
                <a:solidFill>
                  <a:srgbClr val="10E3B3"/>
                </a:solidFill>
                <a:latin typeface="Courier New"/>
              </a:defRPr>
            </a:pPr>
            <a:r>
              <a:t>  "mcpServers": {</a:t>
            </a:r>
          </a:p>
          <a:p>
            <a:pPr>
              <a:spcBef>
                <a:spcPts val="0"/>
              </a:spcBef>
              <a:spcAft>
                <a:spcPts val="0"/>
              </a:spcAft>
              <a:defRPr sz="750">
                <a:solidFill>
                  <a:srgbClr val="10E3B3"/>
                </a:solidFill>
                <a:latin typeface="Courier New"/>
              </a:defRPr>
            </a:pPr>
            <a:r>
              <a:t>    "github": {</a:t>
            </a:r>
          </a:p>
          <a:p>
            <a:pPr>
              <a:spcBef>
                <a:spcPts val="0"/>
              </a:spcBef>
              <a:spcAft>
                <a:spcPts val="0"/>
              </a:spcAft>
              <a:defRPr sz="750">
                <a:solidFill>
                  <a:srgbClr val="10E3B3"/>
                </a:solidFill>
                <a:latin typeface="Courier New"/>
              </a:defRPr>
            </a:pPr>
            <a:r>
              <a:t>      "command": "npx",</a:t>
            </a:r>
          </a:p>
          <a:p>
            <a:pPr>
              <a:spcBef>
                <a:spcPts val="0"/>
              </a:spcBef>
              <a:spcAft>
                <a:spcPts val="0"/>
              </a:spcAft>
              <a:defRPr sz="750">
                <a:solidFill>
                  <a:srgbClr val="10E3B3"/>
                </a:solidFill>
                <a:latin typeface="Courier New"/>
              </a:defRPr>
            </a:pPr>
            <a:r>
              <a:t>      "args": [</a:t>
            </a:r>
          </a:p>
          <a:p>
            <a:pPr>
              <a:spcBef>
                <a:spcPts val="0"/>
              </a:spcBef>
              <a:spcAft>
                <a:spcPts val="0"/>
              </a:spcAft>
              <a:defRPr sz="750">
                <a:solidFill>
                  <a:srgbClr val="10E3B3"/>
                </a:solidFill>
                <a:latin typeface="Courier New"/>
              </a:defRPr>
            </a:pPr>
            <a:r>
              <a:t>        "-y",</a:t>
            </a:r>
          </a:p>
          <a:p>
            <a:pPr>
              <a:spcBef>
                <a:spcPts val="0"/>
              </a:spcBef>
              <a:spcAft>
                <a:spcPts val="0"/>
              </a:spcAft>
              <a:defRPr sz="750">
                <a:solidFill>
                  <a:srgbClr val="10E3B3"/>
                </a:solidFill>
                <a:latin typeface="Courier New"/>
              </a:defRPr>
            </a:pPr>
            <a:r>
              <a:t>        "@modelcontextprotocol/</a:t>
            </a:r>
          </a:p>
          <a:p>
            <a:pPr>
              <a:spcBef>
                <a:spcPts val="0"/>
              </a:spcBef>
              <a:spcAft>
                <a:spcPts val="0"/>
              </a:spcAft>
              <a:defRPr sz="750">
                <a:solidFill>
                  <a:srgbClr val="10E3B3"/>
                </a:solidFill>
                <a:latin typeface="Courier New"/>
              </a:defRPr>
            </a:pPr>
            <a:r>
              <a:t>          server-github"</a:t>
            </a:r>
          </a:p>
          <a:p>
            <a:pPr>
              <a:spcBef>
                <a:spcPts val="0"/>
              </a:spcBef>
              <a:spcAft>
                <a:spcPts val="0"/>
              </a:spcAft>
              <a:defRPr sz="750">
                <a:solidFill>
                  <a:srgbClr val="10E3B3"/>
                </a:solidFill>
                <a:latin typeface="Courier New"/>
              </a:defRPr>
            </a:pPr>
            <a:r>
              <a:t>      ],</a:t>
            </a:r>
          </a:p>
          <a:p>
            <a:pPr>
              <a:spcBef>
                <a:spcPts val="0"/>
              </a:spcBef>
              <a:spcAft>
                <a:spcPts val="0"/>
              </a:spcAft>
              <a:defRPr sz="750">
                <a:solidFill>
                  <a:srgbClr val="10E3B3"/>
                </a:solidFill>
                <a:latin typeface="Courier New"/>
              </a:defRPr>
            </a:pPr>
            <a:r>
              <a:t>      "env": {</a:t>
            </a:r>
          </a:p>
          <a:p>
            <a:pPr>
              <a:spcBef>
                <a:spcPts val="0"/>
              </a:spcBef>
              <a:spcAft>
                <a:spcPts val="0"/>
              </a:spcAft>
              <a:defRPr sz="750">
                <a:solidFill>
                  <a:srgbClr val="10E3B3"/>
                </a:solidFill>
                <a:latin typeface="Courier New"/>
              </a:defRPr>
            </a:pPr>
            <a:r>
              <a:t>        "GITHUB_TOKEN": "${GITHUB_TOKEN}"</a:t>
            </a:r>
          </a:p>
          <a:p>
            <a:pPr>
              <a:spcBef>
                <a:spcPts val="0"/>
              </a:spcBef>
              <a:spcAft>
                <a:spcPts val="0"/>
              </a:spcAft>
              <a:defRPr sz="750">
                <a:solidFill>
                  <a:srgbClr val="10E3B3"/>
                </a:solidFill>
                <a:latin typeface="Courier New"/>
              </a:defRPr>
            </a:pPr>
            <a:r>
              <a:t>      }</a:t>
            </a:r>
          </a:p>
          <a:p>
            <a:pPr>
              <a:spcBef>
                <a:spcPts val="0"/>
              </a:spcBef>
              <a:spcAft>
                <a:spcPts val="0"/>
              </a:spcAft>
              <a:defRPr sz="750">
                <a:solidFill>
                  <a:srgbClr val="10E3B3"/>
                </a:solidFill>
                <a:latin typeface="Courier New"/>
              </a:defRPr>
            </a:pPr>
            <a:r>
              <a:t>    }</a:t>
            </a:r>
          </a:p>
          <a:p>
            <a:pPr>
              <a:spcBef>
                <a:spcPts val="0"/>
              </a:spcBef>
              <a:spcAft>
                <a:spcPts val="0"/>
              </a:spcAft>
              <a:defRPr sz="750">
                <a:solidFill>
                  <a:srgbClr val="10E3B3"/>
                </a:solidFill>
                <a:latin typeface="Courier New"/>
              </a:defRPr>
            </a:pPr>
            <a:r>
              <a:t>  }</a:t>
            </a:r>
          </a:p>
          <a:p>
            <a:pPr>
              <a:spcBef>
                <a:spcPts val="0"/>
              </a:spcBef>
              <a:spcAft>
                <a:spcPts val="0"/>
              </a:spcAft>
              <a:defRPr sz="750">
                <a:solidFill>
                  <a:srgbClr val="10E3B3"/>
                </a:solidFill>
                <a:latin typeface="Courier New"/>
              </a:defRPr>
            </a:pPr>
            <a:r>
              <a:t>}</a:t>
            </a:r>
          </a:p>
        </p:txBody>
      </p:sp>
      <p:sp>
        <p:nvSpPr>
          <p:cNvPr id="11" name="TextBox 10"/>
          <p:cNvSpPr txBox="1"/>
          <p:nvPr/>
        </p:nvSpPr>
        <p:spPr>
          <a:xfrm>
            <a:off x="512064" y="3611880"/>
            <a:ext cx="3840480" cy="182880"/>
          </a:xfrm>
          <a:prstGeom prst="rect">
            <a:avLst/>
          </a:prstGeom>
          <a:noFill/>
        </p:spPr>
        <p:txBody>
          <a:bodyPr wrap="square">
            <a:spAutoFit/>
          </a:bodyPr>
          <a:lstStyle/>
          <a:p>
            <a:pPr algn="l">
              <a:defRPr sz="800" b="0">
                <a:solidFill>
                  <a:srgbClr val="A8B3BE"/>
                </a:solidFill>
                <a:latin typeface="Arial"/>
              </a:defRPr>
            </a:pPr>
            <a:r>
              <a:t>Commit to git for team access</a:t>
            </a:r>
          </a:p>
        </p:txBody>
      </p:sp>
      <p:sp>
        <p:nvSpPr>
          <p:cNvPr id="12" name="TextBox 11"/>
          <p:cNvSpPr txBox="1"/>
          <p:nvPr/>
        </p:nvSpPr>
        <p:spPr>
          <a:xfrm>
            <a:off x="512064" y="3886200"/>
            <a:ext cx="3840480" cy="228600"/>
          </a:xfrm>
          <a:prstGeom prst="rect">
            <a:avLst/>
          </a:prstGeom>
          <a:noFill/>
        </p:spPr>
        <p:txBody>
          <a:bodyPr wrap="square">
            <a:spAutoFit/>
          </a:bodyPr>
          <a:lstStyle/>
          <a:p>
            <a:pPr algn="l">
              <a:defRPr sz="1050" b="1">
                <a:solidFill>
                  <a:srgbClr val="10E3B3"/>
                </a:solidFill>
                <a:latin typeface="Arial"/>
              </a:defRPr>
            </a:pPr>
            <a:r>
              <a:t>Setup</a:t>
            </a:r>
          </a:p>
        </p:txBody>
      </p:sp>
      <p:sp>
        <p:nvSpPr>
          <p:cNvPr id="13" name="TextBox 12"/>
          <p:cNvSpPr txBox="1"/>
          <p:nvPr/>
        </p:nvSpPr>
        <p:spPr>
          <a:xfrm>
            <a:off x="512064" y="4160520"/>
            <a:ext cx="3840480" cy="457200"/>
          </a:xfrm>
          <a:prstGeom prst="rect">
            <a:avLst/>
          </a:prstGeom>
          <a:noFill/>
        </p:spPr>
        <p:txBody>
          <a:bodyPr wrap="square">
            <a:spAutoFit/>
          </a:bodyPr>
          <a:lstStyle/>
          <a:p>
            <a:pPr>
              <a:defRPr sz="800">
                <a:solidFill>
                  <a:srgbClr val="A8B3BE"/>
                </a:solidFill>
              </a:defRPr>
            </a:pPr>
            <a:r>
              <a:t>1. Create GitHub PAT with repo scope</a:t>
            </a:r>
          </a:p>
          <a:p>
            <a:pPr>
              <a:defRPr sz="800">
                <a:solidFill>
                  <a:srgbClr val="A8B3BE"/>
                </a:solidFill>
              </a:defRPr>
            </a:pPr>
            <a:r>
              <a:t>2. Export GITHUB_TOKEN in your shell</a:t>
            </a:r>
          </a:p>
        </p:txBody>
      </p:sp>
      <p:sp>
        <p:nvSpPr>
          <p:cNvPr id="14" name="Rounded Rectangle 13"/>
          <p:cNvSpPr/>
          <p:nvPr/>
        </p:nvSpPr>
        <p:spPr>
          <a:xfrm>
            <a:off x="4663440" y="777240"/>
            <a:ext cx="411480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09744" y="868680"/>
            <a:ext cx="3840480" cy="228600"/>
          </a:xfrm>
          <a:prstGeom prst="rect">
            <a:avLst/>
          </a:prstGeom>
          <a:noFill/>
        </p:spPr>
        <p:txBody>
          <a:bodyPr wrap="square">
            <a:spAutoFit/>
          </a:bodyPr>
          <a:lstStyle/>
          <a:p>
            <a:pPr algn="l">
              <a:defRPr sz="1050" b="1">
                <a:solidFill>
                  <a:srgbClr val="EF6B5E"/>
                </a:solidFill>
                <a:latin typeface="Arial"/>
              </a:defRPr>
            </a:pPr>
            <a:r>
              <a:t>Natural Language Queries</a:t>
            </a:r>
          </a:p>
        </p:txBody>
      </p:sp>
      <p:sp>
        <p:nvSpPr>
          <p:cNvPr id="16" name="Rounded Rectangle 15"/>
          <p:cNvSpPr/>
          <p:nvPr/>
        </p:nvSpPr>
        <p:spPr>
          <a:xfrm>
            <a:off x="4809744" y="1188720"/>
            <a:ext cx="3840480" cy="210312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01184" y="1280160"/>
            <a:ext cx="3657600" cy="1920240"/>
          </a:xfrm>
          <a:prstGeom prst="rect">
            <a:avLst/>
          </a:prstGeom>
          <a:noFill/>
        </p:spPr>
        <p:txBody>
          <a:bodyPr wrap="square">
            <a:spAutoFit/>
          </a:bodyPr>
          <a:lstStyle/>
          <a:p>
            <a:pPr>
              <a:spcBef>
                <a:spcPts val="0"/>
              </a:spcBef>
              <a:defRPr sz="900" b="1">
                <a:solidFill>
                  <a:srgbClr val="10E3B3"/>
                </a:solidFill>
                <a:latin typeface="Courier New"/>
              </a:defRPr>
            </a:pPr>
            <a:r>
              <a:t>&gt; What's my next ticket?</a:t>
            </a:r>
          </a:p>
          <a:p>
            <a:pPr>
              <a:defRPr sz="750">
                <a:solidFill>
                  <a:srgbClr val="A8B3BE"/>
                </a:solidFill>
              </a:defRPr>
            </a:pPr>
            <a:r>
              <a:t>Finds issues assigned to you</a:t>
            </a:r>
          </a:p>
          <a:p>
            <a:pPr>
              <a:spcBef>
                <a:spcPts val="800"/>
              </a:spcBef>
              <a:defRPr sz="900" b="1">
                <a:solidFill>
                  <a:srgbClr val="10E3B3"/>
                </a:solidFill>
                <a:latin typeface="Courier New"/>
              </a:defRPr>
            </a:pPr>
            <a:r>
              <a:t>&gt; Show issues in 'In Progress'</a:t>
            </a:r>
          </a:p>
          <a:p>
            <a:pPr>
              <a:defRPr sz="750">
                <a:solidFill>
                  <a:srgbClr val="A8B3BE"/>
                </a:solidFill>
              </a:defRPr>
            </a:pPr>
            <a:r>
              <a:t>Lists items being worked on</a:t>
            </a:r>
          </a:p>
          <a:p>
            <a:pPr>
              <a:spcBef>
                <a:spcPts val="800"/>
              </a:spcBef>
              <a:defRPr sz="900" b="1">
                <a:solidFill>
                  <a:srgbClr val="10E3B3"/>
                </a:solidFill>
                <a:latin typeface="Courier New"/>
              </a:defRPr>
            </a:pPr>
            <a:r>
              <a:t>&gt; Create issue for dark mode</a:t>
            </a:r>
          </a:p>
          <a:p>
            <a:pPr>
              <a:defRPr sz="750">
                <a:solidFill>
                  <a:srgbClr val="A8B3BE"/>
                </a:solidFill>
              </a:defRPr>
            </a:pPr>
            <a:r>
              <a:t>Opens new issue with description</a:t>
            </a:r>
          </a:p>
          <a:p>
            <a:pPr>
              <a:spcBef>
                <a:spcPts val="800"/>
              </a:spcBef>
              <a:defRPr sz="900" b="1">
                <a:solidFill>
                  <a:srgbClr val="10E3B3"/>
                </a:solidFill>
                <a:latin typeface="Courier New"/>
              </a:defRPr>
            </a:pPr>
            <a:r>
              <a:t>&gt; Link PR #42 to issue #15</a:t>
            </a:r>
          </a:p>
          <a:p>
            <a:pPr>
              <a:defRPr sz="750">
                <a:solidFill>
                  <a:srgbClr val="A8B3BE"/>
                </a:solidFill>
              </a:defRPr>
            </a:pPr>
            <a:r>
              <a:t>Associates PR with issue</a:t>
            </a:r>
          </a:p>
        </p:txBody>
      </p:sp>
      <p:sp>
        <p:nvSpPr>
          <p:cNvPr id="18" name="TextBox 17"/>
          <p:cNvSpPr txBox="1"/>
          <p:nvPr/>
        </p:nvSpPr>
        <p:spPr>
          <a:xfrm>
            <a:off x="4809744" y="3429000"/>
            <a:ext cx="3840480" cy="228600"/>
          </a:xfrm>
          <a:prstGeom prst="rect">
            <a:avLst/>
          </a:prstGeom>
          <a:noFill/>
        </p:spPr>
        <p:txBody>
          <a:bodyPr wrap="square">
            <a:spAutoFit/>
          </a:bodyPr>
          <a:lstStyle/>
          <a:p>
            <a:pPr algn="l">
              <a:defRPr sz="1050" b="1">
                <a:solidFill>
                  <a:srgbClr val="10E3B3"/>
                </a:solidFill>
                <a:latin typeface="Arial"/>
              </a:defRPr>
            </a:pPr>
            <a:r>
              <a:t>Project Board Integration</a:t>
            </a:r>
          </a:p>
        </p:txBody>
      </p:sp>
      <p:sp>
        <p:nvSpPr>
          <p:cNvPr id="19" name="TextBox 18"/>
          <p:cNvSpPr txBox="1"/>
          <p:nvPr/>
        </p:nvSpPr>
        <p:spPr>
          <a:xfrm>
            <a:off x="4809744" y="3703320"/>
            <a:ext cx="3840480" cy="822960"/>
          </a:xfrm>
          <a:prstGeom prst="rect">
            <a:avLst/>
          </a:prstGeom>
          <a:noFill/>
        </p:spPr>
        <p:txBody>
          <a:bodyPr wrap="square">
            <a:spAutoFit/>
          </a:bodyPr>
          <a:lstStyle/>
          <a:p>
            <a:pPr>
              <a:defRPr sz="800">
                <a:solidFill>
                  <a:srgbClr val="A8B3BE"/>
                </a:solidFill>
              </a:defRPr>
            </a:pPr>
            <a:r>
              <a:t>Filter by: assignee, labels, milestone, project column, status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1</a:t>
            </a:r>
            <a:endParaRPr lang="en-US" sz="900" dirty="0"/>
          </a:p>
        </p:txBody>
      </p:sp>
      <p:sp>
        <p:nvSpPr>
          <p:cNvPr id="4" name="Text 2"/>
          <p:cNvSpPr/>
          <p:nvPr/>
        </p:nvSpPr>
        <p:spPr>
          <a:xfrm>
            <a:off x="971848" y="285750"/>
            <a:ext cx="2829184"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Essential Workflows</a:t>
            </a:r>
            <a:endParaRPr lang="en-US" sz="2250" dirty="0">
              <a:solidFill>
                <a:schemeClr val="bg1"/>
              </a:solidFill>
            </a:endParaRPr>
          </a:p>
        </p:txBody>
      </p:sp>
      <p:sp>
        <p:nvSpPr>
          <p:cNvPr id="5" name="Text 3"/>
          <p:cNvSpPr/>
          <p:nvPr/>
        </p:nvSpPr>
        <p:spPr>
          <a:xfrm>
            <a:off x="381000" y="933450"/>
            <a:ext cx="2042220" cy="3924300"/>
          </a:xfrm>
          <a:prstGeom prst="roundRect">
            <a:avLst>
              <a:gd name="adj" fmla="val 2985"/>
            </a:avLst>
          </a:prstGeom>
          <a:solidFill>
            <a:srgbClr val="F8FAFC"/>
          </a:solidFill>
          <a:ln/>
        </p:spPr>
        <p:txBody>
          <a:bodyPr wrap="square" rtlCol="0" anchor="ctr"/>
          <a:lstStyle/>
          <a:p>
            <a:pPr marL="0" indent="0">
              <a:buNone/>
            </a:pPr>
            <a:endParaRPr lang="en-US" dirty="0"/>
          </a:p>
        </p:txBody>
      </p:sp>
      <p:sp>
        <p:nvSpPr>
          <p:cNvPr id="6" name="Text 4"/>
          <p:cNvSpPr/>
          <p:nvPr/>
        </p:nvSpPr>
        <p:spPr>
          <a:xfrm>
            <a:off x="533400" y="2066925"/>
            <a:ext cx="1772168"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0F766E"/>
                </a:solidFill>
                <a:latin typeface="Arial" pitchFamily="34" charset="0"/>
                <a:ea typeface="Arial" pitchFamily="34" charset="-122"/>
                <a:cs typeface="Arial" pitchFamily="34" charset="-120"/>
              </a:rPr>
              <a:t>Plan Mode</a:t>
            </a:r>
            <a:endParaRPr lang="en-US" sz="1050" dirty="0"/>
          </a:p>
        </p:txBody>
      </p:sp>
      <p:sp>
        <p:nvSpPr>
          <p:cNvPr id="7" name="Text 5"/>
          <p:cNvSpPr/>
          <p:nvPr/>
        </p:nvSpPr>
        <p:spPr>
          <a:xfrm>
            <a:off x="533400" y="2505075"/>
            <a:ext cx="1772168" cy="3048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Read-only exploration before changes</a:t>
            </a:r>
            <a:endParaRPr lang="en-US" sz="900" dirty="0"/>
          </a:p>
        </p:txBody>
      </p:sp>
      <p:sp>
        <p:nvSpPr>
          <p:cNvPr id="8" name="Text 6"/>
          <p:cNvSpPr/>
          <p:nvPr/>
        </p:nvSpPr>
        <p:spPr>
          <a:xfrm>
            <a:off x="533400" y="3038475"/>
            <a:ext cx="1737420" cy="723900"/>
          </a:xfrm>
          <a:prstGeom prst="roundRect">
            <a:avLst>
              <a:gd name="adj" fmla="val 8421"/>
            </a:avLst>
          </a:prstGeom>
          <a:solidFill>
            <a:srgbClr val="FFFFFF"/>
          </a:solidFill>
          <a:ln/>
        </p:spPr>
        <p:txBody>
          <a:bodyPr wrap="square" rtlCol="0" anchor="ctr"/>
          <a:lstStyle/>
          <a:p>
            <a:pPr marL="0" indent="0">
              <a:buNone/>
            </a:pPr>
            <a:endParaRPr lang="en-US" dirty="0"/>
          </a:p>
        </p:txBody>
      </p:sp>
      <p:sp>
        <p:nvSpPr>
          <p:cNvPr id="9" name="Text 7"/>
          <p:cNvSpPr/>
          <p:nvPr/>
        </p:nvSpPr>
        <p:spPr>
          <a:xfrm>
            <a:off x="590550" y="3133725"/>
            <a:ext cx="1655582" cy="5334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--permission-mode plan</a:t>
            </a:r>
            <a:endParaRPr lang="en-US" sz="1500" dirty="0"/>
          </a:p>
        </p:txBody>
      </p:sp>
      <p:sp>
        <p:nvSpPr>
          <p:cNvPr id="10" name="Text 8"/>
          <p:cNvSpPr/>
          <p:nvPr/>
        </p:nvSpPr>
        <p:spPr>
          <a:xfrm>
            <a:off x="2575620" y="933450"/>
            <a:ext cx="1934170" cy="3924300"/>
          </a:xfrm>
          <a:prstGeom prst="roundRect">
            <a:avLst>
              <a:gd name="adj" fmla="val 3152"/>
            </a:avLst>
          </a:prstGeom>
          <a:solidFill>
            <a:srgbClr val="F8FAFC"/>
          </a:solidFill>
          <a:ln/>
        </p:spPr>
        <p:txBody>
          <a:bodyPr wrap="square" rtlCol="0" anchor="ctr"/>
          <a:lstStyle/>
          <a:p>
            <a:pPr marL="0" indent="0">
              <a:buNone/>
            </a:pPr>
            <a:endParaRPr lang="en-US" dirty="0"/>
          </a:p>
        </p:txBody>
      </p:sp>
      <p:sp>
        <p:nvSpPr>
          <p:cNvPr id="11" name="Text 9"/>
          <p:cNvSpPr/>
          <p:nvPr/>
        </p:nvSpPr>
        <p:spPr>
          <a:xfrm>
            <a:off x="2728020" y="2066925"/>
            <a:ext cx="1661958"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0F766E"/>
                </a:solidFill>
                <a:latin typeface="Arial" pitchFamily="34" charset="0"/>
                <a:ea typeface="Arial" pitchFamily="34" charset="-122"/>
                <a:cs typeface="Arial" pitchFamily="34" charset="-120"/>
              </a:rPr>
              <a:t>Extended Thinking</a:t>
            </a:r>
            <a:endParaRPr lang="en-US" sz="1050" dirty="0"/>
          </a:p>
        </p:txBody>
      </p:sp>
      <p:sp>
        <p:nvSpPr>
          <p:cNvPr id="12" name="Text 10"/>
          <p:cNvSpPr/>
          <p:nvPr/>
        </p:nvSpPr>
        <p:spPr>
          <a:xfrm>
            <a:off x="2728020" y="2505075"/>
            <a:ext cx="1661958" cy="3048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Deep reasoning for complex decisions</a:t>
            </a:r>
            <a:endParaRPr lang="en-US" sz="900" dirty="0"/>
          </a:p>
        </p:txBody>
      </p:sp>
      <p:sp>
        <p:nvSpPr>
          <p:cNvPr id="13" name="Text 11"/>
          <p:cNvSpPr/>
          <p:nvPr/>
        </p:nvSpPr>
        <p:spPr>
          <a:xfrm>
            <a:off x="2728020" y="3038475"/>
            <a:ext cx="1629370" cy="723900"/>
          </a:xfrm>
          <a:prstGeom prst="roundRect">
            <a:avLst>
              <a:gd name="adj" fmla="val 8421"/>
            </a:avLst>
          </a:prstGeom>
          <a:solidFill>
            <a:srgbClr val="FFFFFF"/>
          </a:solidFill>
          <a:ln/>
        </p:spPr>
        <p:txBody>
          <a:bodyPr wrap="square" rtlCol="0" anchor="ctr"/>
          <a:lstStyle/>
          <a:p>
            <a:pPr marL="0" indent="0">
              <a:buNone/>
            </a:pPr>
            <a:endParaRPr lang="en-US" dirty="0"/>
          </a:p>
        </p:txBody>
      </p:sp>
      <p:sp>
        <p:nvSpPr>
          <p:cNvPr id="14" name="Text 12"/>
          <p:cNvSpPr/>
          <p:nvPr/>
        </p:nvSpPr>
        <p:spPr>
          <a:xfrm>
            <a:off x="2785170" y="3133725"/>
            <a:ext cx="1545372" cy="5334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&gt; think deeply about...</a:t>
            </a:r>
            <a:endParaRPr lang="en-US" sz="1500" dirty="0"/>
          </a:p>
        </p:txBody>
      </p:sp>
      <p:sp>
        <p:nvSpPr>
          <p:cNvPr id="15" name="Text 13"/>
          <p:cNvSpPr/>
          <p:nvPr/>
        </p:nvSpPr>
        <p:spPr>
          <a:xfrm>
            <a:off x="4662190" y="933450"/>
            <a:ext cx="2014389" cy="3924300"/>
          </a:xfrm>
          <a:prstGeom prst="roundRect">
            <a:avLst>
              <a:gd name="adj" fmla="val 3026"/>
            </a:avLst>
          </a:prstGeom>
          <a:solidFill>
            <a:srgbClr val="F8FAFC"/>
          </a:solidFill>
          <a:ln/>
        </p:spPr>
        <p:txBody>
          <a:bodyPr wrap="square" rtlCol="0" anchor="ctr"/>
          <a:lstStyle/>
          <a:p>
            <a:pPr marL="0" indent="0">
              <a:buNone/>
            </a:pPr>
            <a:endParaRPr lang="en-US" dirty="0"/>
          </a:p>
        </p:txBody>
      </p:sp>
      <p:sp>
        <p:nvSpPr>
          <p:cNvPr id="16" name="Text 14"/>
          <p:cNvSpPr/>
          <p:nvPr/>
        </p:nvSpPr>
        <p:spPr>
          <a:xfrm>
            <a:off x="4814590" y="2143125"/>
            <a:ext cx="1743780"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0F766E"/>
                </a:solidFill>
                <a:latin typeface="Arial" pitchFamily="34" charset="0"/>
                <a:ea typeface="Arial" pitchFamily="34" charset="-122"/>
                <a:cs typeface="Arial" pitchFamily="34" charset="-120"/>
              </a:rPr>
              <a:t>@ References</a:t>
            </a:r>
            <a:endParaRPr lang="en-US" sz="1050" dirty="0"/>
          </a:p>
        </p:txBody>
      </p:sp>
      <p:sp>
        <p:nvSpPr>
          <p:cNvPr id="17" name="Text 15"/>
          <p:cNvSpPr/>
          <p:nvPr/>
        </p:nvSpPr>
        <p:spPr>
          <a:xfrm>
            <a:off x="4814590" y="2581275"/>
            <a:ext cx="1743780" cy="1524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Include files instantly</a:t>
            </a:r>
            <a:endParaRPr lang="en-US" sz="900" dirty="0"/>
          </a:p>
        </p:txBody>
      </p:sp>
      <p:sp>
        <p:nvSpPr>
          <p:cNvPr id="18" name="Text 16"/>
          <p:cNvSpPr/>
          <p:nvPr/>
        </p:nvSpPr>
        <p:spPr>
          <a:xfrm>
            <a:off x="4814590" y="2962275"/>
            <a:ext cx="1709589" cy="723900"/>
          </a:xfrm>
          <a:prstGeom prst="roundRect">
            <a:avLst>
              <a:gd name="adj" fmla="val 8421"/>
            </a:avLst>
          </a:prstGeom>
          <a:solidFill>
            <a:srgbClr val="FFFFFF"/>
          </a:solidFill>
          <a:ln/>
        </p:spPr>
        <p:txBody>
          <a:bodyPr wrap="square" rtlCol="0" anchor="ctr"/>
          <a:lstStyle/>
          <a:p>
            <a:pPr marL="0" indent="0">
              <a:buNone/>
            </a:pPr>
            <a:endParaRPr lang="en-US" dirty="0"/>
          </a:p>
        </p:txBody>
      </p:sp>
      <p:sp>
        <p:nvSpPr>
          <p:cNvPr id="19" name="Text 17"/>
          <p:cNvSpPr/>
          <p:nvPr/>
        </p:nvSpPr>
        <p:spPr>
          <a:xfrm>
            <a:off x="4871740" y="3057525"/>
            <a:ext cx="1627194" cy="5334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&gt; Explain @src/auth.py</a:t>
            </a:r>
            <a:endParaRPr lang="en-US" sz="1500" dirty="0"/>
          </a:p>
        </p:txBody>
      </p:sp>
      <p:sp>
        <p:nvSpPr>
          <p:cNvPr id="20" name="Text 18"/>
          <p:cNvSpPr/>
          <p:nvPr/>
        </p:nvSpPr>
        <p:spPr>
          <a:xfrm>
            <a:off x="6828979" y="933450"/>
            <a:ext cx="1934021" cy="3924300"/>
          </a:xfrm>
          <a:prstGeom prst="roundRect">
            <a:avLst>
              <a:gd name="adj" fmla="val 3152"/>
            </a:avLst>
          </a:prstGeom>
          <a:solidFill>
            <a:srgbClr val="F8FAFC"/>
          </a:solidFill>
          <a:ln/>
        </p:spPr>
        <p:txBody>
          <a:bodyPr wrap="square" rtlCol="0" anchor="ctr"/>
          <a:lstStyle/>
          <a:p>
            <a:pPr marL="0" indent="0">
              <a:buNone/>
            </a:pPr>
            <a:endParaRPr lang="en-US" dirty="0"/>
          </a:p>
        </p:txBody>
      </p:sp>
      <p:sp>
        <p:nvSpPr>
          <p:cNvPr id="21" name="Text 19"/>
          <p:cNvSpPr/>
          <p:nvPr/>
        </p:nvSpPr>
        <p:spPr>
          <a:xfrm>
            <a:off x="6981379" y="2143125"/>
            <a:ext cx="1661806"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EF6B5E"/>
                </a:solidFill>
                <a:latin typeface="Arial" pitchFamily="34" charset="0"/>
                <a:ea typeface="Arial" pitchFamily="34" charset="-122"/>
                <a:cs typeface="Arial" pitchFamily="34" charset="-120"/>
              </a:rPr>
              <a:t>Slash Commands</a:t>
            </a:r>
            <a:endParaRPr lang="en-US" sz="1050" dirty="0"/>
          </a:p>
        </p:txBody>
      </p:sp>
      <p:sp>
        <p:nvSpPr>
          <p:cNvPr id="22" name="Text 20"/>
          <p:cNvSpPr/>
          <p:nvPr/>
        </p:nvSpPr>
        <p:spPr>
          <a:xfrm>
            <a:off x="6981379" y="2581275"/>
            <a:ext cx="1661806" cy="1524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Reusable team workflows</a:t>
            </a:r>
            <a:endParaRPr lang="en-US" sz="900" dirty="0"/>
          </a:p>
        </p:txBody>
      </p:sp>
      <p:sp>
        <p:nvSpPr>
          <p:cNvPr id="23" name="Text 21"/>
          <p:cNvSpPr/>
          <p:nvPr/>
        </p:nvSpPr>
        <p:spPr>
          <a:xfrm>
            <a:off x="6981379" y="2962275"/>
            <a:ext cx="1629221" cy="723900"/>
          </a:xfrm>
          <a:prstGeom prst="roundRect">
            <a:avLst>
              <a:gd name="adj" fmla="val 8421"/>
            </a:avLst>
          </a:prstGeom>
          <a:solidFill>
            <a:srgbClr val="FFFFFF"/>
          </a:solidFill>
          <a:ln/>
        </p:spPr>
        <p:txBody>
          <a:bodyPr wrap="square" rtlCol="0" anchor="ctr"/>
          <a:lstStyle/>
          <a:p>
            <a:pPr marL="0" indent="0">
              <a:buNone/>
            </a:pPr>
            <a:endParaRPr lang="en-US" dirty="0"/>
          </a:p>
        </p:txBody>
      </p:sp>
      <p:sp>
        <p:nvSpPr>
          <p:cNvPr id="24" name="Text 22"/>
          <p:cNvSpPr/>
          <p:nvPr/>
        </p:nvSpPr>
        <p:spPr>
          <a:xfrm>
            <a:off x="7038529" y="3057525"/>
            <a:ext cx="1545220" cy="5334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&gt; /project:hipaa-check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52A2E"/>
        </a:solidFill>
        <a:effectLst/>
      </p:bgPr>
    </p:bg>
    <p:spTree>
      <p:nvGrpSpPr>
        <p:cNvPr id="1" name=""/>
        <p:cNvGrpSpPr/>
        <p:nvPr/>
      </p:nvGrpSpPr>
      <p:grpSpPr>
        <a:xfrm>
          <a:off x="0" y="0"/>
          <a:ext cx="0" cy="0"/>
          <a:chOff x="0" y="0"/>
          <a:chExt cx="0" cy="0"/>
        </a:xfrm>
      </p:grpSpPr>
      <p:sp>
        <p:nvSpPr>
          <p:cNvPr id="2" name="Rounded Rectangle 1"/>
          <p:cNvSpPr/>
          <p:nvPr/>
        </p:nvSpPr>
        <p:spPr>
          <a:xfrm>
            <a:off x="365760" y="292608"/>
            <a:ext cx="548640" cy="320040"/>
          </a:xfrm>
          <a:prstGeom prst="roundRect">
            <a:avLst/>
          </a:prstGeom>
          <a:solidFill>
            <a:srgbClr val="10E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29184"/>
            <a:ext cx="512064" cy="274320"/>
          </a:xfrm>
          <a:prstGeom prst="rect">
            <a:avLst/>
          </a:prstGeom>
          <a:noFill/>
        </p:spPr>
        <p:txBody>
          <a:bodyPr wrap="none">
            <a:spAutoFit/>
          </a:bodyPr>
          <a:lstStyle/>
          <a:p>
            <a:pPr algn="ctr">
              <a:defRPr sz="900" b="1">
                <a:solidFill>
                  <a:srgbClr val="252A2E"/>
                </a:solidFill>
                <a:latin typeface="Arial"/>
              </a:defRPr>
            </a:pPr>
            <a:r>
              <a:t>DAY 1</a:t>
            </a:r>
          </a:p>
        </p:txBody>
      </p:sp>
      <p:sp>
        <p:nvSpPr>
          <p:cNvPr id="4" name="TextBox 3"/>
          <p:cNvSpPr txBox="1"/>
          <p:nvPr/>
        </p:nvSpPr>
        <p:spPr>
          <a:xfrm>
            <a:off x="932688" y="274320"/>
            <a:ext cx="5486400" cy="365760"/>
          </a:xfrm>
          <a:prstGeom prst="rect">
            <a:avLst/>
          </a:prstGeom>
          <a:noFill/>
        </p:spPr>
        <p:txBody>
          <a:bodyPr wrap="square">
            <a:spAutoFit/>
          </a:bodyPr>
          <a:lstStyle/>
          <a:p>
            <a:pPr algn="l">
              <a:defRPr sz="2250" b="1">
                <a:solidFill>
                  <a:srgbClr val="FFFFFF"/>
                </a:solidFill>
                <a:latin typeface="Arial"/>
              </a:defRPr>
            </a:pPr>
            <a:r>
              <a:t>Hooks — Deterministic Control</a:t>
            </a:r>
          </a:p>
        </p:txBody>
      </p:sp>
      <p:sp>
        <p:nvSpPr>
          <p:cNvPr id="5" name="Rounded Rectangle 4"/>
          <p:cNvSpPr/>
          <p:nvPr/>
        </p:nvSpPr>
        <p:spPr>
          <a:xfrm>
            <a:off x="365760" y="896112"/>
            <a:ext cx="2468880" cy="3749039"/>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2064" y="1051560"/>
            <a:ext cx="2194560" cy="228600"/>
          </a:xfrm>
          <a:prstGeom prst="rect">
            <a:avLst/>
          </a:prstGeom>
          <a:noFill/>
        </p:spPr>
        <p:txBody>
          <a:bodyPr wrap="square">
            <a:spAutoFit/>
          </a:bodyPr>
          <a:lstStyle/>
          <a:p>
            <a:pPr algn="l">
              <a:defRPr sz="1050" b="1">
                <a:solidFill>
                  <a:srgbClr val="10E3B3"/>
                </a:solidFill>
                <a:latin typeface="Arial"/>
              </a:defRPr>
            </a:pPr>
            <a:r>
              <a:t>What Are Hooks?</a:t>
            </a:r>
          </a:p>
        </p:txBody>
      </p:sp>
      <p:sp>
        <p:nvSpPr>
          <p:cNvPr id="7" name="TextBox 6"/>
          <p:cNvSpPr txBox="1"/>
          <p:nvPr/>
        </p:nvSpPr>
        <p:spPr>
          <a:xfrm>
            <a:off x="512064" y="1325880"/>
            <a:ext cx="2194560" cy="548640"/>
          </a:xfrm>
          <a:prstGeom prst="rect">
            <a:avLst/>
          </a:prstGeom>
          <a:noFill/>
        </p:spPr>
        <p:txBody>
          <a:bodyPr wrap="square">
            <a:spAutoFit/>
          </a:bodyPr>
          <a:lstStyle/>
          <a:p>
            <a:pPr algn="l">
              <a:defRPr sz="900" b="0">
                <a:solidFill>
                  <a:srgbClr val="A8B3BE"/>
                </a:solidFill>
                <a:latin typeface="Arial"/>
              </a:defRPr>
            </a:pPr>
            <a:r>
              <a:t>Shell commands that execute automatically at specific lifecycle points.</a:t>
            </a:r>
          </a:p>
        </p:txBody>
      </p:sp>
      <p:sp>
        <p:nvSpPr>
          <p:cNvPr id="8" name="TextBox 7"/>
          <p:cNvSpPr txBox="1"/>
          <p:nvPr/>
        </p:nvSpPr>
        <p:spPr>
          <a:xfrm>
            <a:off x="512064" y="1920240"/>
            <a:ext cx="2194560" cy="182880"/>
          </a:xfrm>
          <a:prstGeom prst="rect">
            <a:avLst/>
          </a:prstGeom>
          <a:noFill/>
        </p:spPr>
        <p:txBody>
          <a:bodyPr wrap="square">
            <a:spAutoFit/>
          </a:bodyPr>
          <a:lstStyle/>
          <a:p>
            <a:pPr algn="l">
              <a:defRPr sz="1050" b="1">
                <a:solidFill>
                  <a:srgbClr val="10E3B3"/>
                </a:solidFill>
                <a:latin typeface="Arial"/>
              </a:defRPr>
            </a:pPr>
            <a:r>
              <a:t>Why Use Them?</a:t>
            </a:r>
          </a:p>
        </p:txBody>
      </p:sp>
      <p:sp>
        <p:nvSpPr>
          <p:cNvPr id="9" name="TextBox 8"/>
          <p:cNvSpPr txBox="1"/>
          <p:nvPr/>
        </p:nvSpPr>
        <p:spPr>
          <a:xfrm>
            <a:off x="512064" y="2194560"/>
            <a:ext cx="2194560" cy="1645920"/>
          </a:xfrm>
          <a:prstGeom prst="rect">
            <a:avLst/>
          </a:prstGeom>
          <a:noFill/>
        </p:spPr>
        <p:txBody>
          <a:bodyPr wrap="square">
            <a:spAutoFit/>
          </a:bodyPr>
          <a:lstStyle/>
          <a:p>
            <a:pPr>
              <a:spcBef>
                <a:spcPts val="200"/>
              </a:spcBef>
              <a:defRPr sz="800">
                <a:solidFill>
                  <a:srgbClr val="A8B3BE"/>
                </a:solidFill>
                <a:latin typeface="Arial"/>
              </a:defRPr>
            </a:pPr>
            <a:r>
              <a:t>• Guarantee actions happen every time</a:t>
            </a:r>
          </a:p>
          <a:p>
            <a:pPr>
              <a:spcBef>
                <a:spcPts val="200"/>
              </a:spcBef>
              <a:defRPr sz="800">
                <a:solidFill>
                  <a:srgbClr val="A8B3BE"/>
                </a:solidFill>
                <a:latin typeface="Arial"/>
              </a:defRPr>
            </a:pPr>
            <a:r>
              <a:t>• Auto-format code on save</a:t>
            </a:r>
          </a:p>
          <a:p>
            <a:pPr>
              <a:spcBef>
                <a:spcPts val="200"/>
              </a:spcBef>
              <a:defRPr sz="800">
                <a:solidFill>
                  <a:srgbClr val="A8B3BE"/>
                </a:solidFill>
                <a:latin typeface="Arial"/>
              </a:defRPr>
            </a:pPr>
            <a:r>
              <a:t>• Block dangerous commands</a:t>
            </a:r>
          </a:p>
          <a:p>
            <a:pPr>
              <a:spcBef>
                <a:spcPts val="200"/>
              </a:spcBef>
              <a:defRPr sz="800">
                <a:solidFill>
                  <a:srgbClr val="A8B3BE"/>
                </a:solidFill>
                <a:latin typeface="Arial"/>
              </a:defRPr>
            </a:pPr>
            <a:r>
              <a:t>• Run tests after changes</a:t>
            </a:r>
          </a:p>
          <a:p>
            <a:pPr>
              <a:spcBef>
                <a:spcPts val="200"/>
              </a:spcBef>
              <a:defRPr sz="800">
                <a:solidFill>
                  <a:srgbClr val="A8B3BE"/>
                </a:solidFill>
                <a:latin typeface="Arial"/>
              </a:defRPr>
            </a:pPr>
            <a:r>
              <a:t>• Inject context into prompts</a:t>
            </a:r>
          </a:p>
        </p:txBody>
      </p:sp>
      <p:sp>
        <p:nvSpPr>
          <p:cNvPr id="10" name="Rounded Rectangle 9"/>
          <p:cNvSpPr/>
          <p:nvPr/>
        </p:nvSpPr>
        <p:spPr>
          <a:xfrm>
            <a:off x="2971800" y="896112"/>
            <a:ext cx="2468880" cy="3749039"/>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18104" y="1051560"/>
            <a:ext cx="2194560" cy="228600"/>
          </a:xfrm>
          <a:prstGeom prst="rect">
            <a:avLst/>
          </a:prstGeom>
          <a:noFill/>
        </p:spPr>
        <p:txBody>
          <a:bodyPr wrap="square">
            <a:spAutoFit/>
          </a:bodyPr>
          <a:lstStyle/>
          <a:p>
            <a:pPr algn="l">
              <a:defRPr sz="1050" b="1">
                <a:solidFill>
                  <a:srgbClr val="EF6B5E"/>
                </a:solidFill>
                <a:latin typeface="Arial"/>
              </a:defRPr>
            </a:pPr>
            <a:r>
              <a:t>Lifecycle Events</a:t>
            </a:r>
          </a:p>
        </p:txBody>
      </p:sp>
      <p:sp>
        <p:nvSpPr>
          <p:cNvPr id="12" name="TextBox 11"/>
          <p:cNvSpPr txBox="1"/>
          <p:nvPr/>
        </p:nvSpPr>
        <p:spPr>
          <a:xfrm>
            <a:off x="3118104" y="1371600"/>
            <a:ext cx="2240280" cy="3108960"/>
          </a:xfrm>
          <a:prstGeom prst="rect">
            <a:avLst/>
          </a:prstGeom>
          <a:noFill/>
        </p:spPr>
        <p:txBody>
          <a:bodyPr wrap="square">
            <a:spAutoFit/>
          </a:bodyPr>
          <a:lstStyle/>
          <a:p>
            <a:pPr>
              <a:spcBef>
                <a:spcPts val="0"/>
              </a:spcBef>
              <a:defRPr sz="900" b="1">
                <a:solidFill>
                  <a:srgbClr val="FFFFFF"/>
                </a:solidFill>
                <a:latin typeface="Arial"/>
              </a:defRPr>
            </a:pPr>
            <a:r>
              <a:t>PreToolUse</a:t>
            </a:r>
          </a:p>
          <a:p>
            <a:pPr>
              <a:defRPr sz="750">
                <a:solidFill>
                  <a:srgbClr val="A8B3BE"/>
                </a:solidFill>
                <a:latin typeface="Arial"/>
              </a:defRPr>
            </a:pPr>
            <a:r>
              <a:t>Before tool runs</a:t>
            </a:r>
          </a:p>
          <a:p>
            <a:pPr>
              <a:spcBef>
                <a:spcPts val="400"/>
              </a:spcBef>
              <a:defRPr sz="900" b="1">
                <a:solidFill>
                  <a:srgbClr val="FFFFFF"/>
                </a:solidFill>
                <a:latin typeface="Arial"/>
              </a:defRPr>
            </a:pPr>
            <a:r>
              <a:t>PostToolUse</a:t>
            </a:r>
          </a:p>
          <a:p>
            <a:pPr>
              <a:defRPr sz="750">
                <a:solidFill>
                  <a:srgbClr val="A8B3BE"/>
                </a:solidFill>
                <a:latin typeface="Arial"/>
              </a:defRPr>
            </a:pPr>
            <a:r>
              <a:t>After tool completes</a:t>
            </a:r>
          </a:p>
          <a:p>
            <a:pPr>
              <a:spcBef>
                <a:spcPts val="400"/>
              </a:spcBef>
              <a:defRPr sz="900" b="1">
                <a:solidFill>
                  <a:srgbClr val="FFFFFF"/>
                </a:solidFill>
                <a:latin typeface="Arial"/>
              </a:defRPr>
            </a:pPr>
            <a:r>
              <a:t>UserPromptSubmit</a:t>
            </a:r>
          </a:p>
          <a:p>
            <a:pPr>
              <a:defRPr sz="750">
                <a:solidFill>
                  <a:srgbClr val="A8B3BE"/>
                </a:solidFill>
                <a:latin typeface="Arial"/>
              </a:defRPr>
            </a:pPr>
            <a:r>
              <a:t>When user sends prompt</a:t>
            </a:r>
          </a:p>
          <a:p>
            <a:pPr>
              <a:spcBef>
                <a:spcPts val="400"/>
              </a:spcBef>
              <a:defRPr sz="900" b="1">
                <a:solidFill>
                  <a:srgbClr val="FFFFFF"/>
                </a:solidFill>
                <a:latin typeface="Arial"/>
              </a:defRPr>
            </a:pPr>
            <a:r>
              <a:t>PermissionRequest</a:t>
            </a:r>
          </a:p>
          <a:p>
            <a:pPr>
              <a:defRPr sz="750">
                <a:solidFill>
                  <a:srgbClr val="A8B3BE"/>
                </a:solidFill>
                <a:latin typeface="Arial"/>
              </a:defRPr>
            </a:pPr>
            <a:r>
              <a:t>On permission dialog</a:t>
            </a:r>
          </a:p>
          <a:p>
            <a:pPr>
              <a:spcBef>
                <a:spcPts val="400"/>
              </a:spcBef>
              <a:defRPr sz="900" b="1">
                <a:solidFill>
                  <a:srgbClr val="FFFFFF"/>
                </a:solidFill>
                <a:latin typeface="Arial"/>
              </a:defRPr>
            </a:pPr>
            <a:r>
              <a:t>Stop</a:t>
            </a:r>
          </a:p>
          <a:p>
            <a:pPr>
              <a:defRPr sz="750">
                <a:solidFill>
                  <a:srgbClr val="A8B3BE"/>
                </a:solidFill>
                <a:latin typeface="Arial"/>
              </a:defRPr>
            </a:pPr>
            <a:r>
              <a:t>When Claude finishes</a:t>
            </a:r>
          </a:p>
          <a:p>
            <a:pPr>
              <a:spcBef>
                <a:spcPts val="400"/>
              </a:spcBef>
              <a:defRPr sz="900" b="1">
                <a:solidFill>
                  <a:srgbClr val="FFFFFF"/>
                </a:solidFill>
                <a:latin typeface="Arial"/>
              </a:defRPr>
            </a:pPr>
            <a:r>
              <a:t>SubagentStop</a:t>
            </a:r>
          </a:p>
          <a:p>
            <a:pPr>
              <a:defRPr sz="750">
                <a:solidFill>
                  <a:srgbClr val="A8B3BE"/>
                </a:solidFill>
                <a:latin typeface="Arial"/>
              </a:defRPr>
            </a:pPr>
            <a:r>
              <a:t>When subagent finishes</a:t>
            </a:r>
          </a:p>
          <a:p>
            <a:pPr>
              <a:spcBef>
                <a:spcPts val="400"/>
              </a:spcBef>
              <a:defRPr sz="900" b="1">
                <a:solidFill>
                  <a:srgbClr val="FFFFFF"/>
                </a:solidFill>
                <a:latin typeface="Arial"/>
              </a:defRPr>
            </a:pPr>
            <a:r>
              <a:t>SessionStart</a:t>
            </a:r>
          </a:p>
          <a:p>
            <a:pPr>
              <a:defRPr sz="750">
                <a:solidFill>
                  <a:srgbClr val="A8B3BE"/>
                </a:solidFill>
                <a:latin typeface="Arial"/>
              </a:defRPr>
            </a:pPr>
            <a:r>
              <a:t>On session start/resume</a:t>
            </a:r>
          </a:p>
          <a:p>
            <a:pPr>
              <a:spcBef>
                <a:spcPts val="400"/>
              </a:spcBef>
              <a:defRPr sz="900" b="1">
                <a:solidFill>
                  <a:srgbClr val="FFFFFF"/>
                </a:solidFill>
                <a:latin typeface="Arial"/>
              </a:defRPr>
            </a:pPr>
            <a:r>
              <a:t>PreCompact</a:t>
            </a:r>
          </a:p>
          <a:p>
            <a:pPr>
              <a:defRPr sz="750">
                <a:solidFill>
                  <a:srgbClr val="A8B3BE"/>
                </a:solidFill>
                <a:latin typeface="Arial"/>
              </a:defRPr>
            </a:pPr>
            <a:r>
              <a:t>Before compaction</a:t>
            </a:r>
          </a:p>
        </p:txBody>
      </p:sp>
      <p:sp>
        <p:nvSpPr>
          <p:cNvPr id="13" name="Rounded Rectangle 12"/>
          <p:cNvSpPr/>
          <p:nvPr/>
        </p:nvSpPr>
        <p:spPr>
          <a:xfrm>
            <a:off x="5577840" y="896112"/>
            <a:ext cx="3200400" cy="3749039"/>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24144" y="1051560"/>
            <a:ext cx="2926080" cy="228600"/>
          </a:xfrm>
          <a:prstGeom prst="rect">
            <a:avLst/>
          </a:prstGeom>
          <a:noFill/>
        </p:spPr>
        <p:txBody>
          <a:bodyPr wrap="square">
            <a:spAutoFit/>
          </a:bodyPr>
          <a:lstStyle/>
          <a:p>
            <a:pPr algn="l">
              <a:defRPr sz="1050" b="1">
                <a:solidFill>
                  <a:srgbClr val="10E3B3"/>
                </a:solidFill>
                <a:latin typeface="Arial"/>
              </a:defRPr>
            </a:pPr>
            <a:r>
              <a:t>Example: Auto-Format</a:t>
            </a:r>
          </a:p>
        </p:txBody>
      </p:sp>
      <p:sp>
        <p:nvSpPr>
          <p:cNvPr id="15" name="TextBox 14"/>
          <p:cNvSpPr txBox="1"/>
          <p:nvPr/>
        </p:nvSpPr>
        <p:spPr>
          <a:xfrm>
            <a:off x="5724144" y="1325880"/>
            <a:ext cx="2926080" cy="274320"/>
          </a:xfrm>
          <a:prstGeom prst="rect">
            <a:avLst/>
          </a:prstGeom>
          <a:noFill/>
        </p:spPr>
        <p:txBody>
          <a:bodyPr wrap="square">
            <a:spAutoFit/>
          </a:bodyPr>
          <a:lstStyle/>
          <a:p>
            <a:pPr algn="l">
              <a:defRPr sz="800" b="0">
                <a:solidFill>
                  <a:srgbClr val="A8B3BE"/>
                </a:solidFill>
                <a:latin typeface="Arial"/>
              </a:defRPr>
            </a:pPr>
            <a:r>
              <a:t>.claude/settings.json</a:t>
            </a:r>
          </a:p>
        </p:txBody>
      </p:sp>
      <p:sp>
        <p:nvSpPr>
          <p:cNvPr id="16" name="Rounded Rectangle 15"/>
          <p:cNvSpPr/>
          <p:nvPr/>
        </p:nvSpPr>
        <p:spPr>
          <a:xfrm>
            <a:off x="5724144" y="1600200"/>
            <a:ext cx="2926080" cy="219456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15584" y="1673352"/>
            <a:ext cx="2743200" cy="2048256"/>
          </a:xfrm>
          <a:prstGeom prst="rect">
            <a:avLst/>
          </a:prstGeom>
          <a:noFill/>
        </p:spPr>
        <p:txBody>
          <a:bodyPr wrap="none">
            <a:spAutoFit/>
          </a:bodyPr>
          <a:lstStyle/>
          <a:p>
            <a:pPr>
              <a:spcBef>
                <a:spcPts val="0"/>
              </a:spcBef>
              <a:spcAft>
                <a:spcPts val="0"/>
              </a:spcAft>
              <a:defRPr sz="750">
                <a:solidFill>
                  <a:srgbClr val="10E3B3"/>
                </a:solidFill>
                <a:latin typeface="Courier New"/>
              </a:defRPr>
            </a:pPr>
            <a:r>
              <a:t>{ "hooks": {</a:t>
            </a:r>
          </a:p>
          <a:p>
            <a:pPr>
              <a:spcBef>
                <a:spcPts val="0"/>
              </a:spcBef>
              <a:spcAft>
                <a:spcPts val="0"/>
              </a:spcAft>
              <a:defRPr sz="750">
                <a:solidFill>
                  <a:srgbClr val="10E3B3"/>
                </a:solidFill>
                <a:latin typeface="Courier New"/>
              </a:defRPr>
            </a:pPr>
            <a:r>
              <a:t>  "PostToolUse": [{</a:t>
            </a:r>
          </a:p>
          <a:p>
            <a:pPr>
              <a:spcBef>
                <a:spcPts val="0"/>
              </a:spcBef>
              <a:spcAft>
                <a:spcPts val="0"/>
              </a:spcAft>
              <a:defRPr sz="750">
                <a:solidFill>
                  <a:srgbClr val="10E3B3"/>
                </a:solidFill>
                <a:latin typeface="Courier New"/>
              </a:defRPr>
            </a:pPr>
            <a:r>
              <a:t>    "matcher": "Write",</a:t>
            </a:r>
          </a:p>
          <a:p>
            <a:pPr>
              <a:spcBef>
                <a:spcPts val="0"/>
              </a:spcBef>
              <a:spcAft>
                <a:spcPts val="0"/>
              </a:spcAft>
              <a:defRPr sz="750">
                <a:solidFill>
                  <a:srgbClr val="10E3B3"/>
                </a:solidFill>
                <a:latin typeface="Courier New"/>
              </a:defRPr>
            </a:pPr>
            <a:r>
              <a:t>    "hooks": [{</a:t>
            </a:r>
          </a:p>
          <a:p>
            <a:pPr>
              <a:spcBef>
                <a:spcPts val="0"/>
              </a:spcBef>
              <a:spcAft>
                <a:spcPts val="0"/>
              </a:spcAft>
              <a:defRPr sz="750">
                <a:solidFill>
                  <a:srgbClr val="10E3B3"/>
                </a:solidFill>
                <a:latin typeface="Courier New"/>
              </a:defRPr>
            </a:pPr>
            <a:r>
              <a:t>      "type": "command",</a:t>
            </a:r>
          </a:p>
          <a:p>
            <a:pPr>
              <a:spcBef>
                <a:spcPts val="0"/>
              </a:spcBef>
              <a:spcAft>
                <a:spcPts val="0"/>
              </a:spcAft>
              <a:defRPr sz="750">
                <a:solidFill>
                  <a:srgbClr val="10E3B3"/>
                </a:solidFill>
                <a:latin typeface="Courier New"/>
              </a:defRPr>
            </a:pPr>
            <a:r>
              <a:t>      "command": "prettier</a:t>
            </a:r>
          </a:p>
          <a:p>
            <a:pPr>
              <a:spcBef>
                <a:spcPts val="0"/>
              </a:spcBef>
              <a:spcAft>
                <a:spcPts val="0"/>
              </a:spcAft>
              <a:defRPr sz="750">
                <a:solidFill>
                  <a:srgbClr val="10E3B3"/>
                </a:solidFill>
                <a:latin typeface="Courier New"/>
              </a:defRPr>
            </a:pPr>
            <a:r>
              <a:t>        --write $CLAUDE_FILE_PATHS"</a:t>
            </a:r>
          </a:p>
          <a:p>
            <a:pPr>
              <a:spcBef>
                <a:spcPts val="0"/>
              </a:spcBef>
              <a:spcAft>
                <a:spcPts val="0"/>
              </a:spcAft>
              <a:defRPr sz="750">
                <a:solidFill>
                  <a:srgbClr val="10E3B3"/>
                </a:solidFill>
                <a:latin typeface="Courier New"/>
              </a:defRPr>
            </a:pPr>
            <a:r>
              <a:t>    }]</a:t>
            </a:r>
          </a:p>
          <a:p>
            <a:pPr>
              <a:spcBef>
                <a:spcPts val="0"/>
              </a:spcBef>
              <a:spcAft>
                <a:spcPts val="0"/>
              </a:spcAft>
              <a:defRPr sz="750">
                <a:solidFill>
                  <a:srgbClr val="10E3B3"/>
                </a:solidFill>
                <a:latin typeface="Courier New"/>
              </a:defRPr>
            </a:pPr>
            <a:r>
              <a:t>  }]</a:t>
            </a:r>
          </a:p>
          <a:p>
            <a:pPr>
              <a:spcBef>
                <a:spcPts val="0"/>
              </a:spcBef>
              <a:spcAft>
                <a:spcPts val="0"/>
              </a:spcAft>
              <a:defRPr sz="750">
                <a:solidFill>
                  <a:srgbClr val="10E3B3"/>
                </a:solidFill>
                <a:latin typeface="Courier New"/>
              </a:defRPr>
            </a:pPr>
            <a:r>
              <a:t>}}</a:t>
            </a:r>
          </a:p>
        </p:txBody>
      </p:sp>
      <p:sp>
        <p:nvSpPr>
          <p:cNvPr id="18" name="TextBox 17"/>
          <p:cNvSpPr txBox="1"/>
          <p:nvPr/>
        </p:nvSpPr>
        <p:spPr>
          <a:xfrm>
            <a:off x="5724144" y="3886200"/>
            <a:ext cx="2926080" cy="182880"/>
          </a:xfrm>
          <a:prstGeom prst="rect">
            <a:avLst/>
          </a:prstGeom>
          <a:noFill/>
        </p:spPr>
        <p:txBody>
          <a:bodyPr wrap="square">
            <a:spAutoFit/>
          </a:bodyPr>
          <a:lstStyle/>
          <a:p>
            <a:pPr algn="l">
              <a:defRPr sz="900" b="1">
                <a:solidFill>
                  <a:srgbClr val="10E3B3"/>
                </a:solidFill>
                <a:latin typeface="Arial"/>
              </a:defRPr>
            </a:pPr>
            <a:r>
              <a:t>Exit Codes</a:t>
            </a:r>
          </a:p>
        </p:txBody>
      </p:sp>
      <p:sp>
        <p:nvSpPr>
          <p:cNvPr id="19" name="TextBox 18"/>
          <p:cNvSpPr txBox="1"/>
          <p:nvPr/>
        </p:nvSpPr>
        <p:spPr>
          <a:xfrm>
            <a:off x="5724144" y="4114800"/>
            <a:ext cx="2926080" cy="457200"/>
          </a:xfrm>
          <a:prstGeom prst="rect">
            <a:avLst/>
          </a:prstGeom>
          <a:noFill/>
        </p:spPr>
        <p:txBody>
          <a:bodyPr wrap="square">
            <a:spAutoFit/>
          </a:bodyPr>
          <a:lstStyle/>
          <a:p>
            <a:pPr>
              <a:defRPr sz="750">
                <a:solidFill>
                  <a:srgbClr val="A8B3BE"/>
                </a:solidFill>
                <a:latin typeface="Arial"/>
              </a:defRPr>
            </a:pPr>
            <a:r>
              <a:t>• 0 = Success</a:t>
            </a:r>
          </a:p>
          <a:p>
            <a:pPr>
              <a:defRPr sz="750">
                <a:solidFill>
                  <a:srgbClr val="A8B3BE"/>
                </a:solidFill>
                <a:latin typeface="Arial"/>
              </a:defRPr>
            </a:pPr>
            <a:r>
              <a:t>• 2 = Block (stderr → Claude)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52A2E"/>
        </a:solidFill>
        <a:effectLst/>
      </p:bgPr>
    </p:bg>
    <p:spTree>
      <p:nvGrpSpPr>
        <p:cNvPr id="1" name=""/>
        <p:cNvGrpSpPr/>
        <p:nvPr/>
      </p:nvGrpSpPr>
      <p:grpSpPr>
        <a:xfrm>
          <a:off x="0" y="0"/>
          <a:ext cx="0" cy="0"/>
          <a:chOff x="0" y="0"/>
          <a:chExt cx="0" cy="0"/>
        </a:xfrm>
      </p:grpSpPr>
      <p:sp>
        <p:nvSpPr>
          <p:cNvPr id="2" name="Rounded Rectangle 1"/>
          <p:cNvSpPr/>
          <p:nvPr/>
        </p:nvSpPr>
        <p:spPr>
          <a:xfrm>
            <a:off x="365760" y="292608"/>
            <a:ext cx="548640" cy="320040"/>
          </a:xfrm>
          <a:prstGeom prst="roundRect">
            <a:avLst/>
          </a:prstGeom>
          <a:solidFill>
            <a:srgbClr val="10E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29184"/>
            <a:ext cx="512064" cy="274320"/>
          </a:xfrm>
          <a:prstGeom prst="rect">
            <a:avLst/>
          </a:prstGeom>
          <a:noFill/>
        </p:spPr>
        <p:txBody>
          <a:bodyPr wrap="none">
            <a:spAutoFit/>
          </a:bodyPr>
          <a:lstStyle/>
          <a:p>
            <a:pPr algn="ctr">
              <a:defRPr sz="900" b="1">
                <a:solidFill>
                  <a:srgbClr val="252A2E"/>
                </a:solidFill>
                <a:latin typeface="Arial"/>
              </a:defRPr>
            </a:pPr>
            <a:r>
              <a:t>DAY 1</a:t>
            </a:r>
          </a:p>
        </p:txBody>
      </p:sp>
      <p:sp>
        <p:nvSpPr>
          <p:cNvPr id="4" name="Rounded Rectangle 3"/>
          <p:cNvSpPr/>
          <p:nvPr/>
        </p:nvSpPr>
        <p:spPr>
          <a:xfrm>
            <a:off x="960120" y="292608"/>
            <a:ext cx="777240"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329184"/>
            <a:ext cx="740664" cy="274320"/>
          </a:xfrm>
          <a:prstGeom prst="rect">
            <a:avLst/>
          </a:prstGeom>
          <a:noFill/>
        </p:spPr>
        <p:txBody>
          <a:bodyPr wrap="none">
            <a:spAutoFit/>
          </a:bodyPr>
          <a:lstStyle/>
          <a:p>
            <a:pPr algn="ctr">
              <a:defRPr sz="900" b="1">
                <a:solidFill>
                  <a:srgbClr val="FFFFFF"/>
                </a:solidFill>
                <a:latin typeface="Arial"/>
              </a:defRPr>
            </a:pPr>
            <a:r>
              <a:t>EXAMPLE</a:t>
            </a:r>
          </a:p>
        </p:txBody>
      </p:sp>
      <p:sp>
        <p:nvSpPr>
          <p:cNvPr id="6" name="TextBox 5"/>
          <p:cNvSpPr txBox="1"/>
          <p:nvPr/>
        </p:nvSpPr>
        <p:spPr>
          <a:xfrm>
            <a:off x="1828800" y="274320"/>
            <a:ext cx="5486400" cy="365760"/>
          </a:xfrm>
          <a:prstGeom prst="rect">
            <a:avLst/>
          </a:prstGeom>
          <a:noFill/>
        </p:spPr>
        <p:txBody>
          <a:bodyPr wrap="square">
            <a:spAutoFit/>
          </a:bodyPr>
          <a:lstStyle/>
          <a:p>
            <a:pPr algn="l">
              <a:defRPr sz="2250" b="1">
                <a:solidFill>
                  <a:srgbClr val="FFFFFF"/>
                </a:solidFill>
                <a:latin typeface="Arial"/>
              </a:defRPr>
            </a:pPr>
            <a:r>
              <a:t>To-Do App — Hooks</a:t>
            </a:r>
          </a:p>
        </p:txBody>
      </p:sp>
      <p:sp>
        <p:nvSpPr>
          <p:cNvPr id="7" name="Rounded Rectangle 6"/>
          <p:cNvSpPr/>
          <p:nvPr/>
        </p:nvSpPr>
        <p:spPr>
          <a:xfrm>
            <a:off x="365760" y="777240"/>
            <a:ext cx="411480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2064" y="868680"/>
            <a:ext cx="3840480" cy="228600"/>
          </a:xfrm>
          <a:prstGeom prst="rect">
            <a:avLst/>
          </a:prstGeom>
          <a:noFill/>
        </p:spPr>
        <p:txBody>
          <a:bodyPr wrap="square">
            <a:spAutoFit/>
          </a:bodyPr>
          <a:lstStyle/>
          <a:p>
            <a:pPr algn="l">
              <a:defRPr sz="1050" b="1">
                <a:solidFill>
                  <a:srgbClr val="10E3B3"/>
                </a:solidFill>
                <a:latin typeface="Arial"/>
              </a:defRPr>
            </a:pPr>
            <a:r>
              <a:t>Auto-Accessibility Check</a:t>
            </a:r>
          </a:p>
        </p:txBody>
      </p:sp>
      <p:sp>
        <p:nvSpPr>
          <p:cNvPr id="9" name="TextBox 8"/>
          <p:cNvSpPr txBox="1"/>
          <p:nvPr/>
        </p:nvSpPr>
        <p:spPr>
          <a:xfrm>
            <a:off x="512064" y="1097280"/>
            <a:ext cx="3840480" cy="274320"/>
          </a:xfrm>
          <a:prstGeom prst="rect">
            <a:avLst/>
          </a:prstGeom>
          <a:noFill/>
        </p:spPr>
        <p:txBody>
          <a:bodyPr wrap="square">
            <a:spAutoFit/>
          </a:bodyPr>
          <a:lstStyle/>
          <a:p>
            <a:pPr algn="l">
              <a:defRPr sz="800" b="0">
                <a:solidFill>
                  <a:srgbClr val="A8B3BE"/>
                </a:solidFill>
                <a:latin typeface="Arial"/>
              </a:defRPr>
            </a:pPr>
            <a:r>
              <a:t>Run axe-core after any .tsx file changes</a:t>
            </a:r>
          </a:p>
        </p:txBody>
      </p:sp>
      <p:sp>
        <p:nvSpPr>
          <p:cNvPr id="10" name="Rounded Rectangle 9"/>
          <p:cNvSpPr/>
          <p:nvPr/>
        </p:nvSpPr>
        <p:spPr>
          <a:xfrm>
            <a:off x="457200" y="1371600"/>
            <a:ext cx="3931920" cy="173736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444752"/>
            <a:ext cx="3749040" cy="1591056"/>
          </a:xfrm>
          <a:prstGeom prst="rect">
            <a:avLst/>
          </a:prstGeom>
          <a:noFill/>
        </p:spPr>
        <p:txBody>
          <a:bodyPr wrap="none">
            <a:spAutoFit/>
          </a:bodyPr>
          <a:lstStyle/>
          <a:p>
            <a:pPr>
              <a:spcBef>
                <a:spcPts val="0"/>
              </a:spcBef>
              <a:spcAft>
                <a:spcPts val="0"/>
              </a:spcAft>
              <a:defRPr sz="700">
                <a:solidFill>
                  <a:srgbClr val="10E3B3"/>
                </a:solidFill>
                <a:latin typeface="Courier New"/>
              </a:defRPr>
            </a:pPr>
            <a:r>
              <a:t>"PostToolUse": [{</a:t>
            </a:r>
          </a:p>
          <a:p>
            <a:pPr>
              <a:spcBef>
                <a:spcPts val="0"/>
              </a:spcBef>
              <a:spcAft>
                <a:spcPts val="0"/>
              </a:spcAft>
              <a:defRPr sz="700">
                <a:solidFill>
                  <a:srgbClr val="10E3B3"/>
                </a:solidFill>
                <a:latin typeface="Courier New"/>
              </a:defRPr>
            </a:pPr>
            <a:r>
              <a:t>  "matcher": "Write|Edit",</a:t>
            </a:r>
          </a:p>
          <a:p>
            <a:pPr>
              <a:spcBef>
                <a:spcPts val="0"/>
              </a:spcBef>
              <a:spcAft>
                <a:spcPts val="0"/>
              </a:spcAft>
              <a:defRPr sz="700">
                <a:solidFill>
                  <a:srgbClr val="10E3B3"/>
                </a:solidFill>
                <a:latin typeface="Courier New"/>
              </a:defRPr>
            </a:pPr>
            <a:r>
              <a:t>  "hooks": [{</a:t>
            </a:r>
          </a:p>
          <a:p>
            <a:pPr>
              <a:spcBef>
                <a:spcPts val="0"/>
              </a:spcBef>
              <a:spcAft>
                <a:spcPts val="0"/>
              </a:spcAft>
              <a:defRPr sz="700">
                <a:solidFill>
                  <a:srgbClr val="10E3B3"/>
                </a:solidFill>
                <a:latin typeface="Courier New"/>
              </a:defRPr>
            </a:pPr>
            <a:r>
              <a:t>    "type": "command",</a:t>
            </a:r>
          </a:p>
          <a:p>
            <a:pPr>
              <a:spcBef>
                <a:spcPts val="0"/>
              </a:spcBef>
              <a:spcAft>
                <a:spcPts val="0"/>
              </a:spcAft>
              <a:defRPr sz="700">
                <a:solidFill>
                  <a:srgbClr val="10E3B3"/>
                </a:solidFill>
                <a:latin typeface="Courier New"/>
              </a:defRPr>
            </a:pPr>
            <a:r>
              <a:t>    "command": "if [[ \"$CLAUDE_FILE_PATHS\"</a:t>
            </a:r>
          </a:p>
          <a:p>
            <a:pPr>
              <a:spcBef>
                <a:spcPts val="0"/>
              </a:spcBef>
              <a:spcAft>
                <a:spcPts val="0"/>
              </a:spcAft>
              <a:defRPr sz="700">
                <a:solidFill>
                  <a:srgbClr val="10E3B3"/>
                </a:solidFill>
                <a:latin typeface="Courier New"/>
              </a:defRPr>
            </a:pPr>
            <a:r>
              <a:t>      == *.tsx ]]; then</a:t>
            </a:r>
          </a:p>
          <a:p>
            <a:pPr>
              <a:spcBef>
                <a:spcPts val="0"/>
              </a:spcBef>
              <a:spcAft>
                <a:spcPts val="0"/>
              </a:spcAft>
              <a:defRPr sz="700">
                <a:solidFill>
                  <a:srgbClr val="10E3B3"/>
                </a:solidFill>
                <a:latin typeface="Courier New"/>
              </a:defRPr>
            </a:pPr>
            <a:r>
              <a:t>        npx axe-core $CLAUDE_FILE_PATHS;</a:t>
            </a:r>
          </a:p>
          <a:p>
            <a:pPr>
              <a:spcBef>
                <a:spcPts val="0"/>
              </a:spcBef>
              <a:spcAft>
                <a:spcPts val="0"/>
              </a:spcAft>
              <a:defRPr sz="700">
                <a:solidFill>
                  <a:srgbClr val="10E3B3"/>
                </a:solidFill>
                <a:latin typeface="Courier New"/>
              </a:defRPr>
            </a:pPr>
            <a:r>
              <a:t>      fi"</a:t>
            </a:r>
          </a:p>
          <a:p>
            <a:pPr>
              <a:spcBef>
                <a:spcPts val="0"/>
              </a:spcBef>
              <a:spcAft>
                <a:spcPts val="0"/>
              </a:spcAft>
              <a:defRPr sz="700">
                <a:solidFill>
                  <a:srgbClr val="10E3B3"/>
                </a:solidFill>
                <a:latin typeface="Courier New"/>
              </a:defRPr>
            </a:pPr>
            <a:r>
              <a:t>  }]</a:t>
            </a:r>
          </a:p>
          <a:p>
            <a:pPr>
              <a:spcBef>
                <a:spcPts val="0"/>
              </a:spcBef>
              <a:spcAft>
                <a:spcPts val="0"/>
              </a:spcAft>
              <a:defRPr sz="700">
                <a:solidFill>
                  <a:srgbClr val="10E3B3"/>
                </a:solidFill>
                <a:latin typeface="Courier New"/>
              </a:defRPr>
            </a:pPr>
            <a:r>
              <a:t>}]</a:t>
            </a:r>
          </a:p>
        </p:txBody>
      </p:sp>
      <p:sp>
        <p:nvSpPr>
          <p:cNvPr id="12" name="TextBox 11"/>
          <p:cNvSpPr txBox="1"/>
          <p:nvPr/>
        </p:nvSpPr>
        <p:spPr>
          <a:xfrm>
            <a:off x="512064" y="3200400"/>
            <a:ext cx="3840480" cy="228600"/>
          </a:xfrm>
          <a:prstGeom prst="rect">
            <a:avLst/>
          </a:prstGeom>
          <a:noFill/>
        </p:spPr>
        <p:txBody>
          <a:bodyPr wrap="square">
            <a:spAutoFit/>
          </a:bodyPr>
          <a:lstStyle/>
          <a:p>
            <a:pPr algn="l">
              <a:defRPr sz="1050" b="1">
                <a:solidFill>
                  <a:srgbClr val="EF6B5E"/>
                </a:solidFill>
                <a:latin typeface="Arial"/>
              </a:defRPr>
            </a:pPr>
            <a:r>
              <a:t>Block Dangerous Operations</a:t>
            </a:r>
          </a:p>
        </p:txBody>
      </p:sp>
      <p:sp>
        <p:nvSpPr>
          <p:cNvPr id="13" name="Rounded Rectangle 12"/>
          <p:cNvSpPr/>
          <p:nvPr/>
        </p:nvSpPr>
        <p:spPr>
          <a:xfrm>
            <a:off x="457200" y="3474720"/>
            <a:ext cx="3931920" cy="105156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547872"/>
            <a:ext cx="3749040" cy="905256"/>
          </a:xfrm>
          <a:prstGeom prst="rect">
            <a:avLst/>
          </a:prstGeom>
          <a:noFill/>
        </p:spPr>
        <p:txBody>
          <a:bodyPr wrap="none">
            <a:spAutoFit/>
          </a:bodyPr>
          <a:lstStyle/>
          <a:p>
            <a:pPr>
              <a:spcBef>
                <a:spcPts val="0"/>
              </a:spcBef>
              <a:spcAft>
                <a:spcPts val="0"/>
              </a:spcAft>
              <a:defRPr sz="700">
                <a:solidFill>
                  <a:srgbClr val="10E3B3"/>
                </a:solidFill>
                <a:latin typeface="Courier New"/>
              </a:defRPr>
            </a:pPr>
            <a:r>
              <a:t>"PreToolUse": [{</a:t>
            </a:r>
          </a:p>
          <a:p>
            <a:pPr>
              <a:spcBef>
                <a:spcPts val="0"/>
              </a:spcBef>
              <a:spcAft>
                <a:spcPts val="0"/>
              </a:spcAft>
              <a:defRPr sz="700">
                <a:solidFill>
                  <a:srgbClr val="10E3B3"/>
                </a:solidFill>
                <a:latin typeface="Courier New"/>
              </a:defRPr>
            </a:pPr>
            <a:r>
              <a:t>  "matcher": "Bash",</a:t>
            </a:r>
          </a:p>
          <a:p>
            <a:pPr>
              <a:spcBef>
                <a:spcPts val="0"/>
              </a:spcBef>
              <a:spcAft>
                <a:spcPts val="0"/>
              </a:spcAft>
              <a:defRPr sz="700">
                <a:solidFill>
                  <a:srgbClr val="10E3B3"/>
                </a:solidFill>
                <a:latin typeface="Courier New"/>
              </a:defRPr>
            </a:pPr>
            <a:r>
              <a:t>  "hooks": [{</a:t>
            </a:r>
          </a:p>
          <a:p>
            <a:pPr>
              <a:spcBef>
                <a:spcPts val="0"/>
              </a:spcBef>
              <a:spcAft>
                <a:spcPts val="0"/>
              </a:spcAft>
              <a:defRPr sz="700">
                <a:solidFill>
                  <a:srgbClr val="10E3B3"/>
                </a:solidFill>
                <a:latin typeface="Courier New"/>
              </a:defRPr>
            </a:pPr>
            <a:r>
              <a:t>    "type": "command",</a:t>
            </a:r>
          </a:p>
          <a:p>
            <a:pPr>
              <a:spcBef>
                <a:spcPts val="0"/>
              </a:spcBef>
              <a:spcAft>
                <a:spcPts val="0"/>
              </a:spcAft>
              <a:defRPr sz="700">
                <a:solidFill>
                  <a:srgbClr val="10E3B3"/>
                </a:solidFill>
                <a:latin typeface="Courier New"/>
              </a:defRPr>
            </a:pPr>
            <a:r>
              <a:t>    "command": "./scripts/block-prod-db.sh"</a:t>
            </a:r>
          </a:p>
          <a:p>
            <a:pPr>
              <a:spcBef>
                <a:spcPts val="0"/>
              </a:spcBef>
              <a:spcAft>
                <a:spcPts val="0"/>
              </a:spcAft>
              <a:defRPr sz="700">
                <a:solidFill>
                  <a:srgbClr val="10E3B3"/>
                </a:solidFill>
                <a:latin typeface="Courier New"/>
              </a:defRPr>
            </a:pPr>
            <a:r>
              <a:t>  }]</a:t>
            </a:r>
          </a:p>
          <a:p>
            <a:pPr>
              <a:spcBef>
                <a:spcPts val="0"/>
              </a:spcBef>
              <a:spcAft>
                <a:spcPts val="0"/>
              </a:spcAft>
              <a:defRPr sz="700">
                <a:solidFill>
                  <a:srgbClr val="10E3B3"/>
                </a:solidFill>
                <a:latin typeface="Courier New"/>
              </a:defRPr>
            </a:pPr>
            <a:r>
              <a:t>}]</a:t>
            </a:r>
          </a:p>
        </p:txBody>
      </p:sp>
      <p:sp>
        <p:nvSpPr>
          <p:cNvPr id="15" name="Rounded Rectangle 14"/>
          <p:cNvSpPr/>
          <p:nvPr/>
        </p:nvSpPr>
        <p:spPr>
          <a:xfrm>
            <a:off x="4663440" y="777240"/>
            <a:ext cx="411480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09744" y="868680"/>
            <a:ext cx="3840480" cy="228600"/>
          </a:xfrm>
          <a:prstGeom prst="rect">
            <a:avLst/>
          </a:prstGeom>
          <a:noFill/>
        </p:spPr>
        <p:txBody>
          <a:bodyPr wrap="square">
            <a:spAutoFit/>
          </a:bodyPr>
          <a:lstStyle/>
          <a:p>
            <a:pPr algn="l">
              <a:defRPr sz="1050" b="1">
                <a:solidFill>
                  <a:srgbClr val="10E3B3"/>
                </a:solidFill>
                <a:latin typeface="Arial"/>
              </a:defRPr>
            </a:pPr>
            <a:r>
              <a:t>Auto-Run Tests</a:t>
            </a:r>
          </a:p>
        </p:txBody>
      </p:sp>
      <p:sp>
        <p:nvSpPr>
          <p:cNvPr id="17" name="TextBox 16"/>
          <p:cNvSpPr txBox="1"/>
          <p:nvPr/>
        </p:nvSpPr>
        <p:spPr>
          <a:xfrm>
            <a:off x="4809744" y="1097280"/>
            <a:ext cx="3840480" cy="274320"/>
          </a:xfrm>
          <a:prstGeom prst="rect">
            <a:avLst/>
          </a:prstGeom>
          <a:noFill/>
        </p:spPr>
        <p:txBody>
          <a:bodyPr wrap="square">
            <a:spAutoFit/>
          </a:bodyPr>
          <a:lstStyle/>
          <a:p>
            <a:pPr algn="l">
              <a:defRPr sz="800" b="0">
                <a:solidFill>
                  <a:srgbClr val="A8B3BE"/>
                </a:solidFill>
                <a:latin typeface="Arial"/>
              </a:defRPr>
            </a:pPr>
            <a:r>
              <a:t>Run related tests after code changes</a:t>
            </a:r>
          </a:p>
        </p:txBody>
      </p:sp>
      <p:sp>
        <p:nvSpPr>
          <p:cNvPr id="18" name="Rounded Rectangle 17"/>
          <p:cNvSpPr/>
          <p:nvPr/>
        </p:nvSpPr>
        <p:spPr>
          <a:xfrm>
            <a:off x="4754880" y="1371600"/>
            <a:ext cx="3931920" cy="146304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0" y="1444752"/>
            <a:ext cx="3749040" cy="1316736"/>
          </a:xfrm>
          <a:prstGeom prst="rect">
            <a:avLst/>
          </a:prstGeom>
          <a:noFill/>
        </p:spPr>
        <p:txBody>
          <a:bodyPr wrap="none">
            <a:spAutoFit/>
          </a:bodyPr>
          <a:lstStyle/>
          <a:p>
            <a:pPr>
              <a:spcBef>
                <a:spcPts val="0"/>
              </a:spcBef>
              <a:spcAft>
                <a:spcPts val="0"/>
              </a:spcAft>
              <a:defRPr sz="700">
                <a:solidFill>
                  <a:srgbClr val="10E3B3"/>
                </a:solidFill>
                <a:latin typeface="Courier New"/>
              </a:defRPr>
            </a:pPr>
            <a:r>
              <a:t>"PostToolUse": [{</a:t>
            </a:r>
          </a:p>
          <a:p>
            <a:pPr>
              <a:spcBef>
                <a:spcPts val="0"/>
              </a:spcBef>
              <a:spcAft>
                <a:spcPts val="0"/>
              </a:spcAft>
              <a:defRPr sz="700">
                <a:solidFill>
                  <a:srgbClr val="10E3B3"/>
                </a:solidFill>
                <a:latin typeface="Courier New"/>
              </a:defRPr>
            </a:pPr>
            <a:r>
              <a:t>  "matcher": "Write",</a:t>
            </a:r>
          </a:p>
          <a:p>
            <a:pPr>
              <a:spcBef>
                <a:spcPts val="0"/>
              </a:spcBef>
              <a:spcAft>
                <a:spcPts val="0"/>
              </a:spcAft>
              <a:defRPr sz="700">
                <a:solidFill>
                  <a:srgbClr val="10E3B3"/>
                </a:solidFill>
                <a:latin typeface="Courier New"/>
              </a:defRPr>
            </a:pPr>
            <a:r>
              <a:t>  "hooks": [{</a:t>
            </a:r>
          </a:p>
          <a:p>
            <a:pPr>
              <a:spcBef>
                <a:spcPts val="0"/>
              </a:spcBef>
              <a:spcAft>
                <a:spcPts val="0"/>
              </a:spcAft>
              <a:defRPr sz="700">
                <a:solidFill>
                  <a:srgbClr val="10E3B3"/>
                </a:solidFill>
                <a:latin typeface="Courier New"/>
              </a:defRPr>
            </a:pPr>
            <a:r>
              <a:t>    "type": "command",</a:t>
            </a:r>
          </a:p>
          <a:p>
            <a:pPr>
              <a:spcBef>
                <a:spcPts val="0"/>
              </a:spcBef>
              <a:spcAft>
                <a:spcPts val="0"/>
              </a:spcAft>
              <a:defRPr sz="700">
                <a:solidFill>
                  <a:srgbClr val="10E3B3"/>
                </a:solidFill>
                <a:latin typeface="Courier New"/>
              </a:defRPr>
            </a:pPr>
            <a:r>
              <a:t>    "command": "npm test -- --findRelatedTests</a:t>
            </a:r>
          </a:p>
          <a:p>
            <a:pPr>
              <a:spcBef>
                <a:spcPts val="0"/>
              </a:spcBef>
              <a:spcAft>
                <a:spcPts val="0"/>
              </a:spcAft>
              <a:defRPr sz="700">
                <a:solidFill>
                  <a:srgbClr val="10E3B3"/>
                </a:solidFill>
                <a:latin typeface="Courier New"/>
              </a:defRPr>
            </a:pPr>
            <a:r>
              <a:t>      $CLAUDE_FILE_PATHS --passWithNoTests"</a:t>
            </a:r>
          </a:p>
          <a:p>
            <a:pPr>
              <a:spcBef>
                <a:spcPts val="0"/>
              </a:spcBef>
              <a:spcAft>
                <a:spcPts val="0"/>
              </a:spcAft>
              <a:defRPr sz="700">
                <a:solidFill>
                  <a:srgbClr val="10E3B3"/>
                </a:solidFill>
                <a:latin typeface="Courier New"/>
              </a:defRPr>
            </a:pPr>
            <a:r>
              <a:t>  }]</a:t>
            </a:r>
          </a:p>
          <a:p>
            <a:pPr>
              <a:spcBef>
                <a:spcPts val="0"/>
              </a:spcBef>
              <a:spcAft>
                <a:spcPts val="0"/>
              </a:spcAft>
              <a:defRPr sz="700">
                <a:solidFill>
                  <a:srgbClr val="10E3B3"/>
                </a:solidFill>
                <a:latin typeface="Courier New"/>
              </a:defRPr>
            </a:pPr>
            <a:r>
              <a:t>}]</a:t>
            </a:r>
          </a:p>
        </p:txBody>
      </p:sp>
      <p:sp>
        <p:nvSpPr>
          <p:cNvPr id="20" name="TextBox 19"/>
          <p:cNvSpPr txBox="1"/>
          <p:nvPr/>
        </p:nvSpPr>
        <p:spPr>
          <a:xfrm>
            <a:off x="4809744" y="2926080"/>
            <a:ext cx="3840480" cy="228600"/>
          </a:xfrm>
          <a:prstGeom prst="rect">
            <a:avLst/>
          </a:prstGeom>
          <a:noFill/>
        </p:spPr>
        <p:txBody>
          <a:bodyPr wrap="square">
            <a:spAutoFit/>
          </a:bodyPr>
          <a:lstStyle/>
          <a:p>
            <a:pPr algn="l">
              <a:defRPr sz="1050" b="1">
                <a:solidFill>
                  <a:srgbClr val="10E3B3"/>
                </a:solidFill>
                <a:latin typeface="Arial"/>
              </a:defRPr>
            </a:pPr>
            <a:r>
              <a:t>Why These Hooks?</a:t>
            </a:r>
          </a:p>
        </p:txBody>
      </p:sp>
      <p:sp>
        <p:nvSpPr>
          <p:cNvPr id="21" name="TextBox 20"/>
          <p:cNvSpPr txBox="1"/>
          <p:nvPr/>
        </p:nvSpPr>
        <p:spPr>
          <a:xfrm>
            <a:off x="4809744" y="3200400"/>
            <a:ext cx="3840480" cy="1371600"/>
          </a:xfrm>
          <a:prstGeom prst="rect">
            <a:avLst/>
          </a:prstGeom>
          <a:noFill/>
        </p:spPr>
        <p:txBody>
          <a:bodyPr wrap="square">
            <a:spAutoFit/>
          </a:bodyPr>
          <a:lstStyle/>
          <a:p>
            <a:pPr>
              <a:spcBef>
                <a:spcPts val="0"/>
              </a:spcBef>
              <a:defRPr sz="900" b="1">
                <a:solidFill>
                  <a:srgbClr val="FFFFFF"/>
                </a:solidFill>
                <a:latin typeface="Arial"/>
              </a:defRPr>
            </a:pPr>
            <a:r>
              <a:t>• Guaranteed</a:t>
            </a:r>
          </a:p>
          <a:p>
            <a:pPr>
              <a:defRPr sz="800">
                <a:solidFill>
                  <a:srgbClr val="A8B3BE"/>
                </a:solidFill>
                <a:latin typeface="Arial"/>
              </a:defRPr>
            </a:pPr>
            <a:r>
              <a:t>  Runs every time, not just when Claude remembers</a:t>
            </a:r>
          </a:p>
          <a:p>
            <a:pPr>
              <a:spcBef>
                <a:spcPts val="600"/>
              </a:spcBef>
              <a:defRPr sz="900" b="1">
                <a:solidFill>
                  <a:srgbClr val="FFFFFF"/>
                </a:solidFill>
                <a:latin typeface="Arial"/>
              </a:defRPr>
            </a:pPr>
            <a:r>
              <a:t>• Fast Feedback</a:t>
            </a:r>
          </a:p>
          <a:p>
            <a:pPr>
              <a:defRPr sz="800">
                <a:solidFill>
                  <a:srgbClr val="A8B3BE"/>
                </a:solidFill>
                <a:latin typeface="Arial"/>
              </a:defRPr>
            </a:pPr>
            <a:r>
              <a:t>  Catch a11y issues immediately, not in PR review</a:t>
            </a:r>
          </a:p>
          <a:p>
            <a:pPr>
              <a:spcBef>
                <a:spcPts val="600"/>
              </a:spcBef>
              <a:defRPr sz="900" b="1">
                <a:solidFill>
                  <a:srgbClr val="FFFFFF"/>
                </a:solidFill>
                <a:latin typeface="Arial"/>
              </a:defRPr>
            </a:pPr>
            <a:r>
              <a:t>• Safe</a:t>
            </a:r>
          </a:p>
          <a:p>
            <a:pPr>
              <a:defRPr sz="800">
                <a:solidFill>
                  <a:srgbClr val="A8B3BE"/>
                </a:solidFill>
                <a:latin typeface="Arial"/>
              </a:defRPr>
            </a:pPr>
            <a:r>
              <a:t>  Block production database access automatically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2</a:t>
            </a:r>
            <a:endParaRPr lang="en-US" sz="900" dirty="0"/>
          </a:p>
        </p:txBody>
      </p:sp>
      <p:sp>
        <p:nvSpPr>
          <p:cNvPr id="4" name="Text 2"/>
          <p:cNvSpPr/>
          <p:nvPr/>
        </p:nvSpPr>
        <p:spPr>
          <a:xfrm>
            <a:off x="971848" y="285750"/>
            <a:ext cx="3530370"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Sub-agents — Delegation</a:t>
            </a:r>
            <a:endParaRPr lang="en-US" sz="2250" dirty="0">
              <a:solidFill>
                <a:schemeClr val="bg1"/>
              </a:solidFill>
            </a:endParaRPr>
          </a:p>
        </p:txBody>
      </p:sp>
      <p:sp>
        <p:nvSpPr>
          <p:cNvPr id="5" name="Text 3"/>
          <p:cNvSpPr/>
          <p:nvPr/>
        </p:nvSpPr>
        <p:spPr>
          <a:xfrm>
            <a:off x="381000" y="1581150"/>
            <a:ext cx="3702213"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What Are Sub-agents?</a:t>
            </a:r>
            <a:endParaRPr lang="en-US" sz="1350" dirty="0"/>
          </a:p>
        </p:txBody>
      </p:sp>
      <p:sp>
        <p:nvSpPr>
          <p:cNvPr id="6" name="Text 4"/>
          <p:cNvSpPr/>
          <p:nvPr/>
        </p:nvSpPr>
        <p:spPr>
          <a:xfrm>
            <a:off x="381000" y="2114550"/>
            <a:ext cx="3702213" cy="190500"/>
          </a:xfrm>
          <a:prstGeom prst="rect">
            <a:avLst/>
          </a:prstGeom>
          <a:noFill/>
          <a:ln/>
        </p:spPr>
        <p:txBody>
          <a:bodyPr wrap="square" lIns="0" tIns="0" rIns="0" bIns="0" rtlCol="0" anchor="t"/>
          <a:lstStyle/>
          <a:p>
            <a:pPr marL="0" indent="0" algn="l">
              <a:lnSpc>
                <a:spcPts val="1500"/>
              </a:lnSpc>
              <a:spcBef>
                <a:spcPts val="300"/>
              </a:spcBef>
              <a:spcAft>
                <a:spcPts val="1200"/>
              </a:spcAft>
              <a:buNone/>
            </a:pPr>
            <a:r>
              <a:rPr lang="en-US" sz="1050" dirty="0">
                <a:solidFill>
                  <a:srgbClr val="8B95A1"/>
                </a:solidFill>
                <a:latin typeface="Arial" pitchFamily="34" charset="0"/>
                <a:ea typeface="Arial" pitchFamily="34" charset="-122"/>
                <a:cs typeface="Arial" pitchFamily="34" charset="-120"/>
              </a:rPr>
              <a:t>Specialized AI assistants with their own context window.</a:t>
            </a:r>
            <a:endParaRPr lang="en-US" sz="1050" dirty="0"/>
          </a:p>
        </p:txBody>
      </p:sp>
      <p:sp>
        <p:nvSpPr>
          <p:cNvPr id="7" name="Text 5"/>
          <p:cNvSpPr/>
          <p:nvPr/>
        </p:nvSpPr>
        <p:spPr>
          <a:xfrm>
            <a:off x="381000" y="2647950"/>
            <a:ext cx="3702213"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1A1A2E"/>
                </a:solidFill>
                <a:latin typeface="Arial" pitchFamily="34" charset="0"/>
                <a:ea typeface="Arial" pitchFamily="34" charset="-122"/>
                <a:cs typeface="Arial" pitchFamily="34" charset="-120"/>
              </a:rPr>
              <a:t>Benefits</a:t>
            </a:r>
            <a:endParaRPr lang="en-US" sz="1050" dirty="0"/>
          </a:p>
        </p:txBody>
      </p:sp>
      <p:sp>
        <p:nvSpPr>
          <p:cNvPr id="8" name="Text 6"/>
          <p:cNvSpPr/>
          <p:nvPr/>
        </p:nvSpPr>
        <p:spPr>
          <a:xfrm>
            <a:off x="381000" y="3067050"/>
            <a:ext cx="3629620" cy="11811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Context isolation</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Parallelization</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Specialization</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Tool control</a:t>
            </a:r>
            <a:endParaRPr lang="en-US" sz="1350" dirty="0"/>
          </a:p>
        </p:txBody>
      </p:sp>
      <p:sp>
        <p:nvSpPr>
          <p:cNvPr id="9" name="Text 7"/>
          <p:cNvSpPr/>
          <p:nvPr/>
        </p:nvSpPr>
        <p:spPr>
          <a:xfrm>
            <a:off x="4315420" y="1428750"/>
            <a:ext cx="4447580" cy="2933700"/>
          </a:xfrm>
          <a:prstGeom prst="roundRect">
            <a:avLst>
              <a:gd name="adj" fmla="val 2078"/>
            </a:avLst>
          </a:prstGeom>
          <a:solidFill>
            <a:srgbClr val="F8FAFC"/>
          </a:solidFill>
          <a:ln/>
        </p:spPr>
        <p:txBody>
          <a:bodyPr wrap="square" rtlCol="0" anchor="ctr"/>
          <a:lstStyle/>
          <a:p>
            <a:pPr marL="0" indent="0">
              <a:buNone/>
            </a:pPr>
            <a:endParaRPr lang="en-US" dirty="0"/>
          </a:p>
        </p:txBody>
      </p:sp>
      <p:sp>
        <p:nvSpPr>
          <p:cNvPr id="10" name="Text 8"/>
          <p:cNvSpPr/>
          <p:nvPr/>
        </p:nvSpPr>
        <p:spPr>
          <a:xfrm>
            <a:off x="4467820" y="1619250"/>
            <a:ext cx="4225635" cy="190500"/>
          </a:xfrm>
          <a:prstGeom prst="rect">
            <a:avLst/>
          </a:prstGeom>
          <a:noFill/>
          <a:ln/>
        </p:spPr>
        <p:txBody>
          <a:bodyPr wrap="square" lIns="0" tIns="0" rIns="0" bIns="0" rtlCol="0" anchor="t"/>
          <a:lstStyle/>
          <a:p>
            <a:pPr marL="0" indent="0" algn="l">
              <a:lnSpc>
                <a:spcPts val="1500"/>
              </a:lnSpc>
              <a:spcBef>
                <a:spcPts val="300"/>
              </a:spcBef>
              <a:spcAft>
                <a:spcPts val="750"/>
              </a:spcAft>
              <a:buNone/>
            </a:pPr>
            <a:r>
              <a:rPr lang="en-US" sz="1050" b="1" dirty="0">
                <a:solidFill>
                  <a:srgbClr val="1A1A2E"/>
                </a:solidFill>
                <a:latin typeface="Arial" pitchFamily="34" charset="0"/>
                <a:ea typeface="Arial" pitchFamily="34" charset="-122"/>
                <a:cs typeface="Arial" pitchFamily="34" charset="-120"/>
              </a:rPr>
              <a:t>Healthcare Suite</a:t>
            </a:r>
            <a:endParaRPr lang="en-US" sz="1050" dirty="0"/>
          </a:p>
        </p:txBody>
      </p:sp>
      <p:sp>
        <p:nvSpPr>
          <p:cNvPr id="11" name="Text 9"/>
          <p:cNvSpPr/>
          <p:nvPr/>
        </p:nvSpPr>
        <p:spPr>
          <a:xfrm>
            <a:off x="4467820" y="2057400"/>
            <a:ext cx="4142780" cy="381000"/>
          </a:xfrm>
          <a:prstGeom prst="roundRect">
            <a:avLst>
              <a:gd name="adj" fmla="val 16000"/>
            </a:avLst>
          </a:prstGeom>
          <a:solidFill>
            <a:srgbClr val="FFFFFF"/>
          </a:solidFill>
          <a:ln/>
        </p:spPr>
        <p:txBody>
          <a:bodyPr wrap="square" rtlCol="0" anchor="ctr"/>
          <a:lstStyle/>
          <a:p>
            <a:pPr marL="0" indent="0">
              <a:buNone/>
            </a:pPr>
            <a:endParaRPr lang="en-US" dirty="0"/>
          </a:p>
        </p:txBody>
      </p:sp>
      <p:sp>
        <p:nvSpPr>
          <p:cNvPr id="12" name="Text 10"/>
          <p:cNvSpPr/>
          <p:nvPr/>
        </p:nvSpPr>
        <p:spPr>
          <a:xfrm>
            <a:off x="4544020" y="2171700"/>
            <a:ext cx="4070187"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HIPAA Auditor</a:t>
            </a:r>
            <a:r>
              <a:rPr lang="en-US" sz="900" dirty="0">
                <a:solidFill>
                  <a:srgbClr val="8B95A1"/>
                </a:solidFill>
                <a:latin typeface="Arial" pitchFamily="34" charset="0"/>
                <a:ea typeface="Arial" pitchFamily="34" charset="-122"/>
                <a:cs typeface="Arial" pitchFamily="34" charset="-120"/>
              </a:rPr>
              <a:t> — PHI exposure scanning</a:t>
            </a:r>
            <a:endParaRPr lang="en-US" sz="900" dirty="0"/>
          </a:p>
        </p:txBody>
      </p:sp>
      <p:sp>
        <p:nvSpPr>
          <p:cNvPr id="13" name="Text 11"/>
          <p:cNvSpPr/>
          <p:nvPr/>
        </p:nvSpPr>
        <p:spPr>
          <a:xfrm>
            <a:off x="4467820" y="2647950"/>
            <a:ext cx="4142780" cy="381000"/>
          </a:xfrm>
          <a:prstGeom prst="roundRect">
            <a:avLst>
              <a:gd name="adj" fmla="val 16000"/>
            </a:avLst>
          </a:prstGeom>
          <a:solidFill>
            <a:srgbClr val="FFFFFF"/>
          </a:solidFill>
          <a:ln/>
        </p:spPr>
        <p:txBody>
          <a:bodyPr wrap="square" rtlCol="0" anchor="ctr"/>
          <a:lstStyle/>
          <a:p>
            <a:pPr marL="0" indent="0">
              <a:buNone/>
            </a:pPr>
            <a:endParaRPr lang="en-US" dirty="0"/>
          </a:p>
        </p:txBody>
      </p:sp>
      <p:sp>
        <p:nvSpPr>
          <p:cNvPr id="14" name="Text 12"/>
          <p:cNvSpPr/>
          <p:nvPr/>
        </p:nvSpPr>
        <p:spPr>
          <a:xfrm>
            <a:off x="4544020" y="2762250"/>
            <a:ext cx="4070187"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Test Generator</a:t>
            </a:r>
            <a:r>
              <a:rPr lang="en-US" sz="900" dirty="0">
                <a:solidFill>
                  <a:srgbClr val="8B95A1"/>
                </a:solidFill>
                <a:latin typeface="Arial" pitchFamily="34" charset="0"/>
                <a:ea typeface="Arial" pitchFamily="34" charset="-122"/>
                <a:cs typeface="Arial" pitchFamily="34" charset="-120"/>
              </a:rPr>
              <a:t> — pytest with anonymized data</a:t>
            </a:r>
            <a:endParaRPr lang="en-US" sz="900" dirty="0"/>
          </a:p>
        </p:txBody>
      </p:sp>
      <p:sp>
        <p:nvSpPr>
          <p:cNvPr id="15" name="Text 13"/>
          <p:cNvSpPr/>
          <p:nvPr/>
        </p:nvSpPr>
        <p:spPr>
          <a:xfrm>
            <a:off x="4467820" y="3238500"/>
            <a:ext cx="4142780" cy="381000"/>
          </a:xfrm>
          <a:prstGeom prst="roundRect">
            <a:avLst>
              <a:gd name="adj" fmla="val 16000"/>
            </a:avLst>
          </a:prstGeom>
          <a:solidFill>
            <a:srgbClr val="FFFFFF"/>
          </a:solidFill>
          <a:ln/>
        </p:spPr>
        <p:txBody>
          <a:bodyPr wrap="square" rtlCol="0" anchor="ctr"/>
          <a:lstStyle/>
          <a:p>
            <a:pPr marL="0" indent="0">
              <a:buNone/>
            </a:pPr>
            <a:endParaRPr lang="en-US" dirty="0"/>
          </a:p>
        </p:txBody>
      </p:sp>
      <p:sp>
        <p:nvSpPr>
          <p:cNvPr id="16" name="Text 14"/>
          <p:cNvSpPr/>
          <p:nvPr/>
        </p:nvSpPr>
        <p:spPr>
          <a:xfrm>
            <a:off x="4544020" y="3352800"/>
            <a:ext cx="4070187"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Doc Writer</a:t>
            </a:r>
            <a:r>
              <a:rPr lang="en-US" sz="900" dirty="0">
                <a:solidFill>
                  <a:srgbClr val="8B95A1"/>
                </a:solidFill>
                <a:latin typeface="Arial" pitchFamily="34" charset="0"/>
                <a:ea typeface="Arial" pitchFamily="34" charset="-122"/>
                <a:cs typeface="Arial" pitchFamily="34" charset="-120"/>
              </a:rPr>
              <a:t> — API docs with compliance notes</a:t>
            </a:r>
            <a:endParaRPr lang="en-US" sz="900" dirty="0"/>
          </a:p>
        </p:txBody>
      </p:sp>
      <p:sp>
        <p:nvSpPr>
          <p:cNvPr id="17" name="Text 15"/>
          <p:cNvSpPr/>
          <p:nvPr/>
        </p:nvSpPr>
        <p:spPr>
          <a:xfrm>
            <a:off x="4467820" y="3829050"/>
            <a:ext cx="4142780" cy="381000"/>
          </a:xfrm>
          <a:prstGeom prst="roundRect">
            <a:avLst>
              <a:gd name="adj" fmla="val 16000"/>
            </a:avLst>
          </a:prstGeom>
          <a:solidFill>
            <a:srgbClr val="FFFFFF"/>
          </a:solidFill>
          <a:ln/>
        </p:spPr>
        <p:txBody>
          <a:bodyPr wrap="square" rtlCol="0" anchor="ctr"/>
          <a:lstStyle/>
          <a:p>
            <a:pPr marL="0" indent="0">
              <a:buNone/>
            </a:pPr>
            <a:endParaRPr lang="en-US" dirty="0"/>
          </a:p>
        </p:txBody>
      </p:sp>
      <p:sp>
        <p:nvSpPr>
          <p:cNvPr id="18" name="Text 16"/>
          <p:cNvSpPr/>
          <p:nvPr/>
        </p:nvSpPr>
        <p:spPr>
          <a:xfrm>
            <a:off x="4544020" y="3943350"/>
            <a:ext cx="4070187"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8B95A1"/>
                </a:solidFill>
                <a:latin typeface="Arial" pitchFamily="34" charset="0"/>
                <a:ea typeface="Arial" pitchFamily="34" charset="-122"/>
                <a:cs typeface="Arial" pitchFamily="34" charset="-120"/>
              </a:rPr>
              <a:t>Security Scanner</a:t>
            </a:r>
            <a:r>
              <a:rPr lang="en-US" sz="900" dirty="0">
                <a:solidFill>
                  <a:srgbClr val="8B95A1"/>
                </a:solidFill>
                <a:latin typeface="Arial" pitchFamily="34" charset="0"/>
                <a:ea typeface="Arial" pitchFamily="34" charset="-122"/>
                <a:cs typeface="Arial" pitchFamily="34" charset="-120"/>
              </a:rPr>
              <a:t> — Vulnerability detection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52A2E"/>
        </a:solidFill>
        <a:effectLst/>
      </p:bgPr>
    </p:bg>
    <p:spTree>
      <p:nvGrpSpPr>
        <p:cNvPr id="1" name=""/>
        <p:cNvGrpSpPr/>
        <p:nvPr/>
      </p:nvGrpSpPr>
      <p:grpSpPr>
        <a:xfrm>
          <a:off x="0" y="0"/>
          <a:ext cx="0" cy="0"/>
          <a:chOff x="0" y="0"/>
          <a:chExt cx="0" cy="0"/>
        </a:xfrm>
      </p:grpSpPr>
      <p:sp>
        <p:nvSpPr>
          <p:cNvPr id="2" name="Rounded Rectangle 1"/>
          <p:cNvSpPr/>
          <p:nvPr/>
        </p:nvSpPr>
        <p:spPr>
          <a:xfrm>
            <a:off x="365760" y="292608"/>
            <a:ext cx="548640" cy="320040"/>
          </a:xfrm>
          <a:prstGeom prst="roundRect">
            <a:avLst/>
          </a:prstGeom>
          <a:solidFill>
            <a:srgbClr val="EF6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048" y="329184"/>
            <a:ext cx="512064" cy="274320"/>
          </a:xfrm>
          <a:prstGeom prst="rect">
            <a:avLst/>
          </a:prstGeom>
          <a:noFill/>
        </p:spPr>
        <p:txBody>
          <a:bodyPr wrap="none">
            <a:spAutoFit/>
          </a:bodyPr>
          <a:lstStyle/>
          <a:p>
            <a:pPr algn="ctr">
              <a:defRPr sz="900" b="1">
                <a:solidFill>
                  <a:srgbClr val="FFFFFF"/>
                </a:solidFill>
                <a:latin typeface="Arial"/>
              </a:defRPr>
            </a:pPr>
            <a:r>
              <a:t>DAY 2</a:t>
            </a:r>
          </a:p>
        </p:txBody>
      </p:sp>
      <p:sp>
        <p:nvSpPr>
          <p:cNvPr id="4" name="Rounded Rectangle 3"/>
          <p:cNvSpPr/>
          <p:nvPr/>
        </p:nvSpPr>
        <p:spPr>
          <a:xfrm>
            <a:off x="960120" y="292608"/>
            <a:ext cx="777240"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329184"/>
            <a:ext cx="740664" cy="274320"/>
          </a:xfrm>
          <a:prstGeom prst="rect">
            <a:avLst/>
          </a:prstGeom>
          <a:noFill/>
        </p:spPr>
        <p:txBody>
          <a:bodyPr wrap="none">
            <a:spAutoFit/>
          </a:bodyPr>
          <a:lstStyle/>
          <a:p>
            <a:pPr algn="ctr">
              <a:defRPr sz="900" b="1">
                <a:solidFill>
                  <a:srgbClr val="FFFFFF"/>
                </a:solidFill>
                <a:latin typeface="Arial"/>
              </a:defRPr>
            </a:pPr>
            <a:r>
              <a:t>EXAMPLE</a:t>
            </a:r>
          </a:p>
        </p:txBody>
      </p:sp>
      <p:sp>
        <p:nvSpPr>
          <p:cNvPr id="6" name="TextBox 5"/>
          <p:cNvSpPr txBox="1"/>
          <p:nvPr/>
        </p:nvSpPr>
        <p:spPr>
          <a:xfrm>
            <a:off x="1828800" y="274320"/>
            <a:ext cx="5486400" cy="365760"/>
          </a:xfrm>
          <a:prstGeom prst="rect">
            <a:avLst/>
          </a:prstGeom>
          <a:noFill/>
        </p:spPr>
        <p:txBody>
          <a:bodyPr wrap="square">
            <a:spAutoFit/>
          </a:bodyPr>
          <a:lstStyle/>
          <a:p>
            <a:pPr algn="l">
              <a:defRPr sz="2250" b="1">
                <a:solidFill>
                  <a:srgbClr val="FFFFFF"/>
                </a:solidFill>
                <a:latin typeface="Arial"/>
              </a:defRPr>
            </a:pPr>
            <a:r>
              <a:t>To-Do App — Sub-agents</a:t>
            </a:r>
          </a:p>
        </p:txBody>
      </p:sp>
      <p:sp>
        <p:nvSpPr>
          <p:cNvPr id="7" name="Rounded Rectangle 6"/>
          <p:cNvSpPr/>
          <p:nvPr/>
        </p:nvSpPr>
        <p:spPr>
          <a:xfrm>
            <a:off x="365760" y="777240"/>
            <a:ext cx="265176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2064" y="868680"/>
            <a:ext cx="2377440" cy="228600"/>
          </a:xfrm>
          <a:prstGeom prst="rect">
            <a:avLst/>
          </a:prstGeom>
          <a:noFill/>
        </p:spPr>
        <p:txBody>
          <a:bodyPr wrap="square">
            <a:spAutoFit/>
          </a:bodyPr>
          <a:lstStyle/>
          <a:p>
            <a:pPr algn="l">
              <a:defRPr sz="1050" b="1">
                <a:solidFill>
                  <a:srgbClr val="10E3B3"/>
                </a:solidFill>
                <a:latin typeface="Arial"/>
              </a:defRPr>
            </a:pPr>
            <a:r>
              <a:t>A11y Auditor</a:t>
            </a:r>
          </a:p>
        </p:txBody>
      </p:sp>
      <p:sp>
        <p:nvSpPr>
          <p:cNvPr id="9" name="Rounded Rectangle 8"/>
          <p:cNvSpPr/>
          <p:nvPr/>
        </p:nvSpPr>
        <p:spPr>
          <a:xfrm>
            <a:off x="457200" y="1143000"/>
            <a:ext cx="2468880" cy="246888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216152"/>
            <a:ext cx="2286000" cy="2322576"/>
          </a:xfrm>
          <a:prstGeom prst="rect">
            <a:avLst/>
          </a:prstGeom>
          <a:noFill/>
        </p:spPr>
        <p:txBody>
          <a:bodyPr wrap="none">
            <a:spAutoFit/>
          </a:bodyPr>
          <a:lstStyle/>
          <a:p>
            <a:pPr>
              <a:spcBef>
                <a:spcPts val="0"/>
              </a:spcBef>
              <a:spcAft>
                <a:spcPts val="0"/>
              </a:spcAft>
              <a:defRPr sz="650">
                <a:solidFill>
                  <a:srgbClr val="10E3B3"/>
                </a:solidFill>
                <a:latin typeface="Courier New"/>
              </a:defRPr>
            </a:pPr>
            <a:r>
              <a:t># .claude/agents/a11y-auditor/</a:t>
            </a:r>
          </a:p>
          <a:p>
            <a:pPr>
              <a:spcBef>
                <a:spcPts val="0"/>
              </a:spcBef>
              <a:spcAft>
                <a:spcPts val="0"/>
              </a:spcAft>
              <a:defRPr sz="650">
                <a:solidFill>
                  <a:srgbClr val="10E3B3"/>
                </a:solidFill>
                <a:latin typeface="Courier New"/>
              </a:defRPr>
            </a:pPr>
            <a:r>
              <a:t>#   AGENT.md</a:t>
            </a:r>
          </a:p>
          <a:p>
            <a:pPr>
              <a:spcBef>
                <a:spcPts val="0"/>
              </a:spcBef>
              <a:spcAft>
                <a:spcPts val="0"/>
              </a:spcAft>
              <a:defRPr sz="650">
                <a:solidFill>
                  <a:srgbClr val="10E3B3"/>
                </a:solidFill>
                <a:latin typeface="Courier New"/>
              </a:defRPr>
            </a:pPr>
            <a:r>
              <a:t>---</a:t>
            </a:r>
          </a:p>
          <a:p>
            <a:pPr>
              <a:spcBef>
                <a:spcPts val="0"/>
              </a:spcBef>
              <a:spcAft>
                <a:spcPts val="0"/>
              </a:spcAft>
              <a:defRPr sz="650">
                <a:solidFill>
                  <a:srgbClr val="10E3B3"/>
                </a:solidFill>
                <a:latin typeface="Courier New"/>
              </a:defRPr>
            </a:pPr>
            <a:r>
              <a:t>name: a11y-auditor</a:t>
            </a:r>
          </a:p>
          <a:p>
            <a:pPr>
              <a:spcBef>
                <a:spcPts val="0"/>
              </a:spcBef>
              <a:spcAft>
                <a:spcPts val="0"/>
              </a:spcAft>
              <a:defRPr sz="650">
                <a:solidFill>
                  <a:srgbClr val="10E3B3"/>
                </a:solidFill>
                <a:latin typeface="Courier New"/>
              </a:defRPr>
            </a:pPr>
            <a:r>
              <a:t>description: Audit components</a:t>
            </a:r>
          </a:p>
          <a:p>
            <a:pPr>
              <a:spcBef>
                <a:spcPts val="0"/>
              </a:spcBef>
              <a:spcAft>
                <a:spcPts val="0"/>
              </a:spcAft>
              <a:defRPr sz="650">
                <a:solidFill>
                  <a:srgbClr val="10E3B3"/>
                </a:solidFill>
                <a:latin typeface="Courier New"/>
              </a:defRPr>
            </a:pPr>
            <a:r>
              <a:t>  for accessibility issues</a:t>
            </a:r>
          </a:p>
          <a:p>
            <a:pPr>
              <a:spcBef>
                <a:spcPts val="0"/>
              </a:spcBef>
              <a:spcAft>
                <a:spcPts val="0"/>
              </a:spcAft>
              <a:defRPr sz="650">
                <a:solidFill>
                  <a:srgbClr val="10E3B3"/>
                </a:solidFill>
                <a:latin typeface="Courier New"/>
              </a:defRPr>
            </a:pPr>
            <a:r>
              <a:t>skills: a11y-checker</a:t>
            </a:r>
          </a:p>
          <a:p>
            <a:pPr>
              <a:spcBef>
                <a:spcPts val="0"/>
              </a:spcBef>
              <a:spcAft>
                <a:spcPts val="0"/>
              </a:spcAft>
              <a:defRPr sz="650">
                <a:solidFill>
                  <a:srgbClr val="10E3B3"/>
                </a:solidFill>
                <a:latin typeface="Courier New"/>
              </a:defRPr>
            </a:pPr>
            <a:r>
              <a:t>allowed_tools:</a:t>
            </a:r>
          </a:p>
          <a:p>
            <a:pPr>
              <a:spcBef>
                <a:spcPts val="0"/>
              </a:spcBef>
              <a:spcAft>
                <a:spcPts val="0"/>
              </a:spcAft>
              <a:defRPr sz="650">
                <a:solidFill>
                  <a:srgbClr val="10E3B3"/>
                </a:solidFill>
                <a:latin typeface="Courier New"/>
              </a:defRPr>
            </a:pPr>
            <a:r>
              <a:t>  - Read</a:t>
            </a:r>
          </a:p>
          <a:p>
            <a:pPr>
              <a:spcBef>
                <a:spcPts val="0"/>
              </a:spcBef>
              <a:spcAft>
                <a:spcPts val="0"/>
              </a:spcAft>
              <a:defRPr sz="650">
                <a:solidFill>
                  <a:srgbClr val="10E3B3"/>
                </a:solidFill>
                <a:latin typeface="Courier New"/>
              </a:defRPr>
            </a:pPr>
            <a:r>
              <a:t>  - Bash</a:t>
            </a:r>
          </a:p>
          <a:p>
            <a:pPr>
              <a:spcBef>
                <a:spcPts val="0"/>
              </a:spcBef>
              <a:spcAft>
                <a:spcPts val="0"/>
              </a:spcAft>
              <a:defRPr sz="650">
                <a:solidFill>
                  <a:srgbClr val="10E3B3"/>
                </a:solidFill>
                <a:latin typeface="Courier New"/>
              </a:defRPr>
            </a:pPr>
            <a:r>
              <a:t>  - Grep</a:t>
            </a:r>
          </a:p>
          <a:p>
            <a:pPr>
              <a:spcBef>
                <a:spcPts val="0"/>
              </a:spcBef>
              <a:spcAft>
                <a:spcPts val="0"/>
              </a:spcAft>
              <a:defRPr sz="650">
                <a:solidFill>
                  <a:srgbClr val="10E3B3"/>
                </a:solidFill>
                <a:latin typeface="Courier New"/>
              </a:defRPr>
            </a:pPr>
            <a:r>
              <a:t>---</a:t>
            </a:r>
          </a:p>
          <a:p>
            <a:pPr>
              <a:spcBef>
                <a:spcPts val="0"/>
              </a:spcBef>
              <a:spcAft>
                <a:spcPts val="0"/>
              </a:spcAft>
              <a:defRPr sz="650">
                <a:solidFill>
                  <a:srgbClr val="10E3B3"/>
                </a:solidFill>
                <a:latin typeface="Courier New"/>
              </a:defRPr>
            </a:pPr>
            <a:endParaRPr/>
          </a:p>
          <a:p>
            <a:pPr>
              <a:spcBef>
                <a:spcPts val="0"/>
              </a:spcBef>
              <a:spcAft>
                <a:spcPts val="0"/>
              </a:spcAft>
              <a:defRPr sz="650">
                <a:solidFill>
                  <a:srgbClr val="10E3B3"/>
                </a:solidFill>
                <a:latin typeface="Courier New"/>
              </a:defRPr>
            </a:pPr>
            <a:r>
              <a:t>Run axe-core and report</a:t>
            </a:r>
          </a:p>
          <a:p>
            <a:pPr>
              <a:spcBef>
                <a:spcPts val="0"/>
              </a:spcBef>
              <a:spcAft>
                <a:spcPts val="0"/>
              </a:spcAft>
              <a:defRPr sz="650">
                <a:solidFill>
                  <a:srgbClr val="10E3B3"/>
                </a:solidFill>
                <a:latin typeface="Courier New"/>
              </a:defRPr>
            </a:pPr>
            <a:r>
              <a:t>WCAG 2.1 AA violations.</a:t>
            </a:r>
          </a:p>
        </p:txBody>
      </p:sp>
      <p:sp>
        <p:nvSpPr>
          <p:cNvPr id="11" name="TextBox 10"/>
          <p:cNvSpPr txBox="1"/>
          <p:nvPr/>
        </p:nvSpPr>
        <p:spPr>
          <a:xfrm>
            <a:off x="512064" y="3703320"/>
            <a:ext cx="2377440" cy="731520"/>
          </a:xfrm>
          <a:prstGeom prst="rect">
            <a:avLst/>
          </a:prstGeom>
          <a:noFill/>
        </p:spPr>
        <p:txBody>
          <a:bodyPr wrap="square">
            <a:spAutoFit/>
          </a:bodyPr>
          <a:lstStyle/>
          <a:p>
            <a:pPr algn="l">
              <a:defRPr sz="800" b="0">
                <a:solidFill>
                  <a:srgbClr val="A8B3BE"/>
                </a:solidFill>
                <a:latin typeface="Arial"/>
              </a:defRPr>
            </a:pPr>
            <a:r>
              <a:t>Isolated context for deep accessibility analysis</a:t>
            </a:r>
          </a:p>
        </p:txBody>
      </p:sp>
      <p:sp>
        <p:nvSpPr>
          <p:cNvPr id="12" name="Rounded Rectangle 11"/>
          <p:cNvSpPr/>
          <p:nvPr/>
        </p:nvSpPr>
        <p:spPr>
          <a:xfrm>
            <a:off x="3154680" y="777240"/>
            <a:ext cx="265176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00984" y="868680"/>
            <a:ext cx="2377440" cy="228600"/>
          </a:xfrm>
          <a:prstGeom prst="rect">
            <a:avLst/>
          </a:prstGeom>
          <a:noFill/>
        </p:spPr>
        <p:txBody>
          <a:bodyPr wrap="square">
            <a:spAutoFit/>
          </a:bodyPr>
          <a:lstStyle/>
          <a:p>
            <a:pPr algn="l">
              <a:defRPr sz="1050" b="1">
                <a:solidFill>
                  <a:srgbClr val="EF6B5E"/>
                </a:solidFill>
                <a:latin typeface="Arial"/>
              </a:defRPr>
            </a:pPr>
            <a:r>
              <a:t>Test Generator</a:t>
            </a:r>
          </a:p>
        </p:txBody>
      </p:sp>
      <p:sp>
        <p:nvSpPr>
          <p:cNvPr id="14" name="Rounded Rectangle 13"/>
          <p:cNvSpPr/>
          <p:nvPr/>
        </p:nvSpPr>
        <p:spPr>
          <a:xfrm>
            <a:off x="3246120" y="1143000"/>
            <a:ext cx="2468880" cy="246888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7560" y="1216152"/>
            <a:ext cx="2286000" cy="2322576"/>
          </a:xfrm>
          <a:prstGeom prst="rect">
            <a:avLst/>
          </a:prstGeom>
          <a:noFill/>
        </p:spPr>
        <p:txBody>
          <a:bodyPr wrap="none">
            <a:spAutoFit/>
          </a:bodyPr>
          <a:lstStyle/>
          <a:p>
            <a:pPr>
              <a:spcBef>
                <a:spcPts val="0"/>
              </a:spcBef>
              <a:spcAft>
                <a:spcPts val="0"/>
              </a:spcAft>
              <a:defRPr sz="650">
                <a:solidFill>
                  <a:srgbClr val="10E3B3"/>
                </a:solidFill>
                <a:latin typeface="Courier New"/>
              </a:defRPr>
            </a:pPr>
            <a:r>
              <a:t># .claude/agents/test-gen/</a:t>
            </a:r>
          </a:p>
          <a:p>
            <a:pPr>
              <a:spcBef>
                <a:spcPts val="0"/>
              </a:spcBef>
              <a:spcAft>
                <a:spcPts val="0"/>
              </a:spcAft>
              <a:defRPr sz="650">
                <a:solidFill>
                  <a:srgbClr val="10E3B3"/>
                </a:solidFill>
                <a:latin typeface="Courier New"/>
              </a:defRPr>
            </a:pPr>
            <a:r>
              <a:t>#   AGENT.md</a:t>
            </a:r>
          </a:p>
          <a:p>
            <a:pPr>
              <a:spcBef>
                <a:spcPts val="0"/>
              </a:spcBef>
              <a:spcAft>
                <a:spcPts val="0"/>
              </a:spcAft>
              <a:defRPr sz="650">
                <a:solidFill>
                  <a:srgbClr val="10E3B3"/>
                </a:solidFill>
                <a:latin typeface="Courier New"/>
              </a:defRPr>
            </a:pPr>
            <a:r>
              <a:t>---</a:t>
            </a:r>
          </a:p>
          <a:p>
            <a:pPr>
              <a:spcBef>
                <a:spcPts val="0"/>
              </a:spcBef>
              <a:spcAft>
                <a:spcPts val="0"/>
              </a:spcAft>
              <a:defRPr sz="650">
                <a:solidFill>
                  <a:srgbClr val="10E3B3"/>
                </a:solidFill>
                <a:latin typeface="Courier New"/>
              </a:defRPr>
            </a:pPr>
            <a:r>
              <a:t>name: test-generator</a:t>
            </a:r>
          </a:p>
          <a:p>
            <a:pPr>
              <a:spcBef>
                <a:spcPts val="0"/>
              </a:spcBef>
              <a:spcAft>
                <a:spcPts val="0"/>
              </a:spcAft>
              <a:defRPr sz="650">
                <a:solidFill>
                  <a:srgbClr val="10E3B3"/>
                </a:solidFill>
                <a:latin typeface="Courier New"/>
              </a:defRPr>
            </a:pPr>
            <a:r>
              <a:t>description: Generate Jest</a:t>
            </a:r>
          </a:p>
          <a:p>
            <a:pPr>
              <a:spcBef>
                <a:spcPts val="0"/>
              </a:spcBef>
              <a:spcAft>
                <a:spcPts val="0"/>
              </a:spcAft>
              <a:defRPr sz="650">
                <a:solidFill>
                  <a:srgbClr val="10E3B3"/>
                </a:solidFill>
                <a:latin typeface="Courier New"/>
              </a:defRPr>
            </a:pPr>
            <a:r>
              <a:t>  and RTL tests for</a:t>
            </a:r>
          </a:p>
          <a:p>
            <a:pPr>
              <a:spcBef>
                <a:spcPts val="0"/>
              </a:spcBef>
              <a:spcAft>
                <a:spcPts val="0"/>
              </a:spcAft>
              <a:defRPr sz="650">
                <a:solidFill>
                  <a:srgbClr val="10E3B3"/>
                </a:solidFill>
                <a:latin typeface="Courier New"/>
              </a:defRPr>
            </a:pPr>
            <a:r>
              <a:t>  React components</a:t>
            </a:r>
          </a:p>
          <a:p>
            <a:pPr>
              <a:spcBef>
                <a:spcPts val="0"/>
              </a:spcBef>
              <a:spcAft>
                <a:spcPts val="0"/>
              </a:spcAft>
              <a:defRPr sz="650">
                <a:solidFill>
                  <a:srgbClr val="10E3B3"/>
                </a:solidFill>
                <a:latin typeface="Courier New"/>
              </a:defRPr>
            </a:pPr>
            <a:r>
              <a:t>allowed_tools:</a:t>
            </a:r>
          </a:p>
          <a:p>
            <a:pPr>
              <a:spcBef>
                <a:spcPts val="0"/>
              </a:spcBef>
              <a:spcAft>
                <a:spcPts val="0"/>
              </a:spcAft>
              <a:defRPr sz="650">
                <a:solidFill>
                  <a:srgbClr val="10E3B3"/>
                </a:solidFill>
                <a:latin typeface="Courier New"/>
              </a:defRPr>
            </a:pPr>
            <a:r>
              <a:t>  - Read</a:t>
            </a:r>
          </a:p>
          <a:p>
            <a:pPr>
              <a:spcBef>
                <a:spcPts val="0"/>
              </a:spcBef>
              <a:spcAft>
                <a:spcPts val="0"/>
              </a:spcAft>
              <a:defRPr sz="650">
                <a:solidFill>
                  <a:srgbClr val="10E3B3"/>
                </a:solidFill>
                <a:latin typeface="Courier New"/>
              </a:defRPr>
            </a:pPr>
            <a:r>
              <a:t>  - Write</a:t>
            </a:r>
          </a:p>
          <a:p>
            <a:pPr>
              <a:spcBef>
                <a:spcPts val="0"/>
              </a:spcBef>
              <a:spcAft>
                <a:spcPts val="0"/>
              </a:spcAft>
              <a:defRPr sz="650">
                <a:solidFill>
                  <a:srgbClr val="10E3B3"/>
                </a:solidFill>
                <a:latin typeface="Courier New"/>
              </a:defRPr>
            </a:pPr>
            <a:r>
              <a:t>  - Bash</a:t>
            </a:r>
          </a:p>
          <a:p>
            <a:pPr>
              <a:spcBef>
                <a:spcPts val="0"/>
              </a:spcBef>
              <a:spcAft>
                <a:spcPts val="0"/>
              </a:spcAft>
              <a:defRPr sz="650">
                <a:solidFill>
                  <a:srgbClr val="10E3B3"/>
                </a:solidFill>
                <a:latin typeface="Courier New"/>
              </a:defRPr>
            </a:pPr>
            <a:r>
              <a:t>---</a:t>
            </a:r>
          </a:p>
          <a:p>
            <a:pPr>
              <a:spcBef>
                <a:spcPts val="0"/>
              </a:spcBef>
              <a:spcAft>
                <a:spcPts val="0"/>
              </a:spcAft>
              <a:defRPr sz="650">
                <a:solidFill>
                  <a:srgbClr val="10E3B3"/>
                </a:solidFill>
                <a:latin typeface="Courier New"/>
              </a:defRPr>
            </a:pPr>
            <a:endParaRPr/>
          </a:p>
          <a:p>
            <a:pPr>
              <a:spcBef>
                <a:spcPts val="0"/>
              </a:spcBef>
              <a:spcAft>
                <a:spcPts val="0"/>
              </a:spcAft>
              <a:defRPr sz="650">
                <a:solidFill>
                  <a:srgbClr val="10E3B3"/>
                </a:solidFill>
                <a:latin typeface="Courier New"/>
              </a:defRPr>
            </a:pPr>
            <a:r>
              <a:t>Create tests following</a:t>
            </a:r>
          </a:p>
          <a:p>
            <a:pPr>
              <a:spcBef>
                <a:spcPts val="0"/>
              </a:spcBef>
              <a:spcAft>
                <a:spcPts val="0"/>
              </a:spcAft>
              <a:defRPr sz="650">
                <a:solidFill>
                  <a:srgbClr val="10E3B3"/>
                </a:solidFill>
                <a:latin typeface="Courier New"/>
              </a:defRPr>
            </a:pPr>
            <a:r>
              <a:t>project conventions.</a:t>
            </a:r>
          </a:p>
        </p:txBody>
      </p:sp>
      <p:sp>
        <p:nvSpPr>
          <p:cNvPr id="16" name="TextBox 15"/>
          <p:cNvSpPr txBox="1"/>
          <p:nvPr/>
        </p:nvSpPr>
        <p:spPr>
          <a:xfrm>
            <a:off x="3300984" y="3703320"/>
            <a:ext cx="2377440" cy="731520"/>
          </a:xfrm>
          <a:prstGeom prst="rect">
            <a:avLst/>
          </a:prstGeom>
          <a:noFill/>
        </p:spPr>
        <p:txBody>
          <a:bodyPr wrap="square">
            <a:spAutoFit/>
          </a:bodyPr>
          <a:lstStyle/>
          <a:p>
            <a:pPr algn="l">
              <a:defRPr sz="800" b="0">
                <a:solidFill>
                  <a:srgbClr val="A8B3BE"/>
                </a:solidFill>
                <a:latin typeface="Arial"/>
              </a:defRPr>
            </a:pPr>
            <a:r>
              <a:t>Parallel test generation without polluting main context</a:t>
            </a:r>
          </a:p>
        </p:txBody>
      </p:sp>
      <p:sp>
        <p:nvSpPr>
          <p:cNvPr id="17" name="Rounded Rectangle 16"/>
          <p:cNvSpPr/>
          <p:nvPr/>
        </p:nvSpPr>
        <p:spPr>
          <a:xfrm>
            <a:off x="5943600" y="777240"/>
            <a:ext cx="2651760" cy="3840480"/>
          </a:xfrm>
          <a:prstGeom prst="roundRect">
            <a:avLst/>
          </a:prstGeom>
          <a:solidFill>
            <a:srgbClr val="2F3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9904" y="868680"/>
            <a:ext cx="2377440" cy="228600"/>
          </a:xfrm>
          <a:prstGeom prst="rect">
            <a:avLst/>
          </a:prstGeom>
          <a:noFill/>
        </p:spPr>
        <p:txBody>
          <a:bodyPr wrap="square">
            <a:spAutoFit/>
          </a:bodyPr>
          <a:lstStyle/>
          <a:p>
            <a:pPr algn="l">
              <a:defRPr sz="1050" b="1">
                <a:solidFill>
                  <a:srgbClr val="A855F7"/>
                </a:solidFill>
                <a:latin typeface="Arial"/>
              </a:defRPr>
            </a:pPr>
            <a:r>
              <a:t>Code Reviewer</a:t>
            </a:r>
          </a:p>
        </p:txBody>
      </p:sp>
      <p:sp>
        <p:nvSpPr>
          <p:cNvPr id="19" name="Rounded Rectangle 18"/>
          <p:cNvSpPr/>
          <p:nvPr/>
        </p:nvSpPr>
        <p:spPr>
          <a:xfrm>
            <a:off x="6035040" y="1143000"/>
            <a:ext cx="2468880" cy="2468880"/>
          </a:xfrm>
          <a:prstGeom prst="roundRect">
            <a:avLst/>
          </a:prstGeom>
          <a:solidFill>
            <a:srgbClr val="343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1216152"/>
            <a:ext cx="2286000" cy="2322576"/>
          </a:xfrm>
          <a:prstGeom prst="rect">
            <a:avLst/>
          </a:prstGeom>
          <a:noFill/>
        </p:spPr>
        <p:txBody>
          <a:bodyPr wrap="none">
            <a:spAutoFit/>
          </a:bodyPr>
          <a:lstStyle/>
          <a:p>
            <a:pPr>
              <a:spcBef>
                <a:spcPts val="0"/>
              </a:spcBef>
              <a:spcAft>
                <a:spcPts val="0"/>
              </a:spcAft>
              <a:defRPr sz="650">
                <a:solidFill>
                  <a:srgbClr val="10E3B3"/>
                </a:solidFill>
                <a:latin typeface="Courier New"/>
              </a:defRPr>
            </a:pPr>
            <a:r>
              <a:t># .claude/agents/reviewer/</a:t>
            </a:r>
          </a:p>
          <a:p>
            <a:pPr>
              <a:spcBef>
                <a:spcPts val="0"/>
              </a:spcBef>
              <a:spcAft>
                <a:spcPts val="0"/>
              </a:spcAft>
              <a:defRPr sz="650">
                <a:solidFill>
                  <a:srgbClr val="10E3B3"/>
                </a:solidFill>
                <a:latin typeface="Courier New"/>
              </a:defRPr>
            </a:pPr>
            <a:r>
              <a:t>#   AGENT.md</a:t>
            </a:r>
          </a:p>
          <a:p>
            <a:pPr>
              <a:spcBef>
                <a:spcPts val="0"/>
              </a:spcBef>
              <a:spcAft>
                <a:spcPts val="0"/>
              </a:spcAft>
              <a:defRPr sz="650">
                <a:solidFill>
                  <a:srgbClr val="10E3B3"/>
                </a:solidFill>
                <a:latin typeface="Courier New"/>
              </a:defRPr>
            </a:pPr>
            <a:r>
              <a:t>---</a:t>
            </a:r>
          </a:p>
          <a:p>
            <a:pPr>
              <a:spcBef>
                <a:spcPts val="0"/>
              </a:spcBef>
              <a:spcAft>
                <a:spcPts val="0"/>
              </a:spcAft>
              <a:defRPr sz="650">
                <a:solidFill>
                  <a:srgbClr val="10E3B3"/>
                </a:solidFill>
                <a:latin typeface="Courier New"/>
              </a:defRPr>
            </a:pPr>
            <a:r>
              <a:t>name: code-reviewer</a:t>
            </a:r>
          </a:p>
          <a:p>
            <a:pPr>
              <a:spcBef>
                <a:spcPts val="0"/>
              </a:spcBef>
              <a:spcAft>
                <a:spcPts val="0"/>
              </a:spcAft>
              <a:defRPr sz="650">
                <a:solidFill>
                  <a:srgbClr val="10E3B3"/>
                </a:solidFill>
                <a:latin typeface="Courier New"/>
              </a:defRPr>
            </a:pPr>
            <a:r>
              <a:t>description: Review PRs for</a:t>
            </a:r>
          </a:p>
          <a:p>
            <a:pPr>
              <a:spcBef>
                <a:spcPts val="0"/>
              </a:spcBef>
              <a:spcAft>
                <a:spcPts val="0"/>
              </a:spcAft>
              <a:defRPr sz="650">
                <a:solidFill>
                  <a:srgbClr val="10E3B3"/>
                </a:solidFill>
                <a:latin typeface="Courier New"/>
              </a:defRPr>
            </a:pPr>
            <a:r>
              <a:t>  best practices and</a:t>
            </a:r>
          </a:p>
          <a:p>
            <a:pPr>
              <a:spcBef>
                <a:spcPts val="0"/>
              </a:spcBef>
              <a:spcAft>
                <a:spcPts val="0"/>
              </a:spcAft>
              <a:defRPr sz="650">
                <a:solidFill>
                  <a:srgbClr val="10E3B3"/>
                </a:solidFill>
                <a:latin typeface="Courier New"/>
              </a:defRPr>
            </a:pPr>
            <a:r>
              <a:t>  project standards</a:t>
            </a:r>
          </a:p>
          <a:p>
            <a:pPr>
              <a:spcBef>
                <a:spcPts val="0"/>
              </a:spcBef>
              <a:spcAft>
                <a:spcPts val="0"/>
              </a:spcAft>
              <a:defRPr sz="650">
                <a:solidFill>
                  <a:srgbClr val="10E3B3"/>
                </a:solidFill>
                <a:latin typeface="Courier New"/>
              </a:defRPr>
            </a:pPr>
            <a:r>
              <a:t>skills:</a:t>
            </a:r>
          </a:p>
          <a:p>
            <a:pPr>
              <a:spcBef>
                <a:spcPts val="0"/>
              </a:spcBef>
              <a:spcAft>
                <a:spcPts val="0"/>
              </a:spcAft>
              <a:defRPr sz="650">
                <a:solidFill>
                  <a:srgbClr val="10E3B3"/>
                </a:solidFill>
                <a:latin typeface="Courier New"/>
              </a:defRPr>
            </a:pPr>
            <a:r>
              <a:t>  - a11y-checker</a:t>
            </a:r>
          </a:p>
          <a:p>
            <a:pPr>
              <a:spcBef>
                <a:spcPts val="0"/>
              </a:spcBef>
              <a:spcAft>
                <a:spcPts val="0"/>
              </a:spcAft>
              <a:defRPr sz="650">
                <a:solidFill>
                  <a:srgbClr val="10E3B3"/>
                </a:solidFill>
                <a:latin typeface="Courier New"/>
              </a:defRPr>
            </a:pPr>
            <a:r>
              <a:t>allowed_tools:</a:t>
            </a:r>
          </a:p>
          <a:p>
            <a:pPr>
              <a:spcBef>
                <a:spcPts val="0"/>
              </a:spcBef>
              <a:spcAft>
                <a:spcPts val="0"/>
              </a:spcAft>
              <a:defRPr sz="650">
                <a:solidFill>
                  <a:srgbClr val="10E3B3"/>
                </a:solidFill>
                <a:latin typeface="Courier New"/>
              </a:defRPr>
            </a:pPr>
            <a:r>
              <a:t>  - Read</a:t>
            </a:r>
          </a:p>
          <a:p>
            <a:pPr>
              <a:spcBef>
                <a:spcPts val="0"/>
              </a:spcBef>
              <a:spcAft>
                <a:spcPts val="0"/>
              </a:spcAft>
              <a:defRPr sz="650">
                <a:solidFill>
                  <a:srgbClr val="10E3B3"/>
                </a:solidFill>
                <a:latin typeface="Courier New"/>
              </a:defRPr>
            </a:pPr>
            <a:r>
              <a:t>  - Grep</a:t>
            </a:r>
          </a:p>
          <a:p>
            <a:pPr>
              <a:spcBef>
                <a:spcPts val="0"/>
              </a:spcBef>
              <a:spcAft>
                <a:spcPts val="0"/>
              </a:spcAft>
              <a:defRPr sz="650">
                <a:solidFill>
                  <a:srgbClr val="10E3B3"/>
                </a:solidFill>
                <a:latin typeface="Courier New"/>
              </a:defRPr>
            </a:pPr>
            <a:r>
              <a:t>---</a:t>
            </a:r>
          </a:p>
          <a:p>
            <a:pPr>
              <a:spcBef>
                <a:spcPts val="0"/>
              </a:spcBef>
              <a:spcAft>
                <a:spcPts val="0"/>
              </a:spcAft>
              <a:defRPr sz="650">
                <a:solidFill>
                  <a:srgbClr val="10E3B3"/>
                </a:solidFill>
                <a:latin typeface="Courier New"/>
              </a:defRPr>
            </a:pPr>
            <a:endParaRPr/>
          </a:p>
          <a:p>
            <a:pPr>
              <a:spcBef>
                <a:spcPts val="0"/>
              </a:spcBef>
              <a:spcAft>
                <a:spcPts val="0"/>
              </a:spcAft>
              <a:defRPr sz="650">
                <a:solidFill>
                  <a:srgbClr val="10E3B3"/>
                </a:solidFill>
                <a:latin typeface="Courier New"/>
              </a:defRPr>
            </a:pPr>
            <a:r>
              <a:t>Check conventions,</a:t>
            </a:r>
          </a:p>
          <a:p>
            <a:pPr>
              <a:spcBef>
                <a:spcPts val="0"/>
              </a:spcBef>
              <a:spcAft>
                <a:spcPts val="0"/>
              </a:spcAft>
              <a:defRPr sz="650">
                <a:solidFill>
                  <a:srgbClr val="10E3B3"/>
                </a:solidFill>
                <a:latin typeface="Courier New"/>
              </a:defRPr>
            </a:pPr>
            <a:r>
              <a:t>a11y, and patterns.</a:t>
            </a:r>
          </a:p>
        </p:txBody>
      </p:sp>
      <p:sp>
        <p:nvSpPr>
          <p:cNvPr id="21" name="TextBox 20"/>
          <p:cNvSpPr txBox="1"/>
          <p:nvPr/>
        </p:nvSpPr>
        <p:spPr>
          <a:xfrm>
            <a:off x="6089904" y="3703320"/>
            <a:ext cx="2377440" cy="731520"/>
          </a:xfrm>
          <a:prstGeom prst="rect">
            <a:avLst/>
          </a:prstGeom>
          <a:noFill/>
        </p:spPr>
        <p:txBody>
          <a:bodyPr wrap="square">
            <a:spAutoFit/>
          </a:bodyPr>
          <a:lstStyle/>
          <a:p>
            <a:pPr algn="l">
              <a:defRPr sz="800" b="0">
                <a:solidFill>
                  <a:srgbClr val="A8B3BE"/>
                </a:solidFill>
                <a:latin typeface="Arial"/>
              </a:defRPr>
            </a:pPr>
            <a:r>
              <a:t>Fresh context for unbiased code review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2</a:t>
            </a:r>
            <a:endParaRPr lang="en-US" sz="900" dirty="0"/>
          </a:p>
        </p:txBody>
      </p:sp>
      <p:sp>
        <p:nvSpPr>
          <p:cNvPr id="4" name="Text 2"/>
          <p:cNvSpPr/>
          <p:nvPr/>
        </p:nvSpPr>
        <p:spPr>
          <a:xfrm>
            <a:off x="971848" y="285750"/>
            <a:ext cx="2963228"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Multi-Agent Pipelines</a:t>
            </a:r>
            <a:endParaRPr lang="en-US" sz="2250" dirty="0">
              <a:solidFill>
                <a:schemeClr val="bg1"/>
              </a:solidFill>
            </a:endParaRPr>
          </a:p>
        </p:txBody>
      </p:sp>
      <p:sp>
        <p:nvSpPr>
          <p:cNvPr id="5" name="Text 3"/>
          <p:cNvSpPr/>
          <p:nvPr/>
        </p:nvSpPr>
        <p:spPr>
          <a:xfrm>
            <a:off x="381000" y="1485900"/>
            <a:ext cx="8549640" cy="190500"/>
          </a:xfrm>
          <a:prstGeom prst="rect">
            <a:avLst/>
          </a:prstGeom>
          <a:noFill/>
          <a:ln/>
        </p:spPr>
        <p:txBody>
          <a:bodyPr wrap="square" lIns="0" tIns="0" rIns="0" bIns="0" rtlCol="0" anchor="t"/>
          <a:lstStyle/>
          <a:p>
            <a:pPr marL="0" indent="0" algn="l">
              <a:lnSpc>
                <a:spcPts val="1500"/>
              </a:lnSpc>
              <a:spcBef>
                <a:spcPts val="300"/>
              </a:spcBef>
              <a:spcAft>
                <a:spcPts val="300"/>
              </a:spcAft>
              <a:buNone/>
            </a:pPr>
            <a:r>
              <a:rPr lang="en-US" sz="1050" dirty="0">
                <a:solidFill>
                  <a:srgbClr val="8B95A1"/>
                </a:solidFill>
                <a:latin typeface="Arial" pitchFamily="34" charset="0"/>
                <a:ea typeface="Arial" pitchFamily="34" charset="-122"/>
                <a:cs typeface="Arial" pitchFamily="34" charset="-120"/>
              </a:rPr>
              <a:t>Chain sub-agents for reproducible development workflows.</a:t>
            </a:r>
            <a:endParaRPr lang="en-US" sz="1050" dirty="0"/>
          </a:p>
        </p:txBody>
      </p:sp>
      <p:sp>
        <p:nvSpPr>
          <p:cNvPr id="6" name="Text 4"/>
          <p:cNvSpPr/>
          <p:nvPr/>
        </p:nvSpPr>
        <p:spPr>
          <a:xfrm>
            <a:off x="381000" y="2019300"/>
            <a:ext cx="8382000" cy="1333500"/>
          </a:xfrm>
          <a:prstGeom prst="roundRect">
            <a:avLst>
              <a:gd name="adj" fmla="val 4571"/>
            </a:avLst>
          </a:prstGeom>
          <a:solidFill>
            <a:srgbClr val="F8FAFC"/>
          </a:solidFill>
          <a:ln/>
        </p:spPr>
        <p:txBody>
          <a:bodyPr wrap="square" rtlCol="0" anchor="ctr"/>
          <a:lstStyle/>
          <a:p>
            <a:pPr marL="0" indent="0">
              <a:buNone/>
            </a:pPr>
            <a:endParaRPr lang="en-US" dirty="0"/>
          </a:p>
        </p:txBody>
      </p:sp>
      <p:sp>
        <p:nvSpPr>
          <p:cNvPr id="7" name="Text 5"/>
          <p:cNvSpPr/>
          <p:nvPr/>
        </p:nvSpPr>
        <p:spPr>
          <a:xfrm>
            <a:off x="1789658" y="2247900"/>
            <a:ext cx="860673" cy="876300"/>
          </a:xfrm>
          <a:prstGeom prst="roundRect">
            <a:avLst>
              <a:gd name="adj" fmla="val 7083"/>
            </a:avLst>
          </a:prstGeom>
          <a:solidFill>
            <a:srgbClr val="FFFFFF"/>
          </a:solidFill>
          <a:ln/>
        </p:spPr>
        <p:txBody>
          <a:bodyPr wrap="square" rtlCol="0" anchor="ctr"/>
          <a:lstStyle/>
          <a:p>
            <a:pPr marL="0" indent="0">
              <a:buNone/>
            </a:pPr>
            <a:endParaRPr lang="en-US" dirty="0"/>
          </a:p>
        </p:txBody>
      </p:sp>
      <p:sp>
        <p:nvSpPr>
          <p:cNvPr id="8" name="Text 6"/>
          <p:cNvSpPr/>
          <p:nvPr/>
        </p:nvSpPr>
        <p:spPr>
          <a:xfrm>
            <a:off x="1978094" y="2400300"/>
            <a:ext cx="483802"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STAGE 1</a:t>
            </a:r>
            <a:endParaRPr lang="en-US" sz="900" dirty="0"/>
          </a:p>
        </p:txBody>
      </p:sp>
      <p:sp>
        <p:nvSpPr>
          <p:cNvPr id="9" name="Text 7"/>
          <p:cNvSpPr/>
          <p:nvPr/>
        </p:nvSpPr>
        <p:spPr>
          <a:xfrm>
            <a:off x="1936499" y="2781300"/>
            <a:ext cx="566991" cy="190500"/>
          </a:xfrm>
          <a:prstGeom prst="rect">
            <a:avLst/>
          </a:prstGeom>
          <a:noFill/>
          <a:ln/>
        </p:spPr>
        <p:txBody>
          <a:bodyPr wrap="square" lIns="0" tIns="0" rIns="0" bIns="0" rtlCol="0" anchor="t"/>
          <a:lstStyle/>
          <a:p>
            <a:pPr marL="0" indent="0" algn="ctr">
              <a:lnSpc>
                <a:spcPts val="1500"/>
              </a:lnSpc>
              <a:spcBef>
                <a:spcPts val="300"/>
              </a:spcBef>
              <a:spcAft>
                <a:spcPts val="300"/>
              </a:spcAft>
              <a:buNone/>
            </a:pPr>
            <a:r>
              <a:rPr lang="en-US" sz="1050" b="1" dirty="0">
                <a:solidFill>
                  <a:srgbClr val="1A1A2E"/>
                </a:solidFill>
                <a:latin typeface="Arial" pitchFamily="34" charset="0"/>
                <a:ea typeface="Arial" pitchFamily="34" charset="-122"/>
                <a:cs typeface="Arial" pitchFamily="34" charset="-120"/>
              </a:rPr>
              <a:t>PM Spec</a:t>
            </a:r>
            <a:endParaRPr lang="en-US" sz="1050" dirty="0"/>
          </a:p>
        </p:txBody>
      </p:sp>
      <p:sp>
        <p:nvSpPr>
          <p:cNvPr id="10" name="Text 8"/>
          <p:cNvSpPr/>
          <p:nvPr/>
        </p:nvSpPr>
        <p:spPr>
          <a:xfrm>
            <a:off x="2802731" y="2676525"/>
            <a:ext cx="285750" cy="19050"/>
          </a:xfrm>
          <a:prstGeom prst="rect">
            <a:avLst/>
          </a:prstGeom>
          <a:solidFill>
            <a:srgbClr val="0F766E"/>
          </a:solidFill>
          <a:ln/>
        </p:spPr>
        <p:txBody>
          <a:bodyPr wrap="square" rtlCol="0" anchor="ctr"/>
          <a:lstStyle/>
          <a:p>
            <a:pPr marL="0" indent="0">
              <a:buNone/>
            </a:pPr>
            <a:endParaRPr lang="en-US" dirty="0"/>
          </a:p>
        </p:txBody>
      </p:sp>
      <p:sp>
        <p:nvSpPr>
          <p:cNvPr id="11" name="Text 9"/>
          <p:cNvSpPr/>
          <p:nvPr/>
        </p:nvSpPr>
        <p:spPr>
          <a:xfrm>
            <a:off x="3240881" y="2247900"/>
            <a:ext cx="882848" cy="876300"/>
          </a:xfrm>
          <a:prstGeom prst="roundRect">
            <a:avLst>
              <a:gd name="adj" fmla="val 6957"/>
            </a:avLst>
          </a:prstGeom>
          <a:solidFill>
            <a:srgbClr val="FFFFFF"/>
          </a:solidFill>
          <a:ln/>
        </p:spPr>
        <p:txBody>
          <a:bodyPr wrap="square" rtlCol="0" anchor="ctr"/>
          <a:lstStyle/>
          <a:p>
            <a:pPr marL="0" indent="0">
              <a:buNone/>
            </a:pPr>
            <a:endParaRPr lang="en-US" dirty="0"/>
          </a:p>
        </p:txBody>
      </p:sp>
      <p:sp>
        <p:nvSpPr>
          <p:cNvPr id="12" name="Text 10"/>
          <p:cNvSpPr/>
          <p:nvPr/>
        </p:nvSpPr>
        <p:spPr>
          <a:xfrm>
            <a:off x="3440330" y="2400300"/>
            <a:ext cx="483802"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STAGE 2</a:t>
            </a:r>
            <a:endParaRPr lang="en-US" sz="900" dirty="0"/>
          </a:p>
        </p:txBody>
      </p:sp>
      <p:sp>
        <p:nvSpPr>
          <p:cNvPr id="13" name="Text 11"/>
          <p:cNvSpPr/>
          <p:nvPr/>
        </p:nvSpPr>
        <p:spPr>
          <a:xfrm>
            <a:off x="3387501" y="2781300"/>
            <a:ext cx="589609" cy="190500"/>
          </a:xfrm>
          <a:prstGeom prst="rect">
            <a:avLst/>
          </a:prstGeom>
          <a:noFill/>
          <a:ln/>
        </p:spPr>
        <p:txBody>
          <a:bodyPr wrap="square" lIns="0" tIns="0" rIns="0" bIns="0" rtlCol="0" anchor="t"/>
          <a:lstStyle/>
          <a:p>
            <a:pPr marL="0" indent="0" algn="ctr">
              <a:lnSpc>
                <a:spcPts val="1500"/>
              </a:lnSpc>
              <a:spcBef>
                <a:spcPts val="300"/>
              </a:spcBef>
              <a:spcAft>
                <a:spcPts val="300"/>
              </a:spcAft>
              <a:buNone/>
            </a:pPr>
            <a:r>
              <a:rPr lang="en-US" sz="1050" b="1" dirty="0">
                <a:solidFill>
                  <a:srgbClr val="1A1A2E"/>
                </a:solidFill>
                <a:latin typeface="Arial" pitchFamily="34" charset="0"/>
                <a:ea typeface="Arial" pitchFamily="34" charset="-122"/>
                <a:cs typeface="Arial" pitchFamily="34" charset="-120"/>
              </a:rPr>
              <a:t>Architect</a:t>
            </a:r>
            <a:endParaRPr lang="en-US" sz="1050" dirty="0"/>
          </a:p>
        </p:txBody>
      </p:sp>
      <p:sp>
        <p:nvSpPr>
          <p:cNvPr id="14" name="Text 12"/>
          <p:cNvSpPr/>
          <p:nvPr/>
        </p:nvSpPr>
        <p:spPr>
          <a:xfrm>
            <a:off x="4276130" y="2676525"/>
            <a:ext cx="285750" cy="19050"/>
          </a:xfrm>
          <a:prstGeom prst="rect">
            <a:avLst/>
          </a:prstGeom>
          <a:solidFill>
            <a:srgbClr val="0F766E"/>
          </a:solidFill>
          <a:ln/>
        </p:spPr>
        <p:txBody>
          <a:bodyPr wrap="square" rtlCol="0" anchor="ctr"/>
          <a:lstStyle/>
          <a:p>
            <a:pPr marL="0" indent="0">
              <a:buNone/>
            </a:pPr>
            <a:endParaRPr lang="en-US" dirty="0"/>
          </a:p>
        </p:txBody>
      </p:sp>
      <p:sp>
        <p:nvSpPr>
          <p:cNvPr id="15" name="Text 13"/>
          <p:cNvSpPr/>
          <p:nvPr/>
        </p:nvSpPr>
        <p:spPr>
          <a:xfrm>
            <a:off x="4714280" y="2247900"/>
            <a:ext cx="971699" cy="876300"/>
          </a:xfrm>
          <a:prstGeom prst="roundRect">
            <a:avLst>
              <a:gd name="adj" fmla="val 6957"/>
            </a:avLst>
          </a:prstGeom>
          <a:solidFill>
            <a:srgbClr val="FFFFFF"/>
          </a:solidFill>
          <a:ln/>
        </p:spPr>
        <p:txBody>
          <a:bodyPr wrap="square" rtlCol="0" anchor="ctr"/>
          <a:lstStyle/>
          <a:p>
            <a:pPr marL="0" indent="0">
              <a:buNone/>
            </a:pPr>
            <a:endParaRPr lang="en-US" dirty="0"/>
          </a:p>
        </p:txBody>
      </p:sp>
      <p:sp>
        <p:nvSpPr>
          <p:cNvPr id="16" name="Text 14"/>
          <p:cNvSpPr/>
          <p:nvPr/>
        </p:nvSpPr>
        <p:spPr>
          <a:xfrm>
            <a:off x="4958228" y="2400300"/>
            <a:ext cx="483802"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STAGE 3</a:t>
            </a:r>
            <a:endParaRPr lang="en-US" sz="900" dirty="0"/>
          </a:p>
        </p:txBody>
      </p:sp>
      <p:sp>
        <p:nvSpPr>
          <p:cNvPr id="17" name="Text 15"/>
          <p:cNvSpPr/>
          <p:nvPr/>
        </p:nvSpPr>
        <p:spPr>
          <a:xfrm>
            <a:off x="4860011" y="2781300"/>
            <a:ext cx="680237" cy="190500"/>
          </a:xfrm>
          <a:prstGeom prst="rect">
            <a:avLst/>
          </a:prstGeom>
          <a:noFill/>
          <a:ln/>
        </p:spPr>
        <p:txBody>
          <a:bodyPr wrap="square" lIns="0" tIns="0" rIns="0" bIns="0" rtlCol="0" anchor="t"/>
          <a:lstStyle/>
          <a:p>
            <a:pPr marL="0" indent="0" algn="ctr">
              <a:lnSpc>
                <a:spcPts val="1500"/>
              </a:lnSpc>
              <a:spcBef>
                <a:spcPts val="300"/>
              </a:spcBef>
              <a:spcAft>
                <a:spcPts val="300"/>
              </a:spcAft>
              <a:buNone/>
            </a:pPr>
            <a:r>
              <a:rPr lang="en-US" sz="1050" b="1" dirty="0">
                <a:solidFill>
                  <a:srgbClr val="1A1A2E"/>
                </a:solidFill>
                <a:latin typeface="Arial" pitchFamily="34" charset="0"/>
                <a:ea typeface="Arial" pitchFamily="34" charset="-122"/>
                <a:cs typeface="Arial" pitchFamily="34" charset="-120"/>
              </a:rPr>
              <a:t>Implement</a:t>
            </a:r>
            <a:endParaRPr lang="en-US" sz="1050" dirty="0"/>
          </a:p>
        </p:txBody>
      </p:sp>
      <p:sp>
        <p:nvSpPr>
          <p:cNvPr id="18" name="Text 16"/>
          <p:cNvSpPr/>
          <p:nvPr/>
        </p:nvSpPr>
        <p:spPr>
          <a:xfrm>
            <a:off x="5838379" y="2676525"/>
            <a:ext cx="285750" cy="19050"/>
          </a:xfrm>
          <a:prstGeom prst="rect">
            <a:avLst/>
          </a:prstGeom>
          <a:solidFill>
            <a:srgbClr val="EF6B5E"/>
          </a:solidFill>
          <a:ln/>
        </p:spPr>
        <p:txBody>
          <a:bodyPr wrap="square" rtlCol="0" anchor="ctr"/>
          <a:lstStyle/>
          <a:p>
            <a:pPr marL="0" indent="0">
              <a:buNone/>
            </a:pPr>
            <a:endParaRPr lang="en-US" dirty="0"/>
          </a:p>
        </p:txBody>
      </p:sp>
      <p:sp>
        <p:nvSpPr>
          <p:cNvPr id="19" name="Text 17"/>
          <p:cNvSpPr/>
          <p:nvPr/>
        </p:nvSpPr>
        <p:spPr>
          <a:xfrm>
            <a:off x="6276529" y="2247900"/>
            <a:ext cx="1077664" cy="876300"/>
          </a:xfrm>
          <a:prstGeom prst="roundRect">
            <a:avLst>
              <a:gd name="adj" fmla="val 6957"/>
            </a:avLst>
          </a:prstGeom>
          <a:solidFill>
            <a:srgbClr val="EF6B5E"/>
          </a:solidFill>
          <a:ln/>
        </p:spPr>
        <p:txBody>
          <a:bodyPr wrap="square" rtlCol="0" anchor="ctr"/>
          <a:lstStyle/>
          <a:p>
            <a:pPr marL="0" indent="0">
              <a:buNone/>
            </a:pPr>
            <a:endParaRPr lang="en-US" dirty="0"/>
          </a:p>
        </p:txBody>
      </p:sp>
      <p:sp>
        <p:nvSpPr>
          <p:cNvPr id="20" name="Text 18"/>
          <p:cNvSpPr/>
          <p:nvPr/>
        </p:nvSpPr>
        <p:spPr>
          <a:xfrm>
            <a:off x="6573460" y="2400300"/>
            <a:ext cx="483802"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STAGE 4</a:t>
            </a:r>
            <a:endParaRPr lang="en-US" sz="900" dirty="0"/>
          </a:p>
        </p:txBody>
      </p:sp>
      <p:sp>
        <p:nvSpPr>
          <p:cNvPr id="21" name="Text 19"/>
          <p:cNvSpPr/>
          <p:nvPr/>
        </p:nvSpPr>
        <p:spPr>
          <a:xfrm>
            <a:off x="6421200" y="2781300"/>
            <a:ext cx="788322" cy="190500"/>
          </a:xfrm>
          <a:prstGeom prst="rect">
            <a:avLst/>
          </a:prstGeom>
          <a:noFill/>
          <a:ln/>
        </p:spPr>
        <p:txBody>
          <a:bodyPr wrap="square" lIns="0" tIns="0" rIns="0" bIns="0" rtlCol="0" anchor="t"/>
          <a:lstStyle/>
          <a:p>
            <a:pPr marL="0" indent="0" algn="ctr">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HIPAA Audit</a:t>
            </a:r>
            <a:endParaRPr lang="en-US" sz="1050" dirty="0"/>
          </a:p>
        </p:txBody>
      </p:sp>
      <p:sp>
        <p:nvSpPr>
          <p:cNvPr id="22" name="Text 20"/>
          <p:cNvSpPr/>
          <p:nvPr/>
        </p:nvSpPr>
        <p:spPr>
          <a:xfrm>
            <a:off x="381000" y="3657600"/>
            <a:ext cx="4038600" cy="685800"/>
          </a:xfrm>
          <a:prstGeom prst="roundRect">
            <a:avLst>
              <a:gd name="adj" fmla="val 8889"/>
            </a:avLst>
          </a:prstGeom>
          <a:solidFill>
            <a:srgbClr val="F8FAFC"/>
          </a:solidFill>
          <a:ln/>
        </p:spPr>
        <p:txBody>
          <a:bodyPr wrap="square" rtlCol="0" anchor="ctr"/>
          <a:lstStyle/>
          <a:p>
            <a:pPr marL="0" indent="0">
              <a:buNone/>
            </a:pPr>
            <a:endParaRPr lang="en-US" dirty="0"/>
          </a:p>
        </p:txBody>
      </p:sp>
      <p:sp>
        <p:nvSpPr>
          <p:cNvPr id="23" name="Text 21"/>
          <p:cNvSpPr/>
          <p:nvPr/>
        </p:nvSpPr>
        <p:spPr>
          <a:xfrm>
            <a:off x="495300" y="3810000"/>
            <a:ext cx="3886200" cy="190500"/>
          </a:xfrm>
          <a:prstGeom prst="rect">
            <a:avLst/>
          </a:prstGeom>
          <a:noFill/>
          <a:ln/>
        </p:spPr>
        <p:txBody>
          <a:bodyPr wrap="square" lIns="0" tIns="0" rIns="0" bIns="0" rtlCol="0" anchor="t"/>
          <a:lstStyle/>
          <a:p>
            <a:pPr marL="0" indent="0" algn="l">
              <a:lnSpc>
                <a:spcPts val="1500"/>
              </a:lnSpc>
              <a:spcBef>
                <a:spcPts val="300"/>
              </a:spcBef>
              <a:spcAft>
                <a:spcPts val="300"/>
              </a:spcAft>
              <a:buNone/>
            </a:pPr>
            <a:r>
              <a:rPr lang="en-US" sz="1050" b="1" dirty="0">
                <a:solidFill>
                  <a:srgbClr val="1A1A2E"/>
                </a:solidFill>
                <a:latin typeface="Arial" pitchFamily="34" charset="0"/>
                <a:ea typeface="Arial" pitchFamily="34" charset="-122"/>
                <a:cs typeface="Arial" pitchFamily="34" charset="-120"/>
              </a:rPr>
              <a:t>Git Worktrees</a:t>
            </a:r>
            <a:endParaRPr lang="en-US" sz="1050" dirty="0"/>
          </a:p>
        </p:txBody>
      </p:sp>
      <p:sp>
        <p:nvSpPr>
          <p:cNvPr id="24" name="Text 22"/>
          <p:cNvSpPr/>
          <p:nvPr/>
        </p:nvSpPr>
        <p:spPr>
          <a:xfrm>
            <a:off x="495300" y="4038600"/>
            <a:ext cx="3886200"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Parallel Claude sessions with isolation</a:t>
            </a:r>
            <a:endParaRPr lang="en-US" sz="900" dirty="0"/>
          </a:p>
        </p:txBody>
      </p:sp>
      <p:sp>
        <p:nvSpPr>
          <p:cNvPr id="25" name="Text 23"/>
          <p:cNvSpPr/>
          <p:nvPr/>
        </p:nvSpPr>
        <p:spPr>
          <a:xfrm>
            <a:off x="4724400" y="3657600"/>
            <a:ext cx="4038600" cy="685800"/>
          </a:xfrm>
          <a:prstGeom prst="roundRect">
            <a:avLst>
              <a:gd name="adj" fmla="val 8889"/>
            </a:avLst>
          </a:prstGeom>
          <a:solidFill>
            <a:srgbClr val="F8FAFC"/>
          </a:solidFill>
          <a:ln/>
        </p:spPr>
        <p:txBody>
          <a:bodyPr wrap="square" rtlCol="0" anchor="ctr"/>
          <a:lstStyle/>
          <a:p>
            <a:pPr marL="0" indent="0">
              <a:buNone/>
            </a:pPr>
            <a:endParaRPr lang="en-US" dirty="0"/>
          </a:p>
        </p:txBody>
      </p:sp>
      <p:sp>
        <p:nvSpPr>
          <p:cNvPr id="26" name="Text 24"/>
          <p:cNvSpPr/>
          <p:nvPr/>
        </p:nvSpPr>
        <p:spPr>
          <a:xfrm>
            <a:off x="4838700" y="3810000"/>
            <a:ext cx="3886200" cy="190500"/>
          </a:xfrm>
          <a:prstGeom prst="rect">
            <a:avLst/>
          </a:prstGeom>
          <a:noFill/>
          <a:ln/>
        </p:spPr>
        <p:txBody>
          <a:bodyPr wrap="square" lIns="0" tIns="0" rIns="0" bIns="0" rtlCol="0" anchor="t"/>
          <a:lstStyle/>
          <a:p>
            <a:pPr marL="0" indent="0" algn="l">
              <a:lnSpc>
                <a:spcPts val="1500"/>
              </a:lnSpc>
              <a:spcBef>
                <a:spcPts val="300"/>
              </a:spcBef>
              <a:spcAft>
                <a:spcPts val="300"/>
              </a:spcAft>
              <a:buNone/>
            </a:pPr>
            <a:r>
              <a:rPr lang="en-US" sz="1050" b="1" dirty="0">
                <a:solidFill>
                  <a:srgbClr val="1A1A2E"/>
                </a:solidFill>
                <a:latin typeface="Arial" pitchFamily="34" charset="0"/>
                <a:ea typeface="Arial" pitchFamily="34" charset="-122"/>
                <a:cs typeface="Arial" pitchFamily="34" charset="-120"/>
              </a:rPr>
              <a:t>CI/CD Integration</a:t>
            </a:r>
            <a:endParaRPr lang="en-US" sz="1050" dirty="0"/>
          </a:p>
        </p:txBody>
      </p:sp>
      <p:sp>
        <p:nvSpPr>
          <p:cNvPr id="27" name="Text 25"/>
          <p:cNvSpPr/>
          <p:nvPr/>
        </p:nvSpPr>
        <p:spPr>
          <a:xfrm>
            <a:off x="4838700" y="4038600"/>
            <a:ext cx="3886200"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Headless mode for automation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270945" y="895350"/>
            <a:ext cx="2601962" cy="381000"/>
          </a:xfrm>
          <a:prstGeom prst="roundRect">
            <a:avLst>
              <a:gd name="adj" fmla="val 16000"/>
            </a:avLst>
          </a:prstGeom>
          <a:solidFill>
            <a:srgbClr val="EF6B5E"/>
          </a:solidFill>
          <a:ln/>
        </p:spPr>
        <p:txBody>
          <a:bodyPr wrap="square" rtlCol="0" anchor="ctr"/>
          <a:lstStyle/>
          <a:p>
            <a:pPr marL="0" indent="0">
              <a:buNone/>
            </a:pPr>
            <a:endParaRPr lang="en-US" dirty="0"/>
          </a:p>
        </p:txBody>
      </p:sp>
      <p:sp>
        <p:nvSpPr>
          <p:cNvPr id="3" name="Text 1"/>
          <p:cNvSpPr/>
          <p:nvPr/>
        </p:nvSpPr>
        <p:spPr>
          <a:xfrm>
            <a:off x="3400373" y="990600"/>
            <a:ext cx="2343105" cy="190500"/>
          </a:xfrm>
          <a:prstGeom prst="rect">
            <a:avLst/>
          </a:prstGeom>
          <a:noFill/>
          <a:ln/>
        </p:spPr>
        <p:txBody>
          <a:bodyPr wrap="square" lIns="0" tIns="0" rIns="0" bIns="0" rtlCol="0" anchor="t"/>
          <a:lstStyle/>
          <a:p>
            <a:pPr marL="0" indent="0" algn="ctr">
              <a:lnSpc>
                <a:spcPts val="1500"/>
              </a:lnSpc>
              <a:spcBef>
                <a:spcPts val="300"/>
              </a:spcBef>
              <a:spcAft>
                <a:spcPts val="300"/>
              </a:spcAft>
              <a:buNone/>
            </a:pPr>
            <a:r>
              <a:rPr lang="en-US" sz="1050" b="1" dirty="0">
                <a:solidFill>
                  <a:srgbClr val="FFFFFF"/>
                </a:solidFill>
                <a:latin typeface="Arial" pitchFamily="34" charset="0"/>
                <a:ea typeface="Arial" pitchFamily="34" charset="-122"/>
                <a:cs typeface="Arial" pitchFamily="34" charset="-120"/>
              </a:rPr>
              <a:t>DAY 3 — PRODUCTION READINESS</a:t>
            </a:r>
            <a:endParaRPr lang="en-US" sz="1050" dirty="0"/>
          </a:p>
        </p:txBody>
      </p:sp>
      <p:sp>
        <p:nvSpPr>
          <p:cNvPr id="4" name="Text 2"/>
          <p:cNvSpPr/>
          <p:nvPr/>
        </p:nvSpPr>
        <p:spPr>
          <a:xfrm>
            <a:off x="1941832" y="1619250"/>
            <a:ext cx="5260336" cy="457200"/>
          </a:xfrm>
          <a:prstGeom prst="rect">
            <a:avLst/>
          </a:prstGeom>
          <a:noFill/>
          <a:ln/>
        </p:spPr>
        <p:txBody>
          <a:bodyPr wrap="square" lIns="0" tIns="0" rIns="0" bIns="0" rtlCol="0" anchor="t"/>
          <a:lstStyle/>
          <a:p>
            <a:pPr marL="0" indent="0" algn="ctr">
              <a:lnSpc>
                <a:spcPts val="3600"/>
              </a:lnSpc>
              <a:spcAft>
                <a:spcPts val="1500"/>
              </a:spcAft>
              <a:buNone/>
            </a:pPr>
            <a:r>
              <a:rPr lang="en-US" sz="3600" b="1" dirty="0">
                <a:solidFill>
                  <a:srgbClr val="FFFFFF"/>
                </a:solidFill>
                <a:latin typeface="Arial" pitchFamily="34" charset="0"/>
                <a:ea typeface="Arial" pitchFamily="34" charset="-122"/>
                <a:cs typeface="Arial" pitchFamily="34" charset="-120"/>
              </a:rPr>
              <a:t>Why Evaluations Matter</a:t>
            </a:r>
            <a:endParaRPr lang="en-US" sz="3600" dirty="0"/>
          </a:p>
        </p:txBody>
      </p:sp>
      <p:sp>
        <p:nvSpPr>
          <p:cNvPr id="5" name="Text 3"/>
          <p:cNvSpPr/>
          <p:nvPr/>
        </p:nvSpPr>
        <p:spPr>
          <a:xfrm>
            <a:off x="2790270" y="2457450"/>
            <a:ext cx="3563311" cy="266700"/>
          </a:xfrm>
          <a:prstGeom prst="rect">
            <a:avLst/>
          </a:prstGeom>
          <a:noFill/>
          <a:ln/>
        </p:spPr>
        <p:txBody>
          <a:bodyPr wrap="square" lIns="0" tIns="0" rIns="0" bIns="0" rtlCol="0" anchor="t"/>
          <a:lstStyle/>
          <a:p>
            <a:pPr marL="0" indent="0" algn="ctr">
              <a:lnSpc>
                <a:spcPts val="2100"/>
              </a:lnSpc>
              <a:spcBef>
                <a:spcPts val="300"/>
              </a:spcBef>
              <a:spcAft>
                <a:spcPts val="2400"/>
              </a:spcAft>
              <a:buNone/>
            </a:pPr>
            <a:r>
              <a:rPr lang="en-US" sz="1350" dirty="0">
                <a:solidFill>
                  <a:srgbClr val="FFFFFF"/>
                </a:solidFill>
                <a:latin typeface="Arial" pitchFamily="34" charset="0"/>
                <a:ea typeface="Arial" pitchFamily="34" charset="-122"/>
                <a:cs typeface="Arial" pitchFamily="34" charset="-120"/>
              </a:rPr>
              <a:t>"You can't vibe check your way to production."</a:t>
            </a:r>
            <a:endParaRPr lang="en-US" sz="1350" dirty="0"/>
          </a:p>
        </p:txBody>
      </p:sp>
      <p:sp>
        <p:nvSpPr>
          <p:cNvPr id="6" name="Text 4"/>
          <p:cNvSpPr/>
          <p:nvPr/>
        </p:nvSpPr>
        <p:spPr>
          <a:xfrm>
            <a:off x="1676400" y="3181350"/>
            <a:ext cx="1333500" cy="1066800"/>
          </a:xfrm>
          <a:prstGeom prst="roundRect">
            <a:avLst>
              <a:gd name="adj" fmla="val 5714"/>
            </a:avLst>
          </a:prstGeom>
          <a:solidFill>
            <a:srgbClr val="FFFFFF"/>
          </a:solidFill>
          <a:ln/>
        </p:spPr>
        <p:txBody>
          <a:bodyPr wrap="square" rtlCol="0" anchor="ctr"/>
          <a:lstStyle/>
          <a:p>
            <a:pPr marL="0" indent="0">
              <a:buNone/>
            </a:pPr>
            <a:endParaRPr lang="en-US" dirty="0"/>
          </a:p>
        </p:txBody>
      </p:sp>
      <p:sp>
        <p:nvSpPr>
          <p:cNvPr id="7" name="Text 5"/>
          <p:cNvSpPr/>
          <p:nvPr/>
        </p:nvSpPr>
        <p:spPr>
          <a:xfrm>
            <a:off x="2019199" y="3371850"/>
            <a:ext cx="647902" cy="304800"/>
          </a:xfrm>
          <a:prstGeom prst="rect">
            <a:avLst/>
          </a:prstGeom>
          <a:noFill/>
          <a:ln/>
        </p:spPr>
        <p:txBody>
          <a:bodyPr wrap="square" lIns="0" tIns="0" rIns="0" bIns="0" rtlCol="0" anchor="t"/>
          <a:lstStyle/>
          <a:p>
            <a:pPr marL="0" indent="0" algn="ctr">
              <a:lnSpc>
                <a:spcPts val="2400"/>
              </a:lnSpc>
              <a:spcBef>
                <a:spcPts val="300"/>
              </a:spcBef>
              <a:spcAft>
                <a:spcPts val="300"/>
              </a:spcAft>
              <a:buNone/>
            </a:pPr>
            <a:r>
              <a:rPr lang="en-US" sz="1800" b="1" dirty="0">
                <a:solidFill>
                  <a:srgbClr val="0F766E"/>
                </a:solidFill>
                <a:latin typeface="Arial" pitchFamily="34" charset="0"/>
                <a:ea typeface="Arial" pitchFamily="34" charset="-122"/>
                <a:cs typeface="Arial" pitchFamily="34" charset="-120"/>
              </a:rPr>
              <a:t>Demo</a:t>
            </a:r>
            <a:endParaRPr lang="en-US" sz="1800" dirty="0"/>
          </a:p>
        </p:txBody>
      </p:sp>
      <p:sp>
        <p:nvSpPr>
          <p:cNvPr id="8" name="Text 6"/>
          <p:cNvSpPr/>
          <p:nvPr/>
        </p:nvSpPr>
        <p:spPr>
          <a:xfrm>
            <a:off x="2009331" y="3905250"/>
            <a:ext cx="667637"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Easy to build</a:t>
            </a:r>
            <a:endParaRPr lang="en-US" sz="900" dirty="0"/>
          </a:p>
        </p:txBody>
      </p:sp>
      <p:sp>
        <p:nvSpPr>
          <p:cNvPr id="9" name="Text 7"/>
          <p:cNvSpPr/>
          <p:nvPr/>
        </p:nvSpPr>
        <p:spPr>
          <a:xfrm>
            <a:off x="3311843" y="3543300"/>
            <a:ext cx="291465" cy="342900"/>
          </a:xfrm>
          <a:prstGeom prst="rect">
            <a:avLst/>
          </a:prstGeom>
          <a:noFill/>
          <a:ln/>
        </p:spPr>
        <p:txBody>
          <a:bodyPr wrap="square" lIns="0" tIns="0" rIns="0" bIns="0" rtlCol="0" anchor="t"/>
          <a:lstStyle/>
          <a:p>
            <a:pPr marL="0" indent="0" algn="ctr">
              <a:lnSpc>
                <a:spcPts val="2700"/>
              </a:lnSpc>
              <a:spcBef>
                <a:spcPts val="300"/>
              </a:spcBef>
              <a:spcAft>
                <a:spcPts val="300"/>
              </a:spcAft>
              <a:buNone/>
            </a:pPr>
            <a:r>
              <a:rPr lang="en-US" sz="2250" dirty="0">
                <a:solidFill>
                  <a:srgbClr val="FFFFFF"/>
                </a:solidFill>
                <a:latin typeface="Arial" pitchFamily="34" charset="0"/>
                <a:ea typeface="Arial" pitchFamily="34" charset="-122"/>
                <a:cs typeface="Arial" pitchFamily="34" charset="-120"/>
              </a:rPr>
              <a:t>→</a:t>
            </a:r>
            <a:endParaRPr lang="en-US" sz="2250" dirty="0"/>
          </a:p>
        </p:txBody>
      </p:sp>
      <p:sp>
        <p:nvSpPr>
          <p:cNvPr id="10" name="Text 8"/>
          <p:cNvSpPr/>
          <p:nvPr/>
        </p:nvSpPr>
        <p:spPr>
          <a:xfrm>
            <a:off x="3905250" y="3181350"/>
            <a:ext cx="1333500" cy="1066800"/>
          </a:xfrm>
          <a:prstGeom prst="roundRect">
            <a:avLst>
              <a:gd name="adj" fmla="val 5714"/>
            </a:avLst>
          </a:prstGeom>
          <a:solidFill>
            <a:srgbClr val="EF6B5E"/>
          </a:solidFill>
          <a:ln/>
        </p:spPr>
        <p:txBody>
          <a:bodyPr wrap="square" rtlCol="0" anchor="ctr"/>
          <a:lstStyle/>
          <a:p>
            <a:pPr marL="0" indent="0">
              <a:buNone/>
            </a:pPr>
            <a:endParaRPr lang="en-US" dirty="0"/>
          </a:p>
        </p:txBody>
      </p:sp>
      <p:sp>
        <p:nvSpPr>
          <p:cNvPr id="11" name="Text 9"/>
          <p:cNvSpPr/>
          <p:nvPr/>
        </p:nvSpPr>
        <p:spPr>
          <a:xfrm>
            <a:off x="4267328" y="3371850"/>
            <a:ext cx="609344" cy="304800"/>
          </a:xfrm>
          <a:prstGeom prst="rect">
            <a:avLst/>
          </a:prstGeom>
          <a:noFill/>
          <a:ln/>
        </p:spPr>
        <p:txBody>
          <a:bodyPr wrap="square" lIns="0" tIns="0" rIns="0" bIns="0" rtlCol="0" anchor="t"/>
          <a:lstStyle/>
          <a:p>
            <a:pPr marL="0" indent="0" algn="ctr">
              <a:lnSpc>
                <a:spcPts val="2400"/>
              </a:lnSpc>
              <a:spcBef>
                <a:spcPts val="300"/>
              </a:spcBef>
              <a:spcAft>
                <a:spcPts val="300"/>
              </a:spcAft>
              <a:buNone/>
            </a:pPr>
            <a:r>
              <a:rPr lang="en-US" sz="1800" b="1" dirty="0">
                <a:solidFill>
                  <a:srgbClr val="FFFFFF"/>
                </a:solidFill>
                <a:latin typeface="Arial" pitchFamily="34" charset="0"/>
                <a:ea typeface="Arial" pitchFamily="34" charset="-122"/>
                <a:cs typeface="Arial" pitchFamily="34" charset="-120"/>
              </a:rPr>
              <a:t>Evals</a:t>
            </a:r>
            <a:endParaRPr lang="en-US" sz="1800" dirty="0"/>
          </a:p>
        </p:txBody>
      </p:sp>
      <p:sp>
        <p:nvSpPr>
          <p:cNvPr id="12" name="Text 10"/>
          <p:cNvSpPr/>
          <p:nvPr/>
        </p:nvSpPr>
        <p:spPr>
          <a:xfrm>
            <a:off x="4286760" y="3905250"/>
            <a:ext cx="570330"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FFFFFF"/>
                </a:solidFill>
                <a:latin typeface="Arial" pitchFamily="34" charset="0"/>
                <a:ea typeface="Arial" pitchFamily="34" charset="-122"/>
                <a:cs typeface="Arial" pitchFamily="34" charset="-120"/>
              </a:rPr>
              <a:t>Fill the gap</a:t>
            </a:r>
            <a:endParaRPr lang="en-US" sz="900" dirty="0"/>
          </a:p>
        </p:txBody>
      </p:sp>
      <p:sp>
        <p:nvSpPr>
          <p:cNvPr id="13" name="Text 11"/>
          <p:cNvSpPr/>
          <p:nvPr/>
        </p:nvSpPr>
        <p:spPr>
          <a:xfrm>
            <a:off x="5540693" y="3543300"/>
            <a:ext cx="291465" cy="342900"/>
          </a:xfrm>
          <a:prstGeom prst="rect">
            <a:avLst/>
          </a:prstGeom>
          <a:noFill/>
          <a:ln/>
        </p:spPr>
        <p:txBody>
          <a:bodyPr wrap="square" lIns="0" tIns="0" rIns="0" bIns="0" rtlCol="0" anchor="t"/>
          <a:lstStyle/>
          <a:p>
            <a:pPr marL="0" indent="0" algn="ctr">
              <a:lnSpc>
                <a:spcPts val="2700"/>
              </a:lnSpc>
              <a:spcBef>
                <a:spcPts val="300"/>
              </a:spcBef>
              <a:spcAft>
                <a:spcPts val="300"/>
              </a:spcAft>
              <a:buNone/>
            </a:pPr>
            <a:r>
              <a:rPr lang="en-US" sz="2250" dirty="0">
                <a:solidFill>
                  <a:srgbClr val="FFFFFF"/>
                </a:solidFill>
                <a:latin typeface="Arial" pitchFamily="34" charset="0"/>
                <a:ea typeface="Arial" pitchFamily="34" charset="-122"/>
                <a:cs typeface="Arial" pitchFamily="34" charset="-120"/>
              </a:rPr>
              <a:t>→</a:t>
            </a:r>
            <a:endParaRPr lang="en-US" sz="2250" dirty="0"/>
          </a:p>
        </p:txBody>
      </p:sp>
      <p:sp>
        <p:nvSpPr>
          <p:cNvPr id="14" name="Text 12"/>
          <p:cNvSpPr/>
          <p:nvPr/>
        </p:nvSpPr>
        <p:spPr>
          <a:xfrm>
            <a:off x="6134100" y="3181350"/>
            <a:ext cx="1333500" cy="1066800"/>
          </a:xfrm>
          <a:prstGeom prst="roundRect">
            <a:avLst>
              <a:gd name="adj" fmla="val 5714"/>
            </a:avLst>
          </a:prstGeom>
          <a:solidFill>
            <a:srgbClr val="FFFFFF"/>
          </a:solidFill>
          <a:ln/>
        </p:spPr>
        <p:txBody>
          <a:bodyPr wrap="square" rtlCol="0" anchor="ctr"/>
          <a:lstStyle/>
          <a:p>
            <a:pPr marL="0" indent="0">
              <a:buNone/>
            </a:pPr>
            <a:endParaRPr lang="en-US" dirty="0"/>
          </a:p>
        </p:txBody>
      </p:sp>
      <p:sp>
        <p:nvSpPr>
          <p:cNvPr id="15" name="Text 13"/>
          <p:cNvSpPr/>
          <p:nvPr/>
        </p:nvSpPr>
        <p:spPr>
          <a:xfrm>
            <a:off x="6535193" y="3371850"/>
            <a:ext cx="531165" cy="304800"/>
          </a:xfrm>
          <a:prstGeom prst="rect">
            <a:avLst/>
          </a:prstGeom>
          <a:noFill/>
          <a:ln/>
        </p:spPr>
        <p:txBody>
          <a:bodyPr wrap="square" lIns="0" tIns="0" rIns="0" bIns="0" rtlCol="0" anchor="t"/>
          <a:lstStyle/>
          <a:p>
            <a:pPr marL="0" indent="0" algn="ctr">
              <a:lnSpc>
                <a:spcPts val="2400"/>
              </a:lnSpc>
              <a:spcBef>
                <a:spcPts val="300"/>
              </a:spcBef>
              <a:spcAft>
                <a:spcPts val="300"/>
              </a:spcAft>
              <a:buNone/>
            </a:pPr>
            <a:r>
              <a:rPr lang="en-US" sz="1800" b="1" dirty="0">
                <a:solidFill>
                  <a:srgbClr val="0F766E"/>
                </a:solidFill>
                <a:latin typeface="Arial" pitchFamily="34" charset="0"/>
                <a:ea typeface="Arial" pitchFamily="34" charset="-122"/>
                <a:cs typeface="Arial" pitchFamily="34" charset="-120"/>
              </a:rPr>
              <a:t>Prod</a:t>
            </a:r>
            <a:endParaRPr lang="en-US" sz="1800" dirty="0"/>
          </a:p>
        </p:txBody>
      </p:sp>
      <p:sp>
        <p:nvSpPr>
          <p:cNvPr id="16" name="Text 14"/>
          <p:cNvSpPr/>
          <p:nvPr/>
        </p:nvSpPr>
        <p:spPr>
          <a:xfrm>
            <a:off x="6392497" y="3905250"/>
            <a:ext cx="816557" cy="152400"/>
          </a:xfrm>
          <a:prstGeom prst="rect">
            <a:avLst/>
          </a:prstGeom>
          <a:noFill/>
          <a:ln/>
        </p:spPr>
        <p:txBody>
          <a:bodyPr wrap="square" lIns="0" tIns="0" rIns="0" bIns="0" rtlCol="0" anchor="t"/>
          <a:lstStyle/>
          <a:p>
            <a:pPr marL="0" indent="0" algn="ctr">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Hard to achieve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EF6B5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3</a:t>
            </a:r>
            <a:endParaRPr lang="en-US" sz="900" dirty="0"/>
          </a:p>
        </p:txBody>
      </p:sp>
      <p:sp>
        <p:nvSpPr>
          <p:cNvPr id="4" name="Text 2"/>
          <p:cNvSpPr/>
          <p:nvPr/>
        </p:nvSpPr>
        <p:spPr>
          <a:xfrm>
            <a:off x="971848" y="285750"/>
            <a:ext cx="2218777"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The Three Gulfs</a:t>
            </a:r>
            <a:endParaRPr lang="en-US" sz="2250" dirty="0">
              <a:solidFill>
                <a:schemeClr val="bg1"/>
              </a:solidFill>
            </a:endParaRPr>
          </a:p>
        </p:txBody>
      </p:sp>
      <p:sp>
        <p:nvSpPr>
          <p:cNvPr id="5" name="Text 3"/>
          <p:cNvSpPr/>
          <p:nvPr/>
        </p:nvSpPr>
        <p:spPr>
          <a:xfrm>
            <a:off x="381000" y="933450"/>
            <a:ext cx="3098155" cy="3924300"/>
          </a:xfrm>
          <a:prstGeom prst="roundRect">
            <a:avLst>
              <a:gd name="adj" fmla="val 1968"/>
            </a:avLst>
          </a:prstGeom>
          <a:solidFill>
            <a:srgbClr val="F8FAFC"/>
          </a:solidFill>
          <a:ln/>
        </p:spPr>
        <p:txBody>
          <a:bodyPr wrap="square" rtlCol="0" anchor="ctr"/>
          <a:lstStyle/>
          <a:p>
            <a:pPr marL="0" indent="0">
              <a:buNone/>
            </a:pPr>
            <a:endParaRPr lang="en-US" dirty="0"/>
          </a:p>
        </p:txBody>
      </p:sp>
      <p:sp>
        <p:nvSpPr>
          <p:cNvPr id="6" name="Text 4"/>
          <p:cNvSpPr/>
          <p:nvPr/>
        </p:nvSpPr>
        <p:spPr>
          <a:xfrm>
            <a:off x="533400" y="2114550"/>
            <a:ext cx="2849222"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0F766E"/>
                </a:solidFill>
                <a:latin typeface="Arial" pitchFamily="34" charset="0"/>
                <a:ea typeface="Arial" pitchFamily="34" charset="-122"/>
                <a:cs typeface="Arial" pitchFamily="34" charset="-120"/>
              </a:rPr>
              <a:t>Specification</a:t>
            </a:r>
            <a:endParaRPr lang="en-US" sz="1050" dirty="0"/>
          </a:p>
        </p:txBody>
      </p:sp>
      <p:sp>
        <p:nvSpPr>
          <p:cNvPr id="7" name="Text 5"/>
          <p:cNvSpPr/>
          <p:nvPr/>
        </p:nvSpPr>
        <p:spPr>
          <a:xfrm>
            <a:off x="533400" y="2571750"/>
            <a:ext cx="2849222" cy="304800"/>
          </a:xfrm>
          <a:prstGeom prst="rect">
            <a:avLst/>
          </a:prstGeom>
          <a:noFill/>
          <a:ln/>
        </p:spPr>
        <p:txBody>
          <a:bodyPr wrap="square" lIns="0" tIns="0" rIns="0" bIns="0" rtlCol="0" anchor="t"/>
          <a:lstStyle/>
          <a:p>
            <a:pPr marL="0" indent="0" algn="l">
              <a:lnSpc>
                <a:spcPts val="1200"/>
              </a:lnSpc>
              <a:spcBef>
                <a:spcPts val="300"/>
              </a:spcBef>
              <a:spcAft>
                <a:spcPts val="900"/>
              </a:spcAft>
              <a:buNone/>
            </a:pPr>
            <a:r>
              <a:rPr lang="en-US" sz="900" dirty="0">
                <a:solidFill>
                  <a:srgbClr val="8B95A1"/>
                </a:solidFill>
                <a:latin typeface="Arial" pitchFamily="34" charset="0"/>
                <a:ea typeface="Arial" pitchFamily="34" charset="-122"/>
                <a:cs typeface="Arial" pitchFamily="34" charset="-120"/>
              </a:rPr>
              <a:t>Communicating intent to LLMs lacks immediate feedback.</a:t>
            </a:r>
            <a:endParaRPr lang="en-US" sz="900" dirty="0"/>
          </a:p>
        </p:txBody>
      </p:sp>
      <p:sp>
        <p:nvSpPr>
          <p:cNvPr id="8" name="Text 6"/>
          <p:cNvSpPr/>
          <p:nvPr/>
        </p:nvSpPr>
        <p:spPr>
          <a:xfrm>
            <a:off x="533400" y="3143250"/>
            <a:ext cx="2793355" cy="571500"/>
          </a:xfrm>
          <a:prstGeom prst="roundRect">
            <a:avLst>
              <a:gd name="adj" fmla="val 10667"/>
            </a:avLst>
          </a:prstGeom>
          <a:solidFill>
            <a:srgbClr val="FFFFFF"/>
          </a:solidFill>
          <a:ln/>
        </p:spPr>
        <p:txBody>
          <a:bodyPr wrap="square" rtlCol="0" anchor="ctr"/>
          <a:lstStyle/>
          <a:p>
            <a:pPr marL="0" indent="0">
              <a:buNone/>
            </a:pPr>
            <a:endParaRPr lang="en-US" dirty="0"/>
          </a:p>
        </p:txBody>
      </p:sp>
      <p:sp>
        <p:nvSpPr>
          <p:cNvPr id="9" name="Text 7"/>
          <p:cNvSpPr/>
          <p:nvPr/>
        </p:nvSpPr>
        <p:spPr>
          <a:xfrm>
            <a:off x="609600" y="3257550"/>
            <a:ext cx="2693774"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0F766E"/>
                </a:solidFill>
                <a:latin typeface="Arial" pitchFamily="34" charset="0"/>
                <a:ea typeface="Arial" pitchFamily="34" charset="-122"/>
                <a:cs typeface="Arial" pitchFamily="34" charset="-120"/>
              </a:rPr>
              <a:t>Solution</a:t>
            </a:r>
            <a:endParaRPr lang="en-US" sz="900" dirty="0"/>
          </a:p>
        </p:txBody>
      </p:sp>
      <p:sp>
        <p:nvSpPr>
          <p:cNvPr id="10" name="Text 8"/>
          <p:cNvSpPr/>
          <p:nvPr/>
        </p:nvSpPr>
        <p:spPr>
          <a:xfrm>
            <a:off x="609600" y="3448050"/>
            <a:ext cx="2693774"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Clear requirements, iterative prompts</a:t>
            </a:r>
            <a:endParaRPr lang="en-US" sz="900" dirty="0"/>
          </a:p>
        </p:txBody>
      </p:sp>
      <p:sp>
        <p:nvSpPr>
          <p:cNvPr id="11" name="Text 9"/>
          <p:cNvSpPr/>
          <p:nvPr/>
        </p:nvSpPr>
        <p:spPr>
          <a:xfrm>
            <a:off x="3631555" y="933450"/>
            <a:ext cx="2706291" cy="3924300"/>
          </a:xfrm>
          <a:prstGeom prst="roundRect">
            <a:avLst>
              <a:gd name="adj" fmla="val 2253"/>
            </a:avLst>
          </a:prstGeom>
          <a:solidFill>
            <a:srgbClr val="F8FAFC"/>
          </a:solidFill>
          <a:ln/>
        </p:spPr>
        <p:txBody>
          <a:bodyPr wrap="square" rtlCol="0" anchor="ctr"/>
          <a:lstStyle/>
          <a:p>
            <a:pPr marL="0" indent="0">
              <a:buNone/>
            </a:pPr>
            <a:endParaRPr lang="en-US" dirty="0"/>
          </a:p>
        </p:txBody>
      </p:sp>
      <p:sp>
        <p:nvSpPr>
          <p:cNvPr id="12" name="Text 10"/>
          <p:cNvSpPr/>
          <p:nvPr/>
        </p:nvSpPr>
        <p:spPr>
          <a:xfrm>
            <a:off x="3783955" y="2114550"/>
            <a:ext cx="2449520"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0F766E"/>
                </a:solidFill>
                <a:latin typeface="Arial" pitchFamily="34" charset="0"/>
                <a:ea typeface="Arial" pitchFamily="34" charset="-122"/>
                <a:cs typeface="Arial" pitchFamily="34" charset="-120"/>
              </a:rPr>
              <a:t>Data</a:t>
            </a:r>
            <a:endParaRPr lang="en-US" sz="1050" dirty="0"/>
          </a:p>
        </p:txBody>
      </p:sp>
      <p:sp>
        <p:nvSpPr>
          <p:cNvPr id="13" name="Text 11"/>
          <p:cNvSpPr/>
          <p:nvPr/>
        </p:nvSpPr>
        <p:spPr>
          <a:xfrm>
            <a:off x="3783955" y="2571750"/>
            <a:ext cx="2449520" cy="304800"/>
          </a:xfrm>
          <a:prstGeom prst="rect">
            <a:avLst/>
          </a:prstGeom>
          <a:noFill/>
          <a:ln/>
        </p:spPr>
        <p:txBody>
          <a:bodyPr wrap="square" lIns="0" tIns="0" rIns="0" bIns="0" rtlCol="0" anchor="t"/>
          <a:lstStyle/>
          <a:p>
            <a:pPr marL="0" indent="0" algn="l">
              <a:lnSpc>
                <a:spcPts val="1200"/>
              </a:lnSpc>
              <a:spcBef>
                <a:spcPts val="300"/>
              </a:spcBef>
              <a:spcAft>
                <a:spcPts val="900"/>
              </a:spcAft>
              <a:buNone/>
            </a:pPr>
            <a:r>
              <a:rPr lang="en-US" sz="900" dirty="0">
                <a:solidFill>
                  <a:srgbClr val="8B95A1"/>
                </a:solidFill>
                <a:latin typeface="Arial" pitchFamily="34" charset="0"/>
                <a:ea typeface="Arial" pitchFamily="34" charset="-122"/>
                <a:cs typeface="Arial" pitchFamily="34" charset="-120"/>
              </a:rPr>
              <a:t>Can't manually review every input/output at scale.</a:t>
            </a:r>
            <a:endParaRPr lang="en-US" sz="900" dirty="0"/>
          </a:p>
        </p:txBody>
      </p:sp>
      <p:sp>
        <p:nvSpPr>
          <p:cNvPr id="14" name="Text 12"/>
          <p:cNvSpPr/>
          <p:nvPr/>
        </p:nvSpPr>
        <p:spPr>
          <a:xfrm>
            <a:off x="3783955" y="3143250"/>
            <a:ext cx="2401491" cy="571500"/>
          </a:xfrm>
          <a:prstGeom prst="roundRect">
            <a:avLst>
              <a:gd name="adj" fmla="val 10667"/>
            </a:avLst>
          </a:prstGeom>
          <a:solidFill>
            <a:srgbClr val="FFFFFF"/>
          </a:solidFill>
          <a:ln/>
        </p:spPr>
        <p:txBody>
          <a:bodyPr wrap="square" rtlCol="0" anchor="ctr"/>
          <a:lstStyle/>
          <a:p>
            <a:pPr marL="0" indent="0">
              <a:buNone/>
            </a:pPr>
            <a:endParaRPr lang="en-US" dirty="0"/>
          </a:p>
        </p:txBody>
      </p:sp>
      <p:sp>
        <p:nvSpPr>
          <p:cNvPr id="15" name="Text 13"/>
          <p:cNvSpPr/>
          <p:nvPr/>
        </p:nvSpPr>
        <p:spPr>
          <a:xfrm>
            <a:off x="3860155" y="3257550"/>
            <a:ext cx="2294072"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0F766E"/>
                </a:solidFill>
                <a:latin typeface="Arial" pitchFamily="34" charset="0"/>
                <a:ea typeface="Arial" pitchFamily="34" charset="-122"/>
                <a:cs typeface="Arial" pitchFamily="34" charset="-120"/>
              </a:rPr>
              <a:t>Solution</a:t>
            </a:r>
            <a:endParaRPr lang="en-US" sz="900" dirty="0"/>
          </a:p>
        </p:txBody>
      </p:sp>
      <p:sp>
        <p:nvSpPr>
          <p:cNvPr id="16" name="Text 14"/>
          <p:cNvSpPr/>
          <p:nvPr/>
        </p:nvSpPr>
        <p:spPr>
          <a:xfrm>
            <a:off x="3860155" y="3448050"/>
            <a:ext cx="2294072"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Automated evaluation pipelines</a:t>
            </a:r>
            <a:endParaRPr lang="en-US" sz="900" dirty="0"/>
          </a:p>
        </p:txBody>
      </p:sp>
      <p:sp>
        <p:nvSpPr>
          <p:cNvPr id="17" name="Text 15"/>
          <p:cNvSpPr/>
          <p:nvPr/>
        </p:nvSpPr>
        <p:spPr>
          <a:xfrm>
            <a:off x="6490246" y="933450"/>
            <a:ext cx="2272754" cy="3924300"/>
          </a:xfrm>
          <a:prstGeom prst="roundRect">
            <a:avLst>
              <a:gd name="adj" fmla="val 2682"/>
            </a:avLst>
          </a:prstGeom>
          <a:solidFill>
            <a:srgbClr val="F8FAFC"/>
          </a:solidFill>
          <a:ln/>
        </p:spPr>
        <p:txBody>
          <a:bodyPr wrap="square" rtlCol="0" anchor="ctr"/>
          <a:lstStyle/>
          <a:p>
            <a:pPr marL="0" indent="0">
              <a:buNone/>
            </a:pPr>
            <a:endParaRPr lang="en-US" dirty="0"/>
          </a:p>
        </p:txBody>
      </p:sp>
      <p:sp>
        <p:nvSpPr>
          <p:cNvPr id="18" name="Text 16"/>
          <p:cNvSpPr/>
          <p:nvPr/>
        </p:nvSpPr>
        <p:spPr>
          <a:xfrm>
            <a:off x="6642646" y="2114550"/>
            <a:ext cx="2007313"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EF6B5E"/>
                </a:solidFill>
                <a:latin typeface="Arial" pitchFamily="34" charset="0"/>
                <a:ea typeface="Arial" pitchFamily="34" charset="-122"/>
                <a:cs typeface="Arial" pitchFamily="34" charset="-120"/>
              </a:rPr>
              <a:t>Generalization</a:t>
            </a:r>
            <a:endParaRPr lang="en-US" sz="1050" dirty="0"/>
          </a:p>
        </p:txBody>
      </p:sp>
      <p:sp>
        <p:nvSpPr>
          <p:cNvPr id="19" name="Text 17"/>
          <p:cNvSpPr/>
          <p:nvPr/>
        </p:nvSpPr>
        <p:spPr>
          <a:xfrm>
            <a:off x="6642646" y="2571750"/>
            <a:ext cx="2007313" cy="304800"/>
          </a:xfrm>
          <a:prstGeom prst="rect">
            <a:avLst/>
          </a:prstGeom>
          <a:noFill/>
          <a:ln/>
        </p:spPr>
        <p:txBody>
          <a:bodyPr wrap="square" lIns="0" tIns="0" rIns="0" bIns="0" rtlCol="0" anchor="t"/>
          <a:lstStyle/>
          <a:p>
            <a:pPr marL="0" indent="0" algn="l">
              <a:lnSpc>
                <a:spcPts val="1200"/>
              </a:lnSpc>
              <a:spcBef>
                <a:spcPts val="300"/>
              </a:spcBef>
              <a:spcAft>
                <a:spcPts val="900"/>
              </a:spcAft>
              <a:buNone/>
            </a:pPr>
            <a:r>
              <a:rPr lang="en-US" sz="900" dirty="0">
                <a:solidFill>
                  <a:srgbClr val="8B95A1"/>
                </a:solidFill>
                <a:latin typeface="Arial" pitchFamily="34" charset="0"/>
                <a:ea typeface="Arial" pitchFamily="34" charset="-122"/>
                <a:cs typeface="Arial" pitchFamily="34" charset="-120"/>
              </a:rPr>
              <a:t>Models fail unexpectedly on edge cases.</a:t>
            </a:r>
            <a:endParaRPr lang="en-US" sz="900" dirty="0"/>
          </a:p>
        </p:txBody>
      </p:sp>
      <p:sp>
        <p:nvSpPr>
          <p:cNvPr id="20" name="Text 18"/>
          <p:cNvSpPr/>
          <p:nvPr/>
        </p:nvSpPr>
        <p:spPr>
          <a:xfrm>
            <a:off x="6642646" y="3143250"/>
            <a:ext cx="1967954" cy="571500"/>
          </a:xfrm>
          <a:prstGeom prst="roundRect">
            <a:avLst>
              <a:gd name="adj" fmla="val 10667"/>
            </a:avLst>
          </a:prstGeom>
          <a:solidFill>
            <a:srgbClr val="FFFFFF"/>
          </a:solidFill>
          <a:ln/>
        </p:spPr>
        <p:txBody>
          <a:bodyPr wrap="square" rtlCol="0" anchor="ctr"/>
          <a:lstStyle/>
          <a:p>
            <a:pPr marL="0" indent="0">
              <a:buNone/>
            </a:pPr>
            <a:endParaRPr lang="en-US" dirty="0"/>
          </a:p>
        </p:txBody>
      </p:sp>
      <p:sp>
        <p:nvSpPr>
          <p:cNvPr id="21" name="Text 19"/>
          <p:cNvSpPr/>
          <p:nvPr/>
        </p:nvSpPr>
        <p:spPr>
          <a:xfrm>
            <a:off x="6718846" y="3257550"/>
            <a:ext cx="1851865"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EF6B5E"/>
                </a:solidFill>
                <a:latin typeface="Arial" pitchFamily="34" charset="0"/>
                <a:ea typeface="Arial" pitchFamily="34" charset="-122"/>
                <a:cs typeface="Arial" pitchFamily="34" charset="-120"/>
              </a:rPr>
              <a:t>Solution</a:t>
            </a:r>
            <a:endParaRPr lang="en-US" sz="900" dirty="0"/>
          </a:p>
        </p:txBody>
      </p:sp>
      <p:sp>
        <p:nvSpPr>
          <p:cNvPr id="22" name="Text 20"/>
          <p:cNvSpPr/>
          <p:nvPr/>
        </p:nvSpPr>
        <p:spPr>
          <a:xfrm>
            <a:off x="6718846" y="3448050"/>
            <a:ext cx="1851865"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Comprehensive test datasets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EF6B5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3</a:t>
            </a:r>
            <a:endParaRPr lang="en-US" sz="900" dirty="0"/>
          </a:p>
        </p:txBody>
      </p:sp>
      <p:sp>
        <p:nvSpPr>
          <p:cNvPr id="4" name="Text 2"/>
          <p:cNvSpPr/>
          <p:nvPr/>
        </p:nvSpPr>
        <p:spPr>
          <a:xfrm>
            <a:off x="971848" y="285750"/>
            <a:ext cx="2893853"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Types of Evaluations</a:t>
            </a:r>
            <a:endParaRPr lang="en-US" sz="2250" dirty="0">
              <a:solidFill>
                <a:schemeClr val="bg1"/>
              </a:solidFill>
            </a:endParaRPr>
          </a:p>
        </p:txBody>
      </p:sp>
      <p:sp>
        <p:nvSpPr>
          <p:cNvPr id="5" name="Text 3"/>
          <p:cNvSpPr/>
          <p:nvPr/>
        </p:nvSpPr>
        <p:spPr>
          <a:xfrm>
            <a:off x="381000" y="933450"/>
            <a:ext cx="1619994" cy="3924300"/>
          </a:xfrm>
          <a:prstGeom prst="roundRect">
            <a:avLst>
              <a:gd name="adj" fmla="val 3763"/>
            </a:avLst>
          </a:prstGeom>
          <a:solidFill>
            <a:srgbClr val="F8FAFC"/>
          </a:solidFill>
          <a:ln/>
        </p:spPr>
        <p:txBody>
          <a:bodyPr wrap="square" rtlCol="0" anchor="ctr"/>
          <a:lstStyle/>
          <a:p>
            <a:pPr marL="0" indent="0">
              <a:buNone/>
            </a:pPr>
            <a:endParaRPr lang="en-US" dirty="0"/>
          </a:p>
        </p:txBody>
      </p:sp>
      <p:sp>
        <p:nvSpPr>
          <p:cNvPr id="6" name="Text 4"/>
          <p:cNvSpPr/>
          <p:nvPr/>
        </p:nvSpPr>
        <p:spPr>
          <a:xfrm>
            <a:off x="533400" y="2057400"/>
            <a:ext cx="1341498"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0F766E"/>
                </a:solidFill>
                <a:latin typeface="Arial" pitchFamily="34" charset="0"/>
                <a:ea typeface="Arial" pitchFamily="34" charset="-122"/>
                <a:cs typeface="Arial" pitchFamily="34" charset="-120"/>
              </a:rPr>
              <a:t>Code-Based</a:t>
            </a:r>
            <a:endParaRPr lang="en-US" sz="1050" dirty="0"/>
          </a:p>
        </p:txBody>
      </p:sp>
      <p:sp>
        <p:nvSpPr>
          <p:cNvPr id="7" name="Text 5"/>
          <p:cNvSpPr/>
          <p:nvPr/>
        </p:nvSpPr>
        <p:spPr>
          <a:xfrm>
            <a:off x="533400" y="2514600"/>
            <a:ext cx="1341498" cy="1524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Fast &amp; deterministic</a:t>
            </a:r>
            <a:endParaRPr lang="en-US" sz="900" dirty="0"/>
          </a:p>
        </p:txBody>
      </p:sp>
      <p:sp>
        <p:nvSpPr>
          <p:cNvPr id="8" name="Text 6"/>
          <p:cNvSpPr/>
          <p:nvPr/>
        </p:nvSpPr>
        <p:spPr>
          <a:xfrm>
            <a:off x="533400" y="2895600"/>
            <a:ext cx="1315194"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Exact match</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Regex patterns</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PHI detection</a:t>
            </a:r>
            <a:endParaRPr lang="en-US" sz="1350" dirty="0"/>
          </a:p>
        </p:txBody>
      </p:sp>
      <p:sp>
        <p:nvSpPr>
          <p:cNvPr id="9" name="Text 7"/>
          <p:cNvSpPr/>
          <p:nvPr/>
        </p:nvSpPr>
        <p:spPr>
          <a:xfrm>
            <a:off x="2153394" y="933450"/>
            <a:ext cx="1772543" cy="3924300"/>
          </a:xfrm>
          <a:prstGeom prst="roundRect">
            <a:avLst>
              <a:gd name="adj" fmla="val 3439"/>
            </a:avLst>
          </a:prstGeom>
          <a:solidFill>
            <a:srgbClr val="F8FAFC"/>
          </a:solidFill>
          <a:ln/>
        </p:spPr>
        <p:txBody>
          <a:bodyPr wrap="square" rtlCol="0" anchor="ctr"/>
          <a:lstStyle/>
          <a:p>
            <a:pPr marL="0" indent="0">
              <a:buNone/>
            </a:pPr>
            <a:endParaRPr lang="en-US" dirty="0"/>
          </a:p>
        </p:txBody>
      </p:sp>
      <p:sp>
        <p:nvSpPr>
          <p:cNvPr id="10" name="Text 8"/>
          <p:cNvSpPr/>
          <p:nvPr/>
        </p:nvSpPr>
        <p:spPr>
          <a:xfrm>
            <a:off x="2305794" y="2057400"/>
            <a:ext cx="1497098"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0F766E"/>
                </a:solidFill>
                <a:latin typeface="Arial" pitchFamily="34" charset="0"/>
                <a:ea typeface="Arial" pitchFamily="34" charset="-122"/>
                <a:cs typeface="Arial" pitchFamily="34" charset="-120"/>
              </a:rPr>
              <a:t>LLM-as-Judge</a:t>
            </a:r>
            <a:endParaRPr lang="en-US" sz="1050" dirty="0"/>
          </a:p>
        </p:txBody>
      </p:sp>
      <p:sp>
        <p:nvSpPr>
          <p:cNvPr id="11" name="Text 9"/>
          <p:cNvSpPr/>
          <p:nvPr/>
        </p:nvSpPr>
        <p:spPr>
          <a:xfrm>
            <a:off x="2305794" y="2514600"/>
            <a:ext cx="1497098" cy="1524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Subjective quality</a:t>
            </a:r>
            <a:endParaRPr lang="en-US" sz="900" dirty="0"/>
          </a:p>
        </p:txBody>
      </p:sp>
      <p:sp>
        <p:nvSpPr>
          <p:cNvPr id="12" name="Text 10"/>
          <p:cNvSpPr/>
          <p:nvPr/>
        </p:nvSpPr>
        <p:spPr>
          <a:xfrm>
            <a:off x="2305794" y="2895600"/>
            <a:ext cx="1467743"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Response quality</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Custom criteria</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Empathy scoring</a:t>
            </a:r>
            <a:endParaRPr lang="en-US" sz="1350" dirty="0"/>
          </a:p>
        </p:txBody>
      </p:sp>
      <p:sp>
        <p:nvSpPr>
          <p:cNvPr id="13" name="Text 11"/>
          <p:cNvSpPr/>
          <p:nvPr/>
        </p:nvSpPr>
        <p:spPr>
          <a:xfrm>
            <a:off x="4078337" y="933450"/>
            <a:ext cx="1791295" cy="3924300"/>
          </a:xfrm>
          <a:prstGeom prst="roundRect">
            <a:avLst>
              <a:gd name="adj" fmla="val 3403"/>
            </a:avLst>
          </a:prstGeom>
          <a:solidFill>
            <a:srgbClr val="F8FAFC"/>
          </a:solidFill>
          <a:ln/>
        </p:spPr>
        <p:txBody>
          <a:bodyPr wrap="square" rtlCol="0" anchor="ctr"/>
          <a:lstStyle/>
          <a:p>
            <a:pPr marL="0" indent="0">
              <a:buNone/>
            </a:pPr>
            <a:endParaRPr lang="en-US" dirty="0"/>
          </a:p>
        </p:txBody>
      </p:sp>
      <p:sp>
        <p:nvSpPr>
          <p:cNvPr id="14" name="Text 12"/>
          <p:cNvSpPr/>
          <p:nvPr/>
        </p:nvSpPr>
        <p:spPr>
          <a:xfrm>
            <a:off x="4230737" y="2057400"/>
            <a:ext cx="1516225" cy="190500"/>
          </a:xfrm>
          <a:prstGeom prst="rect">
            <a:avLst/>
          </a:prstGeom>
          <a:noFill/>
          <a:ln/>
        </p:spPr>
        <p:txBody>
          <a:bodyPr wrap="square" lIns="0" tIns="0" rIns="0" bIns="0" rtlCol="0" anchor="t"/>
          <a:lstStyle/>
          <a:p>
            <a:pPr marL="0" indent="0" algn="l">
              <a:lnSpc>
                <a:spcPts val="1500"/>
              </a:lnSpc>
              <a:spcBef>
                <a:spcPts val="300"/>
              </a:spcBef>
              <a:spcAft>
                <a:spcPts val="600"/>
              </a:spcAft>
              <a:buNone/>
            </a:pPr>
            <a:r>
              <a:rPr lang="en-US" sz="1050" b="1" dirty="0">
                <a:solidFill>
                  <a:srgbClr val="EF6B5E"/>
                </a:solidFill>
                <a:latin typeface="Arial" pitchFamily="34" charset="0"/>
                <a:ea typeface="Arial" pitchFamily="34" charset="-122"/>
                <a:cs typeface="Arial" pitchFamily="34" charset="-120"/>
              </a:rPr>
              <a:t>Human-in-Loop</a:t>
            </a:r>
            <a:endParaRPr lang="en-US" sz="1050" dirty="0"/>
          </a:p>
        </p:txBody>
      </p:sp>
      <p:sp>
        <p:nvSpPr>
          <p:cNvPr id="15" name="Text 13"/>
          <p:cNvSpPr/>
          <p:nvPr/>
        </p:nvSpPr>
        <p:spPr>
          <a:xfrm>
            <a:off x="4230737" y="2514600"/>
            <a:ext cx="1516225" cy="152400"/>
          </a:xfrm>
          <a:prstGeom prst="rect">
            <a:avLst/>
          </a:prstGeom>
          <a:noFill/>
          <a:ln/>
        </p:spPr>
        <p:txBody>
          <a:bodyPr wrap="square" lIns="0" tIns="0" rIns="0" bIns="0" rtlCol="0" anchor="t"/>
          <a:lstStyle/>
          <a:p>
            <a:pPr marL="0" indent="0" algn="l">
              <a:lnSpc>
                <a:spcPts val="1200"/>
              </a:lnSpc>
              <a:spcBef>
                <a:spcPts val="300"/>
              </a:spcBef>
              <a:spcAft>
                <a:spcPts val="600"/>
              </a:spcAft>
              <a:buNone/>
            </a:pPr>
            <a:r>
              <a:rPr lang="en-US" sz="900" dirty="0">
                <a:solidFill>
                  <a:srgbClr val="8B95A1"/>
                </a:solidFill>
                <a:latin typeface="Arial" pitchFamily="34" charset="0"/>
                <a:ea typeface="Arial" pitchFamily="34" charset="-122"/>
                <a:cs typeface="Arial" pitchFamily="34" charset="-120"/>
              </a:rPr>
              <a:t>Expert review</a:t>
            </a:r>
            <a:endParaRPr lang="en-US" sz="900" dirty="0"/>
          </a:p>
        </p:txBody>
      </p:sp>
      <p:sp>
        <p:nvSpPr>
          <p:cNvPr id="16" name="Text 14"/>
          <p:cNvSpPr/>
          <p:nvPr/>
        </p:nvSpPr>
        <p:spPr>
          <a:xfrm>
            <a:off x="4230737" y="2895600"/>
            <a:ext cx="1486495"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Domain expertise</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Annotation</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Edge cases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304800"/>
            <a:ext cx="514648" cy="304800"/>
          </a:xfrm>
          <a:prstGeom prst="roundRect">
            <a:avLst>
              <a:gd name="adj" fmla="val 20000"/>
            </a:avLst>
          </a:prstGeom>
          <a:solidFill>
            <a:srgbClr val="EF6B5E"/>
          </a:solidFill>
          <a:ln/>
        </p:spPr>
        <p:txBody>
          <a:bodyPr wrap="square" rtlCol="0" anchor="ctr"/>
          <a:lstStyle/>
          <a:p>
            <a:pPr marL="0" indent="0">
              <a:buNone/>
            </a:pPr>
            <a:endParaRPr lang="en-US" dirty="0"/>
          </a:p>
        </p:txBody>
      </p:sp>
      <p:sp>
        <p:nvSpPr>
          <p:cNvPr id="3" name="Text 1"/>
          <p:cNvSpPr/>
          <p:nvPr/>
        </p:nvSpPr>
        <p:spPr>
          <a:xfrm>
            <a:off x="476250" y="381000"/>
            <a:ext cx="419398"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3</a:t>
            </a:r>
            <a:endParaRPr lang="en-US" sz="900" dirty="0"/>
          </a:p>
        </p:txBody>
      </p:sp>
      <p:sp>
        <p:nvSpPr>
          <p:cNvPr id="4" name="Text 2"/>
          <p:cNvSpPr/>
          <p:nvPr/>
        </p:nvSpPr>
        <p:spPr>
          <a:xfrm>
            <a:off x="971848" y="285750"/>
            <a:ext cx="3465853" cy="342900"/>
          </a:xfrm>
          <a:prstGeom prst="rect">
            <a:avLst/>
          </a:prstGeom>
          <a:noFill/>
          <a:ln/>
        </p:spPr>
        <p:txBody>
          <a:bodyPr wrap="square" lIns="0" tIns="0" rIns="0" bIns="0" rtlCol="0" anchor="t"/>
          <a:lstStyle/>
          <a:p>
            <a:pPr marL="0" indent="0" algn="l">
              <a:lnSpc>
                <a:spcPts val="2700"/>
              </a:lnSpc>
              <a:buNone/>
            </a:pPr>
            <a:r>
              <a:rPr lang="en-US" sz="2250" b="1" dirty="0">
                <a:solidFill>
                  <a:schemeClr val="bg1"/>
                </a:solidFill>
                <a:latin typeface="Arial" pitchFamily="34" charset="0"/>
                <a:ea typeface="Arial" pitchFamily="34" charset="-122"/>
                <a:cs typeface="Arial" pitchFamily="34" charset="-120"/>
              </a:rPr>
              <a:t>Golden Datasets &amp; CI/CD</a:t>
            </a:r>
            <a:endParaRPr lang="en-US" sz="2250" dirty="0">
              <a:solidFill>
                <a:schemeClr val="bg1"/>
              </a:solidFill>
            </a:endParaRPr>
          </a:p>
        </p:txBody>
      </p:sp>
      <p:sp>
        <p:nvSpPr>
          <p:cNvPr id="5" name="Text 3"/>
          <p:cNvSpPr/>
          <p:nvPr/>
        </p:nvSpPr>
        <p:spPr>
          <a:xfrm>
            <a:off x="381000" y="1866900"/>
            <a:ext cx="4113452" cy="266700"/>
          </a:xfrm>
          <a:prstGeom prst="rect">
            <a:avLst/>
          </a:prstGeom>
          <a:noFill/>
          <a:ln/>
        </p:spPr>
        <p:txBody>
          <a:bodyPr wrap="square" lIns="0" tIns="0" rIns="0" bIns="0" rtlCol="0" anchor="t"/>
          <a:lstStyle/>
          <a:p>
            <a:pPr marL="0" indent="0" algn="l">
              <a:lnSpc>
                <a:spcPts val="2100"/>
              </a:lnSpc>
              <a:spcBef>
                <a:spcPts val="300"/>
              </a:spcBef>
              <a:spcAft>
                <a:spcPts val="600"/>
              </a:spcAft>
              <a:buNone/>
            </a:pPr>
            <a:r>
              <a:rPr lang="en-US" sz="1350" b="1" dirty="0">
                <a:solidFill>
                  <a:srgbClr val="0F766E"/>
                </a:solidFill>
                <a:latin typeface="Arial" pitchFamily="34" charset="0"/>
                <a:ea typeface="Arial" pitchFamily="34" charset="-122"/>
                <a:cs typeface="Arial" pitchFamily="34" charset="-120"/>
              </a:rPr>
              <a:t>Golden Datasets</a:t>
            </a:r>
            <a:endParaRPr lang="en-US" sz="1350" dirty="0"/>
          </a:p>
        </p:txBody>
      </p:sp>
      <p:sp>
        <p:nvSpPr>
          <p:cNvPr id="6" name="Text 4"/>
          <p:cNvSpPr/>
          <p:nvPr/>
        </p:nvSpPr>
        <p:spPr>
          <a:xfrm>
            <a:off x="381000" y="2400300"/>
            <a:ext cx="4113452" cy="190500"/>
          </a:xfrm>
          <a:prstGeom prst="rect">
            <a:avLst/>
          </a:prstGeom>
          <a:noFill/>
          <a:ln/>
        </p:spPr>
        <p:txBody>
          <a:bodyPr wrap="square" lIns="0" tIns="0" rIns="0" bIns="0" rtlCol="0" anchor="t"/>
          <a:lstStyle/>
          <a:p>
            <a:pPr marL="0" indent="0" algn="l">
              <a:lnSpc>
                <a:spcPts val="1500"/>
              </a:lnSpc>
              <a:spcBef>
                <a:spcPts val="300"/>
              </a:spcBef>
              <a:spcAft>
                <a:spcPts val="900"/>
              </a:spcAft>
              <a:buNone/>
            </a:pPr>
            <a:r>
              <a:rPr lang="en-US" sz="1050" dirty="0">
                <a:solidFill>
                  <a:srgbClr val="8B95A1"/>
                </a:solidFill>
                <a:latin typeface="Arial" pitchFamily="34" charset="0"/>
                <a:ea typeface="Arial" pitchFamily="34" charset="-122"/>
                <a:cs typeface="Arial" pitchFamily="34" charset="-120"/>
              </a:rPr>
              <a:t>Your source of truth for testing.</a:t>
            </a:r>
            <a:endParaRPr lang="en-US" sz="1050" dirty="0"/>
          </a:p>
        </p:txBody>
      </p:sp>
      <p:sp>
        <p:nvSpPr>
          <p:cNvPr id="7" name="Text 5"/>
          <p:cNvSpPr/>
          <p:nvPr/>
        </p:nvSpPr>
        <p:spPr>
          <a:xfrm>
            <a:off x="381000" y="2857500"/>
            <a:ext cx="4032796" cy="1104900"/>
          </a:xfrm>
          <a:prstGeom prst="roundRect">
            <a:avLst>
              <a:gd name="adj" fmla="val 5517"/>
            </a:avLst>
          </a:prstGeom>
          <a:solidFill>
            <a:srgbClr val="F8FAFC"/>
          </a:solidFill>
          <a:ln/>
        </p:spPr>
        <p:txBody>
          <a:bodyPr wrap="square" rtlCol="0" anchor="ctr"/>
          <a:lstStyle/>
          <a:p>
            <a:pPr marL="0" indent="0">
              <a:buNone/>
            </a:pPr>
            <a:endParaRPr lang="en-US" dirty="0"/>
          </a:p>
        </p:txBody>
      </p:sp>
      <p:sp>
        <p:nvSpPr>
          <p:cNvPr id="8" name="Text 6"/>
          <p:cNvSpPr/>
          <p:nvPr/>
        </p:nvSpPr>
        <p:spPr>
          <a:xfrm>
            <a:off x="495300" y="2971800"/>
            <a:ext cx="3804196" cy="876300"/>
          </a:xfrm>
          <a:prstGeom prst="rect">
            <a:avLst/>
          </a:prstGeom>
          <a:noFill/>
          <a:ln/>
        </p:spPr>
        <p:txBody>
          <a:bodyPr wrap="square" lIns="76200" tIns="0" rIns="0" bIns="0" rtlCol="0" anchor="t"/>
          <a:lstStyle/>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Inputs — Representative queries</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Expected — Correct responses</a:t>
            </a:r>
            <a:endParaRPr lang="en-US" sz="1350" dirty="0"/>
          </a:p>
          <a:p>
            <a:pPr marL="76200" indent="-76200"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Metadata — Edge cases, difficulty</a:t>
            </a:r>
            <a:endParaRPr lang="en-US" sz="1350" dirty="0"/>
          </a:p>
        </p:txBody>
      </p:sp>
      <p:sp>
        <p:nvSpPr>
          <p:cNvPr id="9" name="Text 7"/>
          <p:cNvSpPr/>
          <p:nvPr/>
        </p:nvSpPr>
        <p:spPr>
          <a:xfrm>
            <a:off x="4718596" y="1695450"/>
            <a:ext cx="4044404" cy="2400300"/>
          </a:xfrm>
          <a:prstGeom prst="roundRect">
            <a:avLst>
              <a:gd name="adj" fmla="val 2540"/>
            </a:avLst>
          </a:prstGeom>
          <a:solidFill>
            <a:srgbClr val="F8FAFC"/>
          </a:solidFill>
          <a:ln/>
        </p:spPr>
        <p:txBody>
          <a:bodyPr wrap="square" rtlCol="0" anchor="ctr"/>
          <a:lstStyle/>
          <a:p>
            <a:pPr marL="0" indent="0">
              <a:buNone/>
            </a:pPr>
            <a:endParaRPr lang="en-US" dirty="0"/>
          </a:p>
        </p:txBody>
      </p:sp>
      <p:sp>
        <p:nvSpPr>
          <p:cNvPr id="10" name="Text 8"/>
          <p:cNvSpPr/>
          <p:nvPr/>
        </p:nvSpPr>
        <p:spPr>
          <a:xfrm>
            <a:off x="4870996" y="1885950"/>
            <a:ext cx="3814396" cy="190500"/>
          </a:xfrm>
          <a:prstGeom prst="rect">
            <a:avLst/>
          </a:prstGeom>
          <a:noFill/>
          <a:ln/>
        </p:spPr>
        <p:txBody>
          <a:bodyPr wrap="square" lIns="0" tIns="0" rIns="0" bIns="0" rtlCol="0" anchor="t"/>
          <a:lstStyle/>
          <a:p>
            <a:pPr marL="0" indent="0" algn="l">
              <a:lnSpc>
                <a:spcPts val="1500"/>
              </a:lnSpc>
              <a:spcBef>
                <a:spcPts val="300"/>
              </a:spcBef>
              <a:spcAft>
                <a:spcPts val="750"/>
              </a:spcAft>
              <a:buNone/>
            </a:pPr>
            <a:r>
              <a:rPr lang="en-US" sz="1050" b="1" dirty="0">
                <a:solidFill>
                  <a:srgbClr val="1A1A2E"/>
                </a:solidFill>
                <a:latin typeface="Arial" pitchFamily="34" charset="0"/>
                <a:ea typeface="Arial" pitchFamily="34" charset="-122"/>
                <a:cs typeface="Arial" pitchFamily="34" charset="-120"/>
              </a:rPr>
              <a:t>Evaluation Gates</a:t>
            </a:r>
            <a:endParaRPr lang="en-US" sz="1050" dirty="0"/>
          </a:p>
        </p:txBody>
      </p:sp>
      <p:sp>
        <p:nvSpPr>
          <p:cNvPr id="11" name="Text 9"/>
          <p:cNvSpPr/>
          <p:nvPr/>
        </p:nvSpPr>
        <p:spPr>
          <a:xfrm>
            <a:off x="4870996" y="2324100"/>
            <a:ext cx="3739604" cy="1143000"/>
          </a:xfrm>
          <a:prstGeom prst="roundRect">
            <a:avLst>
              <a:gd name="adj" fmla="val 5333"/>
            </a:avLst>
          </a:prstGeom>
          <a:solidFill>
            <a:srgbClr val="FFFFFF"/>
          </a:solidFill>
          <a:ln/>
        </p:spPr>
        <p:txBody>
          <a:bodyPr wrap="square" rtlCol="0" anchor="ctr"/>
          <a:lstStyle/>
          <a:p>
            <a:pPr marL="0" indent="0">
              <a:buNone/>
            </a:pPr>
            <a:endParaRPr lang="en-US" dirty="0"/>
          </a:p>
        </p:txBody>
      </p:sp>
      <p:sp>
        <p:nvSpPr>
          <p:cNvPr id="12" name="Text 10"/>
          <p:cNvSpPr/>
          <p:nvPr/>
        </p:nvSpPr>
        <p:spPr>
          <a:xfrm>
            <a:off x="4966246" y="245745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phi_safety: 1.0 # Zero tolerance</a:t>
            </a:r>
            <a:endParaRPr lang="en-US" sz="1500" dirty="0"/>
          </a:p>
        </p:txBody>
      </p:sp>
      <p:sp>
        <p:nvSpPr>
          <p:cNvPr id="13" name="Text 11"/>
          <p:cNvSpPr/>
          <p:nvPr/>
        </p:nvSpPr>
        <p:spPr>
          <a:xfrm>
            <a:off x="4966246" y="276225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accuracy: 0.85</a:t>
            </a:r>
            <a:endParaRPr lang="en-US" sz="1500" dirty="0"/>
          </a:p>
        </p:txBody>
      </p:sp>
      <p:sp>
        <p:nvSpPr>
          <p:cNvPr id="14" name="Text 12"/>
          <p:cNvSpPr/>
          <p:nvPr/>
        </p:nvSpPr>
        <p:spPr>
          <a:xfrm>
            <a:off x="4966246" y="3067050"/>
            <a:ext cx="3620086" cy="266700"/>
          </a:xfrm>
          <a:prstGeom prst="rect">
            <a:avLst/>
          </a:prstGeom>
          <a:noFill/>
          <a:ln/>
        </p:spPr>
        <p:txBody>
          <a:bodyPr wrap="square" lIns="0" tIns="0" rIns="0" bIns="0" rtlCol="0" anchor="t"/>
          <a:lstStyle/>
          <a:p>
            <a:pPr marL="0" indent="0" algn="l">
              <a:lnSpc>
                <a:spcPts val="2100"/>
              </a:lnSpc>
              <a:spcBef>
                <a:spcPts val="300"/>
              </a:spcBef>
              <a:spcAft>
                <a:spcPts val="300"/>
              </a:spcAft>
              <a:buNone/>
            </a:pPr>
            <a:r>
              <a:rPr lang="en-US" sz="1500" dirty="0">
                <a:solidFill>
                  <a:srgbClr val="1A1A2E"/>
                </a:solidFill>
                <a:latin typeface="Arial" pitchFamily="34" charset="0"/>
                <a:ea typeface="Arial" pitchFamily="34" charset="-122"/>
                <a:cs typeface="Arial" pitchFamily="34" charset="-120"/>
              </a:rPr>
              <a:t>response_quality: 0.80</a:t>
            </a:r>
            <a:endParaRPr lang="en-US" sz="1500" dirty="0"/>
          </a:p>
        </p:txBody>
      </p:sp>
      <p:sp>
        <p:nvSpPr>
          <p:cNvPr id="15" name="Text 13"/>
          <p:cNvSpPr/>
          <p:nvPr/>
        </p:nvSpPr>
        <p:spPr>
          <a:xfrm>
            <a:off x="4870996" y="3752850"/>
            <a:ext cx="3814396"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dirty="0">
                <a:solidFill>
                  <a:srgbClr val="8B95A1"/>
                </a:solidFill>
                <a:latin typeface="Arial" pitchFamily="34" charset="0"/>
                <a:ea typeface="Arial" pitchFamily="34" charset="-122"/>
                <a:cs typeface="Arial" pitchFamily="34" charset="-120"/>
              </a:rPr>
              <a:t>Block deployment if thresholds fail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252A2E"/>
        </a:solidFill>
        <a:effectLst/>
      </p:bgPr>
    </p:bg>
    <p:spTree>
      <p:nvGrpSpPr>
        <p:cNvPr id="1" name=""/>
        <p:cNvGrpSpPr/>
        <p:nvPr/>
      </p:nvGrpSpPr>
      <p:grpSpPr>
        <a:xfrm>
          <a:off x="0" y="0"/>
          <a:ext cx="0" cy="0"/>
          <a:chOff x="0" y="0"/>
          <a:chExt cx="0" cy="0"/>
        </a:xfrm>
      </p:grpSpPr>
      <p:sp>
        <p:nvSpPr>
          <p:cNvPr id="2" name="Text 0"/>
          <p:cNvSpPr/>
          <p:nvPr/>
        </p:nvSpPr>
        <p:spPr>
          <a:xfrm>
            <a:off x="381000" y="285750"/>
            <a:ext cx="4284536" cy="342900"/>
          </a:xfrm>
          <a:prstGeom prst="rect">
            <a:avLst/>
          </a:prstGeom>
          <a:noFill/>
          <a:ln/>
        </p:spPr>
        <p:txBody>
          <a:bodyPr wrap="square" lIns="0" tIns="0" rIns="0" bIns="0" rtlCol="0" anchor="t"/>
          <a:lstStyle/>
          <a:p>
            <a:pPr marL="0" indent="0" algn="l">
              <a:lnSpc>
                <a:spcPts val="2700"/>
              </a:lnSpc>
              <a:spcAft>
                <a:spcPts val="1200"/>
              </a:spcAft>
              <a:buNone/>
            </a:pPr>
            <a:r>
              <a:rPr lang="en-US" sz="2250" b="1" dirty="0">
                <a:solidFill>
                  <a:srgbClr val="FFFFFF"/>
                </a:solidFill>
                <a:latin typeface="Arial" pitchFamily="34" charset="0"/>
                <a:ea typeface="Arial" pitchFamily="34" charset="-122"/>
                <a:cs typeface="Arial" pitchFamily="34" charset="-120"/>
              </a:rPr>
              <a:t>Key Takeaways</a:t>
            </a:r>
            <a:endParaRPr lang="en-US" sz="2250" dirty="0"/>
          </a:p>
        </p:txBody>
      </p:sp>
      <p:sp>
        <p:nvSpPr>
          <p:cNvPr id="3" name="Text 1"/>
          <p:cNvSpPr/>
          <p:nvPr/>
        </p:nvSpPr>
        <p:spPr>
          <a:xfrm>
            <a:off x="381000" y="933450"/>
            <a:ext cx="2267694" cy="3924300"/>
          </a:xfrm>
          <a:prstGeom prst="roundRect">
            <a:avLst>
              <a:gd name="adj" fmla="val 2688"/>
            </a:avLst>
          </a:prstGeom>
          <a:solidFill>
            <a:srgbClr val="FFFFFF"/>
          </a:solidFill>
          <a:ln/>
        </p:spPr>
        <p:txBody>
          <a:bodyPr wrap="square" rtlCol="0" anchor="ctr"/>
          <a:lstStyle/>
          <a:p>
            <a:pPr marL="0" indent="0">
              <a:buNone/>
            </a:pPr>
            <a:endParaRPr lang="en-US" dirty="0"/>
          </a:p>
        </p:txBody>
      </p:sp>
      <p:sp>
        <p:nvSpPr>
          <p:cNvPr id="4" name="Text 2"/>
          <p:cNvSpPr/>
          <p:nvPr/>
        </p:nvSpPr>
        <p:spPr>
          <a:xfrm>
            <a:off x="533400" y="1971675"/>
            <a:ext cx="1962894"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5" name="Text 3"/>
          <p:cNvSpPr/>
          <p:nvPr/>
        </p:nvSpPr>
        <p:spPr>
          <a:xfrm>
            <a:off x="628650" y="2047875"/>
            <a:ext cx="1807842"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1</a:t>
            </a:r>
            <a:endParaRPr lang="en-US" sz="900" dirty="0"/>
          </a:p>
        </p:txBody>
      </p:sp>
      <p:sp>
        <p:nvSpPr>
          <p:cNvPr id="6" name="Text 4"/>
          <p:cNvSpPr/>
          <p:nvPr/>
        </p:nvSpPr>
        <p:spPr>
          <a:xfrm>
            <a:off x="533400" y="2543175"/>
            <a:ext cx="2002152"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1A1A2E"/>
                </a:solidFill>
                <a:latin typeface="Arial" pitchFamily="34" charset="0"/>
                <a:ea typeface="Arial" pitchFamily="34" charset="-122"/>
                <a:cs typeface="Arial" pitchFamily="34" charset="-120"/>
              </a:rPr>
              <a:t>Foundations</a:t>
            </a:r>
            <a:endParaRPr lang="en-US" sz="1050" dirty="0"/>
          </a:p>
        </p:txBody>
      </p:sp>
      <p:sp>
        <p:nvSpPr>
          <p:cNvPr id="7" name="Text 5"/>
          <p:cNvSpPr/>
          <p:nvPr/>
        </p:nvSpPr>
        <p:spPr>
          <a:xfrm>
            <a:off x="533400" y="2943225"/>
            <a:ext cx="1962894" cy="876300"/>
          </a:xfrm>
          <a:prstGeom prst="rect">
            <a:avLst/>
          </a:prstGeom>
          <a:noFill/>
          <a:ln/>
        </p:spPr>
        <p:txBody>
          <a:bodyPr wrap="square" lIns="66675" tIns="0" rIns="0" bIns="0" rtlCol="0" anchor="t"/>
          <a:lstStyle/>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CLAUDE.md for context</a:t>
            </a:r>
            <a:endParaRPr lang="en-US" sz="1350" dirty="0"/>
          </a:p>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Skills for expertise</a:t>
            </a:r>
            <a:endParaRPr lang="en-US" sz="1350" dirty="0"/>
          </a:p>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MCP for integration</a:t>
            </a:r>
            <a:endParaRPr lang="en-US" sz="1350" dirty="0"/>
          </a:p>
        </p:txBody>
      </p:sp>
      <p:sp>
        <p:nvSpPr>
          <p:cNvPr id="8" name="Text 6"/>
          <p:cNvSpPr/>
          <p:nvPr/>
        </p:nvSpPr>
        <p:spPr>
          <a:xfrm>
            <a:off x="2953494" y="933450"/>
            <a:ext cx="2239566" cy="3924300"/>
          </a:xfrm>
          <a:prstGeom prst="roundRect">
            <a:avLst>
              <a:gd name="adj" fmla="val 2722"/>
            </a:avLst>
          </a:prstGeom>
          <a:solidFill>
            <a:srgbClr val="FFFFFF"/>
          </a:solidFill>
          <a:ln/>
        </p:spPr>
        <p:txBody>
          <a:bodyPr wrap="square" rtlCol="0" anchor="ctr"/>
          <a:lstStyle/>
          <a:p>
            <a:pPr marL="0" indent="0">
              <a:buNone/>
            </a:pPr>
            <a:endParaRPr lang="en-US" dirty="0"/>
          </a:p>
        </p:txBody>
      </p:sp>
      <p:sp>
        <p:nvSpPr>
          <p:cNvPr id="9" name="Text 7"/>
          <p:cNvSpPr/>
          <p:nvPr/>
        </p:nvSpPr>
        <p:spPr>
          <a:xfrm>
            <a:off x="3105894" y="1971675"/>
            <a:ext cx="1934766" cy="304800"/>
          </a:xfrm>
          <a:prstGeom prst="roundRect">
            <a:avLst>
              <a:gd name="adj" fmla="val 20000"/>
            </a:avLst>
          </a:prstGeom>
          <a:solidFill>
            <a:srgbClr val="0F766E"/>
          </a:solidFill>
          <a:ln/>
        </p:spPr>
        <p:txBody>
          <a:bodyPr wrap="square" rtlCol="0" anchor="ctr"/>
          <a:lstStyle/>
          <a:p>
            <a:pPr marL="0" indent="0">
              <a:buNone/>
            </a:pPr>
            <a:endParaRPr lang="en-US" dirty="0"/>
          </a:p>
        </p:txBody>
      </p:sp>
      <p:sp>
        <p:nvSpPr>
          <p:cNvPr id="10" name="Text 8"/>
          <p:cNvSpPr/>
          <p:nvPr/>
        </p:nvSpPr>
        <p:spPr>
          <a:xfrm>
            <a:off x="3201144" y="2047875"/>
            <a:ext cx="1779151"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2</a:t>
            </a:r>
            <a:endParaRPr lang="en-US" sz="900" dirty="0"/>
          </a:p>
        </p:txBody>
      </p:sp>
      <p:sp>
        <p:nvSpPr>
          <p:cNvPr id="11" name="Text 9"/>
          <p:cNvSpPr/>
          <p:nvPr/>
        </p:nvSpPr>
        <p:spPr>
          <a:xfrm>
            <a:off x="3105894" y="2543175"/>
            <a:ext cx="1973461"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1A1A2E"/>
                </a:solidFill>
                <a:latin typeface="Arial" pitchFamily="34" charset="0"/>
                <a:ea typeface="Arial" pitchFamily="34" charset="-122"/>
                <a:cs typeface="Arial" pitchFamily="34" charset="-120"/>
              </a:rPr>
              <a:t>Multi-Agent</a:t>
            </a:r>
            <a:endParaRPr lang="en-US" sz="1050" dirty="0"/>
          </a:p>
        </p:txBody>
      </p:sp>
      <p:sp>
        <p:nvSpPr>
          <p:cNvPr id="12" name="Text 10"/>
          <p:cNvSpPr/>
          <p:nvPr/>
        </p:nvSpPr>
        <p:spPr>
          <a:xfrm>
            <a:off x="3105894" y="2943225"/>
            <a:ext cx="1934766" cy="876300"/>
          </a:xfrm>
          <a:prstGeom prst="rect">
            <a:avLst/>
          </a:prstGeom>
          <a:noFill/>
          <a:ln/>
        </p:spPr>
        <p:txBody>
          <a:bodyPr wrap="square" lIns="66675" tIns="0" rIns="0" bIns="0" rtlCol="0" anchor="t"/>
          <a:lstStyle/>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Sub-agents for isolation</a:t>
            </a:r>
            <a:endParaRPr lang="en-US" sz="1350" dirty="0"/>
          </a:p>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Pipelines for workflows</a:t>
            </a:r>
            <a:endParaRPr lang="en-US" sz="1350" dirty="0"/>
          </a:p>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CI/CD automation</a:t>
            </a:r>
            <a:endParaRPr lang="en-US" sz="1350" dirty="0"/>
          </a:p>
        </p:txBody>
      </p:sp>
      <p:sp>
        <p:nvSpPr>
          <p:cNvPr id="13" name="Text 11"/>
          <p:cNvSpPr/>
          <p:nvPr/>
        </p:nvSpPr>
        <p:spPr>
          <a:xfrm>
            <a:off x="5497860" y="933450"/>
            <a:ext cx="2439591" cy="3924300"/>
          </a:xfrm>
          <a:prstGeom prst="roundRect">
            <a:avLst>
              <a:gd name="adj" fmla="val 2499"/>
            </a:avLst>
          </a:prstGeom>
          <a:solidFill>
            <a:srgbClr val="FFFFFF"/>
          </a:solidFill>
          <a:ln/>
        </p:spPr>
        <p:txBody>
          <a:bodyPr wrap="square" rtlCol="0" anchor="ctr"/>
          <a:lstStyle/>
          <a:p>
            <a:pPr marL="0" indent="0">
              <a:buNone/>
            </a:pPr>
            <a:endParaRPr lang="en-US" dirty="0"/>
          </a:p>
        </p:txBody>
      </p:sp>
      <p:sp>
        <p:nvSpPr>
          <p:cNvPr id="14" name="Text 12"/>
          <p:cNvSpPr/>
          <p:nvPr/>
        </p:nvSpPr>
        <p:spPr>
          <a:xfrm>
            <a:off x="5650260" y="1971675"/>
            <a:ext cx="2134791" cy="304800"/>
          </a:xfrm>
          <a:prstGeom prst="roundRect">
            <a:avLst>
              <a:gd name="adj" fmla="val 20000"/>
            </a:avLst>
          </a:prstGeom>
          <a:solidFill>
            <a:srgbClr val="EF6B5E"/>
          </a:solidFill>
          <a:ln/>
        </p:spPr>
        <p:txBody>
          <a:bodyPr wrap="square" rtlCol="0" anchor="ctr"/>
          <a:lstStyle/>
          <a:p>
            <a:pPr marL="0" indent="0">
              <a:buNone/>
            </a:pPr>
            <a:endParaRPr lang="en-US" dirty="0"/>
          </a:p>
        </p:txBody>
      </p:sp>
      <p:sp>
        <p:nvSpPr>
          <p:cNvPr id="15" name="Text 13"/>
          <p:cNvSpPr/>
          <p:nvPr/>
        </p:nvSpPr>
        <p:spPr>
          <a:xfrm>
            <a:off x="5745510" y="2047875"/>
            <a:ext cx="1983176" cy="152400"/>
          </a:xfrm>
          <a:prstGeom prst="rect">
            <a:avLst/>
          </a:prstGeom>
          <a:noFill/>
          <a:ln/>
        </p:spPr>
        <p:txBody>
          <a:bodyPr wrap="square" lIns="0" tIns="0" rIns="0" bIns="0" rtlCol="0" anchor="t"/>
          <a:lstStyle/>
          <a:p>
            <a:pPr marL="0" indent="0" algn="l">
              <a:lnSpc>
                <a:spcPts val="1200"/>
              </a:lnSpc>
              <a:spcBef>
                <a:spcPts val="300"/>
              </a:spcBef>
              <a:spcAft>
                <a:spcPts val="300"/>
              </a:spcAft>
              <a:buNone/>
            </a:pPr>
            <a:r>
              <a:rPr lang="en-US" sz="900" b="1" dirty="0">
                <a:solidFill>
                  <a:srgbClr val="FFFFFF"/>
                </a:solidFill>
                <a:latin typeface="Arial" pitchFamily="34" charset="0"/>
                <a:ea typeface="Arial" pitchFamily="34" charset="-122"/>
                <a:cs typeface="Arial" pitchFamily="34" charset="-120"/>
              </a:rPr>
              <a:t>DAY 3</a:t>
            </a:r>
            <a:endParaRPr lang="en-US" sz="900" dirty="0"/>
          </a:p>
        </p:txBody>
      </p:sp>
      <p:sp>
        <p:nvSpPr>
          <p:cNvPr id="16" name="Text 14"/>
          <p:cNvSpPr/>
          <p:nvPr/>
        </p:nvSpPr>
        <p:spPr>
          <a:xfrm>
            <a:off x="5650260" y="2543175"/>
            <a:ext cx="2177486" cy="190500"/>
          </a:xfrm>
          <a:prstGeom prst="rect">
            <a:avLst/>
          </a:prstGeom>
          <a:noFill/>
          <a:ln/>
        </p:spPr>
        <p:txBody>
          <a:bodyPr wrap="square" lIns="0" tIns="0" rIns="0" bIns="0" rtlCol="0" anchor="t"/>
          <a:lstStyle/>
          <a:p>
            <a:pPr marL="0" indent="0" algn="l">
              <a:lnSpc>
                <a:spcPts val="1500"/>
              </a:lnSpc>
              <a:spcBef>
                <a:spcPts val="300"/>
              </a:spcBef>
              <a:spcAft>
                <a:spcPts val="450"/>
              </a:spcAft>
              <a:buNone/>
            </a:pPr>
            <a:r>
              <a:rPr lang="en-US" sz="1050" b="1" dirty="0">
                <a:solidFill>
                  <a:srgbClr val="1A1A2E"/>
                </a:solidFill>
                <a:latin typeface="Arial" pitchFamily="34" charset="0"/>
                <a:ea typeface="Arial" pitchFamily="34" charset="-122"/>
                <a:cs typeface="Arial" pitchFamily="34" charset="-120"/>
              </a:rPr>
              <a:t>Production</a:t>
            </a:r>
            <a:endParaRPr lang="en-US" sz="1050" dirty="0"/>
          </a:p>
        </p:txBody>
      </p:sp>
      <p:sp>
        <p:nvSpPr>
          <p:cNvPr id="17" name="Text 15"/>
          <p:cNvSpPr/>
          <p:nvPr/>
        </p:nvSpPr>
        <p:spPr>
          <a:xfrm>
            <a:off x="5650260" y="2943225"/>
            <a:ext cx="2134791" cy="876300"/>
          </a:xfrm>
          <a:prstGeom prst="rect">
            <a:avLst/>
          </a:prstGeom>
          <a:noFill/>
          <a:ln/>
        </p:spPr>
        <p:txBody>
          <a:bodyPr wrap="square" lIns="66675" tIns="0" rIns="0" bIns="0" rtlCol="0" anchor="t"/>
          <a:lstStyle/>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Evals bridge demo to prod</a:t>
            </a:r>
            <a:endParaRPr lang="en-US" sz="1350" dirty="0"/>
          </a:p>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Golden datasets as truth</a:t>
            </a:r>
            <a:endParaRPr lang="en-US" sz="1350" dirty="0"/>
          </a:p>
          <a:p>
            <a:pPr marL="66675" indent="-66675" algn="l">
              <a:lnSpc>
                <a:spcPts val="2100"/>
              </a:lnSpc>
              <a:buSzPct val="100000"/>
              <a:buChar char="•"/>
            </a:pPr>
            <a:r>
              <a:rPr lang="en-US" sz="1350" dirty="0">
                <a:solidFill>
                  <a:srgbClr val="8B95A1"/>
                </a:solidFill>
                <a:latin typeface="Arial" pitchFamily="34" charset="0"/>
                <a:ea typeface="Arial" pitchFamily="34" charset="-122"/>
                <a:cs typeface="Arial" pitchFamily="34" charset="-120"/>
              </a:rPr>
              <a:t>Monitor &amp; improve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1859</Words>
  <Application>Microsoft Office PowerPoint</Application>
  <PresentationFormat>On-screen Show (16:9)</PresentationFormat>
  <Paragraphs>430</Paragraphs>
  <Slides>20</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Workshop Overview</dc:title>
  <dc:subject>PptxGenJS Presentation</dc:subject>
  <dc:creator>Workshop Team</dc:creator>
  <cp:lastModifiedBy>Jacob Cheriathundam</cp:lastModifiedBy>
  <cp:revision>5</cp:revision>
  <dcterms:created xsi:type="dcterms:W3CDTF">2025-12-27T17:24:15Z</dcterms:created>
  <dcterms:modified xsi:type="dcterms:W3CDTF">2026-01-06T16:41:04Z</dcterms:modified>
</cp:coreProperties>
</file>