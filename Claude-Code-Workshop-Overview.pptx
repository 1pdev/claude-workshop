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4" r:id="rId25"/>
    <p:sldId id="259" r:id="rId5"/>
    <p:sldId id="273" r:id="rId24"/>
    <p:sldId id="260" r:id="rId6"/>
    <p:sldId id="272" r:id="rId23"/>
    <p:sldId id="261" r:id="rId7"/>
    <p:sldId id="269" r:id="rId20"/>
    <p:sldId id="271" r:id="rId22"/>
    <p:sldId id="262" r:id="rId8"/>
    <p:sldId id="270" r:id="rId21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983" y="1504950"/>
            <a:ext cx="65640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12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Workshop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320281" y="2419350"/>
            <a:ext cx="45034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Development to Production-Ready AI Systems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640955" y="3143250"/>
            <a:ext cx="872430" cy="495300"/>
          </a:xfrm>
          <a:prstGeom prst="roundRect">
            <a:avLst>
              <a:gd name="adj" fmla="val 12308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26541" y="3276600"/>
            <a:ext cx="501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65786" y="3143250"/>
            <a:ext cx="1033165" cy="4953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49764" y="3276600"/>
            <a:ext cx="665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Hours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51350" y="3143250"/>
            <a:ext cx="1651546" cy="49530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145" y="3276600"/>
            <a:ext cx="12959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Focus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500"/>
              </a:spcAft>
              <a:buNone/>
            </a:pPr>
            <a:r>
              <a:rPr lang="en-US" sz="2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Journey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971550"/>
            <a:ext cx="2389584" cy="3886200"/>
          </a:xfrm>
          <a:prstGeom prst="roundRect">
            <a:avLst>
              <a:gd name="adj" fmla="val 255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2266950"/>
            <a:ext cx="2008584" cy="304800"/>
          </a:xfrm>
          <a:prstGeom prst="roundRect">
            <a:avLst>
              <a:gd name="adj" fmla="val 20000"/>
            </a:avLst>
          </a:prstGeom>
          <a:solidFill>
            <a:srgbClr val="0D6E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2343150"/>
            <a:ext cx="18155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2876550"/>
            <a:ext cx="2048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3371850"/>
            <a:ext cx="20487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• Skills • MCP • Workflows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75384" y="971550"/>
            <a:ext cx="1947714" cy="3886200"/>
          </a:xfrm>
          <a:prstGeom prst="roundRect">
            <a:avLst>
              <a:gd name="adj" fmla="val 313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65884" y="2266950"/>
            <a:ext cx="1566714" cy="304800"/>
          </a:xfrm>
          <a:prstGeom prst="roundRect">
            <a:avLst>
              <a:gd name="adj" fmla="val 20000"/>
            </a:avLst>
          </a:prstGeom>
          <a:solidFill>
            <a:srgbClr val="0D6E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80184" y="2343150"/>
            <a:ext cx="13648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65884" y="2876550"/>
            <a:ext cx="1598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5884" y="3371850"/>
            <a:ext cx="15980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Sub-agents • Pipelines • CI/CD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27898" y="971550"/>
            <a:ext cx="2379762" cy="3886200"/>
          </a:xfrm>
          <a:prstGeom prst="roundRect">
            <a:avLst>
              <a:gd name="adj" fmla="val 256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18398" y="2266950"/>
            <a:ext cx="1998762" cy="304800"/>
          </a:xfrm>
          <a:prstGeom prst="roundRect">
            <a:avLst>
              <a:gd name="adj" fmla="val 20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32698" y="2343150"/>
            <a:ext cx="18055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18398" y="2876550"/>
            <a:ext cx="2038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18398" y="3371850"/>
            <a:ext cx="20387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Evaluations • Monitoring • Improvement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514648" cy="304800"/>
          </a:xfrm>
          <a:prstGeom prst="roundRect">
            <a:avLst>
              <a:gd name="adj" fmla="val 20000"/>
            </a:avLst>
          </a:prstGeom>
          <a:solidFill>
            <a:srgbClr val="0D6E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330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1848" y="285750"/>
            <a:ext cx="51654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Project Configuration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695450"/>
            <a:ext cx="3702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228850"/>
            <a:ext cx="3702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context for Claude — like onboarding docs for AI.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762250"/>
            <a:ext cx="3702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3257550"/>
            <a:ext cx="362962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conventions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rules (HIPAA)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commands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15420" y="1638300"/>
            <a:ext cx="4447580" cy="2514600"/>
          </a:xfrm>
          <a:prstGeom prst="roundRect">
            <a:avLst>
              <a:gd name="adj" fmla="val 242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67820" y="1828800"/>
            <a:ext cx="4225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67820" y="2286000"/>
            <a:ext cx="4142780" cy="4191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63070" y="2419350"/>
            <a:ext cx="4031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Personal: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~/.claude/CLAUDE.md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67820" y="2933700"/>
            <a:ext cx="4142780" cy="4191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63070" y="3067050"/>
            <a:ext cx="4031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./CLAUDE.md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67820" y="3581400"/>
            <a:ext cx="4142780" cy="4191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63070" y="3714750"/>
            <a:ext cx="4031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Local: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./CLAUDE.local.md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514648" cy="304800"/>
          </a:xfrm>
          <a:prstGeom prst="roundRect">
            <a:avLst>
              <a:gd name="adj" fmla="val 20000"/>
            </a:avLst>
          </a:prstGeom>
          <a:solidFill>
            <a:srgbClr val="0D6E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330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1848" y="285750"/>
            <a:ext cx="45832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— Extending Claude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609725"/>
            <a:ext cx="41134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Skills?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143125"/>
            <a:ext cx="4113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capabilities that transform Claude from generalist to specialist.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828925"/>
            <a:ext cx="4032796" cy="1390650"/>
          </a:xfrm>
          <a:prstGeom prst="roundRect">
            <a:avLst>
              <a:gd name="adj" fmla="val 438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2981325"/>
            <a:ext cx="3880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Loading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5300" y="3228975"/>
            <a:ext cx="3804196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— Always loaded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— On trigger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— As needed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18596" y="1562100"/>
            <a:ext cx="4044404" cy="2667000"/>
          </a:xfrm>
          <a:prstGeom prst="roundRect">
            <a:avLst>
              <a:gd name="adj" fmla="val 228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0996" y="1752600"/>
            <a:ext cx="3814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HIPAA Validator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70996" y="2190750"/>
            <a:ext cx="3739604" cy="14478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66246" y="2324100"/>
            <a:ext cx="36200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hipaa-validator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66246" y="2628900"/>
            <a:ext cx="36200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66246" y="2933700"/>
            <a:ext cx="36200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 for PHI in logs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66246" y="3238500"/>
            <a:ext cx="36200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Verify encryption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70996" y="3886200"/>
            <a:ext cx="38143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.claude/skills/</a:t>
            </a:r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Project-level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514648" cy="304800"/>
          </a:xfrm>
          <a:prstGeom prst="roundRect">
            <a:avLst>
              <a:gd name="adj" fmla="val 20000"/>
            </a:avLst>
          </a:prstGeom>
          <a:solidFill>
            <a:srgbClr val="0D6E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330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1848" y="285750"/>
            <a:ext cx="45073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— External Tool Integration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638300"/>
            <a:ext cx="3702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171700"/>
            <a:ext cx="37022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Claude to databases, APIs, and tools. "USB-C for AI"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895600"/>
            <a:ext cx="3702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Servers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3314700"/>
            <a:ext cx="362962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— Issues, PRs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Databases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— Messages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15420" y="1714500"/>
            <a:ext cx="4447580" cy="2362200"/>
          </a:xfrm>
          <a:prstGeom prst="roundRect">
            <a:avLst>
              <a:gd name="adj" fmla="val 258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67820" y="1905000"/>
            <a:ext cx="4225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Config: .mcp.json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67820" y="2343150"/>
            <a:ext cx="4142780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63070" y="2476500"/>
            <a:ext cx="403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"mcpServers": {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3070" y="2781300"/>
            <a:ext cx="403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"github": { "command": "npx" }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63070" y="3086100"/>
            <a:ext cx="4031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67820" y="3733800"/>
            <a:ext cx="42256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to git for team access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514648" cy="304800"/>
          </a:xfrm>
          <a:prstGeom prst="roundRect">
            <a:avLst>
              <a:gd name="adj" fmla="val 20000"/>
            </a:avLst>
          </a:prstGeom>
          <a:solidFill>
            <a:srgbClr val="0D6E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330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1848" y="285750"/>
            <a:ext cx="28291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Workflows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933450"/>
            <a:ext cx="2042220" cy="3924300"/>
          </a:xfrm>
          <a:prstGeom prst="roundRect">
            <a:avLst>
              <a:gd name="adj" fmla="val 298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066925"/>
            <a:ext cx="1772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2505075"/>
            <a:ext cx="17721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exploration before changes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3038475"/>
            <a:ext cx="1737420" cy="7239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0550" y="3133725"/>
            <a:ext cx="16555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--permission-mode plan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75620" y="933450"/>
            <a:ext cx="1934170" cy="3924300"/>
          </a:xfrm>
          <a:prstGeom prst="roundRect">
            <a:avLst>
              <a:gd name="adj" fmla="val 315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28020" y="2066925"/>
            <a:ext cx="1661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Thinking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28020" y="2505075"/>
            <a:ext cx="16619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reasoning for complex decisions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28020" y="3038475"/>
            <a:ext cx="1629370" cy="7239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85170" y="3133725"/>
            <a:ext cx="154537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think deeply about...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2190" y="933450"/>
            <a:ext cx="2014389" cy="3924300"/>
          </a:xfrm>
          <a:prstGeom prst="roundRect">
            <a:avLst>
              <a:gd name="adj" fmla="val 302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4590" y="2143125"/>
            <a:ext cx="1743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 References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14590" y="2581275"/>
            <a:ext cx="17437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files instantly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4590" y="2962275"/>
            <a:ext cx="1709589" cy="7239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71740" y="3057525"/>
            <a:ext cx="162719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Explain @src/auth.py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8979" y="933450"/>
            <a:ext cx="1934021" cy="3924300"/>
          </a:xfrm>
          <a:prstGeom prst="roundRect">
            <a:avLst>
              <a:gd name="adj" fmla="val 315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1379" y="2143125"/>
            <a:ext cx="16618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8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81379" y="2581275"/>
            <a:ext cx="16618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team workflows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81379" y="2962275"/>
            <a:ext cx="1629221" cy="7239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38529" y="3057525"/>
            <a:ext cx="15452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/project:hipaa-check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514648" cy="304800"/>
          </a:xfrm>
          <a:prstGeom prst="roundRect">
            <a:avLst>
              <a:gd name="adj" fmla="val 20000"/>
            </a:avLst>
          </a:prstGeom>
          <a:solidFill>
            <a:srgbClr val="0D6E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330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1848" y="285750"/>
            <a:ext cx="35303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Sub-agents — Delegation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581150"/>
            <a:ext cx="3702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Sub-agents?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114550"/>
            <a:ext cx="3702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AI assistants with their own context window.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647950"/>
            <a:ext cx="3702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3067050"/>
            <a:ext cx="362962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isolation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control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15420" y="1428750"/>
            <a:ext cx="4447580" cy="2933700"/>
          </a:xfrm>
          <a:prstGeom prst="roundRect">
            <a:avLst>
              <a:gd name="adj" fmla="val 207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67820" y="1619250"/>
            <a:ext cx="42256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Suite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67820" y="2057400"/>
            <a:ext cx="4142780" cy="381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44020" y="2171700"/>
            <a:ext cx="40701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Auditor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PHI exposure scanning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67820" y="2647950"/>
            <a:ext cx="4142780" cy="381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44020" y="2762250"/>
            <a:ext cx="40701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Generator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pytest with anonymized data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67820" y="3238500"/>
            <a:ext cx="4142780" cy="381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44020" y="3352800"/>
            <a:ext cx="40701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Writer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API docs with compliance notes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67820" y="3829050"/>
            <a:ext cx="4142780" cy="381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44020" y="3943350"/>
            <a:ext cx="40701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Scanner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Vulnerability detection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514648" cy="304800"/>
          </a:xfrm>
          <a:prstGeom prst="roundRect">
            <a:avLst>
              <a:gd name="adj" fmla="val 20000"/>
            </a:avLst>
          </a:prstGeom>
          <a:solidFill>
            <a:srgbClr val="0D6E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330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1848" y="285750"/>
            <a:ext cx="29632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Pipelines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485900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sub-agents for reproducible development workflows.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019300"/>
            <a:ext cx="8382000" cy="13335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89658" y="2247900"/>
            <a:ext cx="860673" cy="876300"/>
          </a:xfrm>
          <a:prstGeom prst="roundRect">
            <a:avLst>
              <a:gd name="adj" fmla="val 70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978094" y="2400300"/>
            <a:ext cx="483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36499" y="2781300"/>
            <a:ext cx="5669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Spec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02731" y="2676525"/>
            <a:ext cx="285750" cy="19050"/>
          </a:xfrm>
          <a:prstGeom prst="rect">
            <a:avLst/>
          </a:prstGeom>
          <a:solidFill>
            <a:srgbClr val="0D6E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40881" y="2247900"/>
            <a:ext cx="882848" cy="8763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40330" y="2400300"/>
            <a:ext cx="483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7501" y="2781300"/>
            <a:ext cx="5896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76130" y="2676525"/>
            <a:ext cx="285750" cy="19050"/>
          </a:xfrm>
          <a:prstGeom prst="rect">
            <a:avLst/>
          </a:prstGeom>
          <a:solidFill>
            <a:srgbClr val="0D6E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14280" y="2247900"/>
            <a:ext cx="971699" cy="8763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58228" y="2400300"/>
            <a:ext cx="483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60011" y="2781300"/>
            <a:ext cx="6802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38379" y="2676525"/>
            <a:ext cx="285750" cy="19050"/>
          </a:xfrm>
          <a:prstGeom prst="rect">
            <a:avLst/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76529" y="2247900"/>
            <a:ext cx="1077664" cy="876300"/>
          </a:xfrm>
          <a:prstGeom prst="roundRect">
            <a:avLst>
              <a:gd name="adj" fmla="val 6957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73460" y="2400300"/>
            <a:ext cx="483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21200" y="2781300"/>
            <a:ext cx="7883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Audit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1000" y="3657600"/>
            <a:ext cx="4038600" cy="68580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5300" y="38100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Worktrees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5300" y="403860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Claude sessions with isolation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24400" y="3657600"/>
            <a:ext cx="4038600" cy="685800"/>
          </a:xfrm>
          <a:prstGeom prst="roundRect">
            <a:avLst>
              <a:gd name="adj" fmla="val 8889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38700" y="38100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38700" y="403860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mode for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0945" y="895350"/>
            <a:ext cx="2601962" cy="381000"/>
          </a:xfrm>
          <a:prstGeom prst="roundRect">
            <a:avLst>
              <a:gd name="adj" fmla="val 16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00373" y="990600"/>
            <a:ext cx="23431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— PRODUCTION READINESS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41832" y="1619250"/>
            <a:ext cx="5260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Evaluations Matter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90270" y="2457450"/>
            <a:ext cx="35633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can't vibe check your way to production."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76400" y="3181350"/>
            <a:ext cx="1333500" cy="1066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19199" y="3371850"/>
            <a:ext cx="6479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09331" y="3905250"/>
            <a:ext cx="667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build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11843" y="3543300"/>
            <a:ext cx="291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905250" y="3181350"/>
            <a:ext cx="1333500" cy="1066800"/>
          </a:xfrm>
          <a:prstGeom prst="roundRect">
            <a:avLst>
              <a:gd name="adj" fmla="val 5714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67328" y="3371850"/>
            <a:ext cx="6093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6760" y="3905250"/>
            <a:ext cx="570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gap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40693" y="3543300"/>
            <a:ext cx="2914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134100" y="3181350"/>
            <a:ext cx="1333500" cy="1066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5193" y="3371850"/>
            <a:ext cx="5311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92497" y="3905250"/>
            <a:ext cx="8165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achieve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514648" cy="304800"/>
          </a:xfrm>
          <a:prstGeom prst="roundRect">
            <a:avLst>
              <a:gd name="adj" fmla="val 20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330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1848" y="285750"/>
            <a:ext cx="22187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Gulfs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933450"/>
            <a:ext cx="3098155" cy="3924300"/>
          </a:xfrm>
          <a:prstGeom prst="roundRect">
            <a:avLst>
              <a:gd name="adj" fmla="val 196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114550"/>
            <a:ext cx="28492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2571750"/>
            <a:ext cx="28492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Communicating intent to LLMs lacks immediate feedback.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3143250"/>
            <a:ext cx="2793355" cy="571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3257550"/>
            <a:ext cx="26937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" y="3448050"/>
            <a:ext cx="26937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requirements, iterative prompts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31555" y="933450"/>
            <a:ext cx="2706291" cy="3924300"/>
          </a:xfrm>
          <a:prstGeom prst="roundRect">
            <a:avLst>
              <a:gd name="adj" fmla="val 225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83955" y="2114550"/>
            <a:ext cx="24495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83955" y="2571750"/>
            <a:ext cx="24495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manually review every input/output at scale.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83955" y="3143250"/>
            <a:ext cx="2401491" cy="571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60155" y="3257550"/>
            <a:ext cx="22940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60155" y="3448050"/>
            <a:ext cx="22940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evaluation pipelines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0246" y="933450"/>
            <a:ext cx="2272754" cy="3924300"/>
          </a:xfrm>
          <a:prstGeom prst="roundRect">
            <a:avLst>
              <a:gd name="adj" fmla="val 268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42646" y="2114550"/>
            <a:ext cx="200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8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42646" y="2571750"/>
            <a:ext cx="2007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fail unexpectedly on edge cases.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42646" y="3143250"/>
            <a:ext cx="1967954" cy="5715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18846" y="3257550"/>
            <a:ext cx="18518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18846" y="3448050"/>
            <a:ext cx="18518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test datasets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514648" cy="304800"/>
          </a:xfrm>
          <a:prstGeom prst="roundRect">
            <a:avLst>
              <a:gd name="adj" fmla="val 20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330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1848" y="285750"/>
            <a:ext cx="28938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Evaluations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933450"/>
            <a:ext cx="1619994" cy="3924300"/>
          </a:xfrm>
          <a:prstGeom prst="roundRect">
            <a:avLst>
              <a:gd name="adj" fmla="val 376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057400"/>
            <a:ext cx="13414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Code-Based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2514600"/>
            <a:ext cx="13414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deterministic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2895600"/>
            <a:ext cx="1315194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patterns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detection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153394" y="933450"/>
            <a:ext cx="1772543" cy="3924300"/>
          </a:xfrm>
          <a:prstGeom prst="roundRect">
            <a:avLst>
              <a:gd name="adj" fmla="val 3439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05794" y="2057400"/>
            <a:ext cx="14970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05794" y="2514600"/>
            <a:ext cx="14970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quality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05794" y="2895600"/>
            <a:ext cx="1467743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quality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criteria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 scoring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078337" y="933450"/>
            <a:ext cx="1791295" cy="3924300"/>
          </a:xfrm>
          <a:prstGeom prst="roundRect">
            <a:avLst>
              <a:gd name="adj" fmla="val 340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230737" y="2057400"/>
            <a:ext cx="151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85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Human-in-Loop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30737" y="2514600"/>
            <a:ext cx="1516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review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30737" y="2895600"/>
            <a:ext cx="1486495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cases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514648" cy="304800"/>
          </a:xfrm>
          <a:prstGeom prst="roundRect">
            <a:avLst>
              <a:gd name="adj" fmla="val 20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381000"/>
            <a:ext cx="3306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1848" y="285750"/>
            <a:ext cx="34658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Datasets &amp; CI/CD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866900"/>
            <a:ext cx="41134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Datasets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2400300"/>
            <a:ext cx="41134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source of truth for testing.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857500"/>
            <a:ext cx="4032796" cy="110490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2971800"/>
            <a:ext cx="3804196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— Representative queries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— Correct responses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— Edge cases, difficulty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18596" y="1695450"/>
            <a:ext cx="4044404" cy="2400300"/>
          </a:xfrm>
          <a:prstGeom prst="roundRect">
            <a:avLst>
              <a:gd name="adj" fmla="val 254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0996" y="1885950"/>
            <a:ext cx="3814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Gates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70996" y="2324100"/>
            <a:ext cx="3739604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66246" y="2457450"/>
            <a:ext cx="36200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phi_safety: 1.0 # Zero tolerance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66246" y="2762250"/>
            <a:ext cx="36200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0.85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66246" y="3067050"/>
            <a:ext cx="36200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response_quality: 0.80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70996" y="3752850"/>
            <a:ext cx="38143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deployment if thresholds fail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933450"/>
            <a:ext cx="2267694" cy="3924300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971675"/>
            <a:ext cx="1962894" cy="304800"/>
          </a:xfrm>
          <a:prstGeom prst="roundRect">
            <a:avLst>
              <a:gd name="adj" fmla="val 20000"/>
            </a:avLst>
          </a:prstGeom>
          <a:solidFill>
            <a:srgbClr val="0D6E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2047875"/>
            <a:ext cx="18078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3400" y="2543175"/>
            <a:ext cx="20021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2943225"/>
            <a:ext cx="1962894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for context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for expertise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for integration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953494" y="933450"/>
            <a:ext cx="2239566" cy="3924300"/>
          </a:xfrm>
          <a:prstGeom prst="roundRect">
            <a:avLst>
              <a:gd name="adj" fmla="val 272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05894" y="1971675"/>
            <a:ext cx="1934766" cy="304800"/>
          </a:xfrm>
          <a:prstGeom prst="roundRect">
            <a:avLst>
              <a:gd name="adj" fmla="val 20000"/>
            </a:avLst>
          </a:prstGeom>
          <a:solidFill>
            <a:srgbClr val="0D6E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01144" y="2047875"/>
            <a:ext cx="17791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5894" y="2543175"/>
            <a:ext cx="19734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05894" y="2943225"/>
            <a:ext cx="1934766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Sub-agents for isolation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for workflows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automation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97860" y="933450"/>
            <a:ext cx="2439591" cy="3924300"/>
          </a:xfrm>
          <a:prstGeom prst="roundRect">
            <a:avLst>
              <a:gd name="adj" fmla="val 24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50260" y="1971675"/>
            <a:ext cx="2134791" cy="304800"/>
          </a:xfrm>
          <a:prstGeom prst="roundRect">
            <a:avLst>
              <a:gd name="adj" fmla="val 20000"/>
            </a:avLst>
          </a:prstGeom>
          <a:solidFill>
            <a:srgbClr val="E85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45510" y="2047875"/>
            <a:ext cx="19831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50260" y="2543175"/>
            <a:ext cx="21774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50260" y="2943225"/>
            <a:ext cx="2134791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bridge demo to prod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datasets as truth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&amp; improve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548640" cy="320040"/>
          </a:xfrm>
          <a:prstGeom prst="roundRect">
            <a:avLst/>
          </a:prstGeom>
          <a:solidFill>
            <a:srgbClr val="10E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9184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3136"/>
                </a:solidFill>
                <a:latin typeface="Arial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Arial"/>
              </a:defRPr>
            </a:pPr>
            <a:r>
              <a:t>Hooks — Deterministic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96112"/>
            <a:ext cx="2468880" cy="3749039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515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What Are Hooks?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325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AA5AF"/>
                </a:solidFill>
                <a:latin typeface="Arial"/>
              </a:defRPr>
            </a:pPr>
            <a:r>
              <a:t>Shell commands that execute automatically at specific lifecycle 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9202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Why Use Them?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1945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00">
                <a:solidFill>
                  <a:srgbClr val="9AA5AF"/>
                </a:solidFill>
                <a:latin typeface="Arial"/>
              </a:defRPr>
            </a:pPr>
            <a:r>
              <a:t>• Guarantee actions happen every time</a:t>
            </a:r>
          </a:p>
          <a:p>
            <a:pPr>
              <a:spcBef>
                <a:spcPts val="200"/>
              </a:spcBef>
              <a:defRPr sz="800">
                <a:solidFill>
                  <a:srgbClr val="9AA5AF"/>
                </a:solidFill>
                <a:latin typeface="Arial"/>
              </a:defRPr>
            </a:pPr>
            <a:r>
              <a:t>• Auto-format code on save</a:t>
            </a:r>
          </a:p>
          <a:p>
            <a:pPr>
              <a:spcBef>
                <a:spcPts val="200"/>
              </a:spcBef>
              <a:defRPr sz="800">
                <a:solidFill>
                  <a:srgbClr val="9AA5AF"/>
                </a:solidFill>
                <a:latin typeface="Arial"/>
              </a:defRPr>
            </a:pPr>
            <a:r>
              <a:t>• Block dangerous commands</a:t>
            </a:r>
          </a:p>
          <a:p>
            <a:pPr>
              <a:spcBef>
                <a:spcPts val="200"/>
              </a:spcBef>
              <a:defRPr sz="800">
                <a:solidFill>
                  <a:srgbClr val="9AA5AF"/>
                </a:solidFill>
                <a:latin typeface="Arial"/>
              </a:defRPr>
            </a:pPr>
            <a:r>
              <a:t>• Run tests after changes</a:t>
            </a:r>
          </a:p>
          <a:p>
            <a:pPr>
              <a:spcBef>
                <a:spcPts val="200"/>
              </a:spcBef>
              <a:defRPr sz="800">
                <a:solidFill>
                  <a:srgbClr val="9AA5AF"/>
                </a:solidFill>
                <a:latin typeface="Arial"/>
              </a:defRPr>
            </a:pPr>
            <a:r>
              <a:t>• Inject context into prompts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896112"/>
            <a:ext cx="2468880" cy="3749039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104" y="10515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E85A4F"/>
                </a:solidFill>
                <a:latin typeface="Arial"/>
              </a:defRPr>
            </a:pPr>
            <a:r>
              <a:t>Lifecycle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4" y="1371600"/>
            <a:ext cx="2240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00" b="1">
                <a:solidFill>
                  <a:srgbClr val="FFFFFF"/>
                </a:solidFill>
                <a:latin typeface="Arial"/>
              </a:defRPr>
            </a:pPr>
            <a:r>
              <a:t>PreToolUse</a:t>
            </a:r>
          </a:p>
          <a:p>
            <a:pPr>
              <a:defRPr sz="750">
                <a:solidFill>
                  <a:srgbClr val="9AA5AF"/>
                </a:solidFill>
                <a:latin typeface="Arial"/>
              </a:defRPr>
            </a:pPr>
            <a:r>
              <a:t>Before tool runs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  <a:latin typeface="Arial"/>
              </a:defRPr>
            </a:pPr>
            <a:r>
              <a:t>PostToolUse</a:t>
            </a:r>
          </a:p>
          <a:p>
            <a:pPr>
              <a:defRPr sz="750">
                <a:solidFill>
                  <a:srgbClr val="9AA5AF"/>
                </a:solidFill>
                <a:latin typeface="Arial"/>
              </a:defRPr>
            </a:pPr>
            <a:r>
              <a:t>After tool completes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  <a:latin typeface="Arial"/>
              </a:defRPr>
            </a:pPr>
            <a:r>
              <a:t>UserPromptSubmit</a:t>
            </a:r>
          </a:p>
          <a:p>
            <a:pPr>
              <a:defRPr sz="750">
                <a:solidFill>
                  <a:srgbClr val="9AA5AF"/>
                </a:solidFill>
                <a:latin typeface="Arial"/>
              </a:defRPr>
            </a:pPr>
            <a:r>
              <a:t>When user sends prompt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  <a:latin typeface="Arial"/>
              </a:defRPr>
            </a:pPr>
            <a:r>
              <a:t>PermissionRequest</a:t>
            </a:r>
          </a:p>
          <a:p>
            <a:pPr>
              <a:defRPr sz="750">
                <a:solidFill>
                  <a:srgbClr val="9AA5AF"/>
                </a:solidFill>
                <a:latin typeface="Arial"/>
              </a:defRPr>
            </a:pPr>
            <a:r>
              <a:t>On permission dialog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  <a:latin typeface="Arial"/>
              </a:defRPr>
            </a:pPr>
            <a:r>
              <a:t>Stop</a:t>
            </a:r>
          </a:p>
          <a:p>
            <a:pPr>
              <a:defRPr sz="750">
                <a:solidFill>
                  <a:srgbClr val="9AA5AF"/>
                </a:solidFill>
                <a:latin typeface="Arial"/>
              </a:defRPr>
            </a:pPr>
            <a:r>
              <a:t>When Claude finishes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  <a:latin typeface="Arial"/>
              </a:defRPr>
            </a:pPr>
            <a:r>
              <a:t>SubagentStop</a:t>
            </a:r>
          </a:p>
          <a:p>
            <a:pPr>
              <a:defRPr sz="750">
                <a:solidFill>
                  <a:srgbClr val="9AA5AF"/>
                </a:solidFill>
                <a:latin typeface="Arial"/>
              </a:defRPr>
            </a:pPr>
            <a:r>
              <a:t>When subagent finishes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  <a:latin typeface="Arial"/>
              </a:defRPr>
            </a:pPr>
            <a:r>
              <a:t>SessionStart</a:t>
            </a:r>
          </a:p>
          <a:p>
            <a:pPr>
              <a:defRPr sz="750">
                <a:solidFill>
                  <a:srgbClr val="9AA5AF"/>
                </a:solidFill>
                <a:latin typeface="Arial"/>
              </a:defRPr>
            </a:pPr>
            <a:r>
              <a:t>On session start/resume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  <a:latin typeface="Arial"/>
              </a:defRPr>
            </a:pPr>
            <a:r>
              <a:t>PreCompact</a:t>
            </a:r>
          </a:p>
          <a:p>
            <a:pPr>
              <a:defRPr sz="750">
                <a:solidFill>
                  <a:srgbClr val="9AA5AF"/>
                </a:solidFill>
                <a:latin typeface="Arial"/>
              </a:defRPr>
            </a:pPr>
            <a:r>
              <a:t>Before compaction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896112"/>
            <a:ext cx="3200400" cy="3749039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24144" y="1051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Example: Auto-Format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4144" y="1325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A5AF"/>
                </a:solidFill>
                <a:latin typeface="Arial"/>
              </a:defRPr>
            </a:pPr>
            <a:r>
              <a:t>.claude/settings.json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24144" y="1600200"/>
            <a:ext cx="2926080" cy="2194560"/>
          </a:xfrm>
          <a:prstGeom prst="roundRect">
            <a:avLst/>
          </a:prstGeom>
          <a:solidFill>
            <a:srgbClr val="3A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5584" y="1673352"/>
            <a:ext cx="2743200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{ "hooks":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"PostToolUse": [{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"matcher": "Write",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"hooks": [{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  "type": "command",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  "command": "prettier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    --write $CLAUDE_FILE_PATHS"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}]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4144" y="388620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E3B3"/>
                </a:solidFill>
                <a:latin typeface="Arial"/>
              </a:defRPr>
            </a:pPr>
            <a:r>
              <a:t>Exit Codes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144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9AA5AF"/>
                </a:solidFill>
                <a:latin typeface="Arial"/>
              </a:defRPr>
            </a:pPr>
            <a:r>
              <a:t>• 0 = Success</a:t>
            </a:r>
          </a:p>
          <a:p>
            <a:pPr>
              <a:defRPr sz="750">
                <a:solidFill>
                  <a:srgbClr val="9AA5AF"/>
                </a:solidFill>
                <a:latin typeface="Arial"/>
              </a:defRPr>
            </a:pPr>
            <a:r>
              <a:t>• 2 = Block (stderr → Claude)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548640" cy="320040"/>
          </a:xfrm>
          <a:prstGeom prst="roundRect">
            <a:avLst/>
          </a:prstGeom>
          <a:solidFill>
            <a:srgbClr val="E8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9184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DAY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292608"/>
            <a:ext cx="77724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329184"/>
            <a:ext cx="740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Arial"/>
              </a:defRPr>
            </a:pPr>
            <a:r>
              <a:t>To-Do App — Sub-agents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2651760" cy="3840480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868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A11y Auditor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2468880" cy="2468880"/>
          </a:xfrm>
          <a:prstGeom prst="roundRect">
            <a:avLst/>
          </a:prstGeom>
          <a:solidFill>
            <a:srgbClr val="3A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16152"/>
            <a:ext cx="2286000" cy="2322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# .claude/agents/a11y-auditor/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#   AGENT.md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---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name: a11y-auditor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description: Audit components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for accessibility issues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skills: a11y-checker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allowed_tools: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- Read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- Bash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- Grep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---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Run axe-core and report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WCAG 2.1 AA violations.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703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A5AF"/>
                </a:solidFill>
                <a:latin typeface="Arial"/>
              </a:defRPr>
            </a:pPr>
            <a:r>
              <a:t>Isolated context for deep accessibility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777240"/>
            <a:ext cx="2651760" cy="3840480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984" y="868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E85A4F"/>
                </a:solidFill>
                <a:latin typeface="Arial"/>
              </a:defRPr>
            </a:pPr>
            <a:r>
              <a:t>Test Generator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143000"/>
            <a:ext cx="2468880" cy="2468880"/>
          </a:xfrm>
          <a:prstGeom prst="roundRect">
            <a:avLst/>
          </a:prstGeom>
          <a:solidFill>
            <a:srgbClr val="3A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216152"/>
            <a:ext cx="2286000" cy="2322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# .claude/agents/test-gen/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#   AGENT.md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---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name: test-generator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description: Generate Jest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and RTL tests for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React components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allowed_tools: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- Read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- Write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- Bash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---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Create tests following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project conventions.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0984" y="3703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A5AF"/>
                </a:solidFill>
                <a:latin typeface="Arial"/>
              </a:defRPr>
            </a:pPr>
            <a:r>
              <a:t>Parallel test generation without polluting main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777240"/>
            <a:ext cx="2651760" cy="3840480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868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A855F7"/>
                </a:solidFill>
                <a:latin typeface="Arial"/>
              </a:defRPr>
            </a:pPr>
            <a:r>
              <a:t>Code Reviewer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143000"/>
            <a:ext cx="2468880" cy="2468880"/>
          </a:xfrm>
          <a:prstGeom prst="roundRect">
            <a:avLst/>
          </a:prstGeom>
          <a:solidFill>
            <a:srgbClr val="3A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216152"/>
            <a:ext cx="2286000" cy="2322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# .claude/agents/reviewer/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#   AGENT.md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---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name: code-reviewer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description: Review PRs for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best practices and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project standards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skills: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- a11y-checker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allowed_tools: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- Read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  - Grep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---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Check conventions,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650">
                <a:solidFill>
                  <a:srgbClr val="10E3B3"/>
                </a:solidFill>
                <a:latin typeface="Courier New"/>
              </a:defRPr>
            </a:pPr>
            <a:r>
              <a:t>a11y, and patterns.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37033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A5AF"/>
                </a:solidFill>
                <a:latin typeface="Arial"/>
              </a:defRPr>
            </a:pPr>
            <a:r>
              <a:t>Fresh context for unbiased code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548640" cy="320040"/>
          </a:xfrm>
          <a:prstGeom prst="roundRect">
            <a:avLst/>
          </a:prstGeom>
          <a:solidFill>
            <a:srgbClr val="10E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9184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3136"/>
                </a:solidFill>
                <a:latin typeface="Arial"/>
              </a:defRPr>
            </a:pPr>
            <a:r>
              <a:t>DAY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292608"/>
            <a:ext cx="77724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329184"/>
            <a:ext cx="740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Arial"/>
              </a:defRPr>
            </a:pPr>
            <a:r>
              <a:t>To-Do App — 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114800" cy="3840480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868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Auto-Accessibility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097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A5AF"/>
                </a:solidFill>
                <a:latin typeface="Arial"/>
              </a:defRPr>
            </a:pPr>
            <a:r>
              <a:t>Run axe-core after any .tsx file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931920" cy="1737360"/>
          </a:xfrm>
          <a:prstGeom prst="roundRect">
            <a:avLst/>
          </a:prstGeom>
          <a:solidFill>
            <a:srgbClr val="3A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44752"/>
            <a:ext cx="3749040" cy="1591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"PostToolUse": [{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"matcher": "Write|Edit",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"hooks": [{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  "type": "command",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  "command": "if [[ \"$CLAUDE_FILE_PATHS\"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    == *.tsx ]]; then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      npx axe-core $CLAUDE_FILE_PATHS;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    fi"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32004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E85A4F"/>
                </a:solidFill>
                <a:latin typeface="Arial"/>
              </a:defRPr>
            </a:pPr>
            <a:r>
              <a:t>Block Dangerous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3931920" cy="1051560"/>
          </a:xfrm>
          <a:prstGeom prst="roundRect">
            <a:avLst/>
          </a:prstGeom>
          <a:solidFill>
            <a:srgbClr val="3A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47872"/>
            <a:ext cx="3749040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"PreToolUse": [{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"matcher": "Bash",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"hooks": [{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  "type": "command",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  "command": "./scripts/block-prod-db.sh"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}]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777240"/>
            <a:ext cx="4114800" cy="3840480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868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Auto-Run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1097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A5AF"/>
                </a:solidFill>
                <a:latin typeface="Arial"/>
              </a:defRPr>
            </a:pPr>
            <a:r>
              <a:t>Run related tests after code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371600"/>
            <a:ext cx="3931920" cy="1463040"/>
          </a:xfrm>
          <a:prstGeom prst="roundRect">
            <a:avLst/>
          </a:prstGeom>
          <a:solidFill>
            <a:srgbClr val="3A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444752"/>
            <a:ext cx="3749040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"PostToolUse": [{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"matcher": "Write",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"hooks": [{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  "type": "command",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  "command": "npm test -- --findRelatedTests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    $CLAUDE_FILE_PATHS --passWithNoTests"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}]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29260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Why These Hooks?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32004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00" b="1">
                <a:solidFill>
                  <a:srgbClr val="FFFFFF"/>
                </a:solidFill>
                <a:latin typeface="Arial"/>
              </a:defRPr>
            </a:pPr>
            <a:r>
              <a:t>• Guaranteed</a:t>
            </a:r>
          </a:p>
          <a:p>
            <a:pPr>
              <a:defRPr sz="800">
                <a:solidFill>
                  <a:srgbClr val="9AA5AF"/>
                </a:solidFill>
                <a:latin typeface="Arial"/>
              </a:defRPr>
            </a:pPr>
            <a:r>
              <a:t>  Runs every time, not just when Claude remembers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Arial"/>
              </a:defRPr>
            </a:pPr>
            <a:r>
              <a:t>• Fast Feedback</a:t>
            </a:r>
          </a:p>
          <a:p>
            <a:pPr>
              <a:defRPr sz="800">
                <a:solidFill>
                  <a:srgbClr val="9AA5AF"/>
                </a:solidFill>
                <a:latin typeface="Arial"/>
              </a:defRPr>
            </a:pPr>
            <a:r>
              <a:t>  Catch a11y issues immediately, not in PR review</a:t>
            </a:r>
          </a:p>
          <a:p>
            <a:pPr>
              <a:spcBef>
                <a:spcPts val="600"/>
              </a:spcBef>
              <a:defRPr sz="900" b="1">
                <a:solidFill>
                  <a:srgbClr val="FFFFFF"/>
                </a:solidFill>
                <a:latin typeface="Arial"/>
              </a:defRPr>
            </a:pPr>
            <a:r>
              <a:t>• Safe</a:t>
            </a:r>
          </a:p>
          <a:p>
            <a:pPr>
              <a:defRPr sz="800">
                <a:solidFill>
                  <a:srgbClr val="9AA5AF"/>
                </a:solidFill>
                <a:latin typeface="Arial"/>
              </a:defRPr>
            </a:pPr>
            <a:r>
              <a:t>  Block production database access automatically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548640" cy="320040"/>
          </a:xfrm>
          <a:prstGeom prst="roundRect">
            <a:avLst/>
          </a:prstGeom>
          <a:solidFill>
            <a:srgbClr val="10E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9184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3136"/>
                </a:solidFill>
                <a:latin typeface="Arial"/>
              </a:defRPr>
            </a:pPr>
            <a:r>
              <a:t>DAY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292608"/>
            <a:ext cx="77724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329184"/>
            <a:ext cx="740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Arial"/>
              </a:defRPr>
            </a:pPr>
            <a:r>
              <a:t>To-Do App — GitHub 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114800" cy="3840480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868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.mcp.json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3931920" cy="2377440"/>
          </a:xfrm>
          <a:prstGeom prst="roundRect">
            <a:avLst/>
          </a:prstGeom>
          <a:solidFill>
            <a:srgbClr val="3A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16152"/>
            <a:ext cx="3749040" cy="2231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"mcpServers":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"github":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  "command": "npx",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  "args": 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    "-y",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    "@modelcontextprotocol/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      server-github"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  ],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  "env":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    "GITHUB_TOKEN": "${GITHUB_TOKEN}"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50">
                <a:solidFill>
                  <a:srgbClr val="10E3B3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61188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AA5AF"/>
                </a:solidFill>
                <a:latin typeface="Arial"/>
              </a:defRPr>
            </a:pPr>
            <a:r>
              <a:t>Commit to git for team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38862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4160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AA5AF"/>
                </a:solidFill>
              </a:defRPr>
            </a:pPr>
            <a:r>
              <a:t>1. Create GitHub PAT with repo scope</a:t>
            </a:r>
          </a:p>
          <a:p>
            <a:pPr>
              <a:defRPr sz="800">
                <a:solidFill>
                  <a:srgbClr val="9AA5AF"/>
                </a:solidFill>
              </a:defRPr>
            </a:pPr>
            <a:r>
              <a:t>2. Export GITHUB_TOKEN in your shell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777240"/>
            <a:ext cx="4114800" cy="3840480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4" y="8686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E85A4F"/>
                </a:solidFill>
                <a:latin typeface="Arial"/>
              </a:defRPr>
            </a:pPr>
            <a:r>
              <a:t>Natural Language Queries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9744" y="1188720"/>
            <a:ext cx="3840480" cy="2103120"/>
          </a:xfrm>
          <a:prstGeom prst="roundRect">
            <a:avLst/>
          </a:prstGeom>
          <a:solidFill>
            <a:srgbClr val="3A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4" y="1280160"/>
            <a:ext cx="3657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00" b="1">
                <a:solidFill>
                  <a:srgbClr val="10E3B3"/>
                </a:solidFill>
                <a:latin typeface="Courier New"/>
              </a:defRPr>
            </a:pPr>
            <a:r>
              <a:t>&gt; What's my next ticket?</a:t>
            </a:r>
          </a:p>
          <a:p>
            <a:pPr>
              <a:defRPr sz="750">
                <a:solidFill>
                  <a:srgbClr val="9AA5AF"/>
                </a:solidFill>
              </a:defRPr>
            </a:pPr>
            <a:r>
              <a:t>Finds issues assigned to you</a:t>
            </a:r>
          </a:p>
          <a:p>
            <a:pPr>
              <a:spcBef>
                <a:spcPts val="800"/>
              </a:spcBef>
              <a:defRPr sz="900" b="1">
                <a:solidFill>
                  <a:srgbClr val="10E3B3"/>
                </a:solidFill>
                <a:latin typeface="Courier New"/>
              </a:defRPr>
            </a:pPr>
            <a:r>
              <a:t>&gt; Show issues in 'In Progress'</a:t>
            </a:r>
          </a:p>
          <a:p>
            <a:pPr>
              <a:defRPr sz="750">
                <a:solidFill>
                  <a:srgbClr val="9AA5AF"/>
                </a:solidFill>
              </a:defRPr>
            </a:pPr>
            <a:r>
              <a:t>Lists items being worked on</a:t>
            </a:r>
          </a:p>
          <a:p>
            <a:pPr>
              <a:spcBef>
                <a:spcPts val="800"/>
              </a:spcBef>
              <a:defRPr sz="900" b="1">
                <a:solidFill>
                  <a:srgbClr val="10E3B3"/>
                </a:solidFill>
                <a:latin typeface="Courier New"/>
              </a:defRPr>
            </a:pPr>
            <a:r>
              <a:t>&gt; Create issue for dark mode</a:t>
            </a:r>
          </a:p>
          <a:p>
            <a:pPr>
              <a:defRPr sz="750">
                <a:solidFill>
                  <a:srgbClr val="9AA5AF"/>
                </a:solidFill>
              </a:defRPr>
            </a:pPr>
            <a:r>
              <a:t>Opens new issue with description</a:t>
            </a:r>
          </a:p>
          <a:p>
            <a:pPr>
              <a:spcBef>
                <a:spcPts val="800"/>
              </a:spcBef>
              <a:defRPr sz="900" b="1">
                <a:solidFill>
                  <a:srgbClr val="10E3B3"/>
                </a:solidFill>
                <a:latin typeface="Courier New"/>
              </a:defRPr>
            </a:pPr>
            <a:r>
              <a:t>&gt; Link PR #42 to issue #15</a:t>
            </a:r>
          </a:p>
          <a:p>
            <a:pPr>
              <a:defRPr sz="750">
                <a:solidFill>
                  <a:srgbClr val="9AA5AF"/>
                </a:solidFill>
              </a:defRPr>
            </a:pPr>
            <a:r>
              <a:t>Associates PR with 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34290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Project Board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37033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AA5AF"/>
                </a:solidFill>
              </a:defRPr>
            </a:pPr>
            <a:r>
              <a:t>Filter by: assignee, labels, milestone, project column, status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548640" cy="320040"/>
          </a:xfrm>
          <a:prstGeom prst="roundRect">
            <a:avLst/>
          </a:prstGeom>
          <a:solidFill>
            <a:srgbClr val="10E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9184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3136"/>
                </a:solidFill>
                <a:latin typeface="Arial"/>
              </a:defRPr>
            </a:pPr>
            <a:r>
              <a:t>DAY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292608"/>
            <a:ext cx="77724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329184"/>
            <a:ext cx="740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Arial"/>
              </a:defRPr>
            </a:pPr>
            <a:r>
              <a:t>To-Do App — Accessibility Skill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389120" cy="3840480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8686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E3B3"/>
                </a:solidFill>
                <a:latin typeface="Arial"/>
              </a:defRPr>
            </a:pPr>
            <a:r>
              <a:t>.claude/skills/a11y-checker/SKILL.md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4206240" cy="3383280"/>
          </a:xfrm>
          <a:prstGeom prst="roundRect">
            <a:avLst/>
          </a:prstGeom>
          <a:solidFill>
            <a:srgbClr val="3A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16152"/>
            <a:ext cx="4023360" cy="3236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---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name: a11y-checker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description: Validate UI components for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WCAG 2.1 AA and Section 508 compliance.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Use for accessibility audits, form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validation, and color contrast checks.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---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# Accessibility Checker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## Required Checks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1. All interactive elements keyboard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   accessible (Tab, Enter, Escape)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2. Images have meaningful alt text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3. Form inputs have associated labels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4. Color contrast &gt;= 4.5:1 for text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5. Focus states are visible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6. ARIA roles used correctly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## Run Audit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npx axe-core --rules wcag2aa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777240"/>
            <a:ext cx="3840480" cy="3840480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4064" y="868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E85A4F"/>
                </a:solidFill>
                <a:latin typeface="Arial"/>
              </a:defRPr>
            </a:pPr>
            <a:r>
              <a:t>Trigger Keywords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11430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AA5AF"/>
                </a:solidFill>
              </a:defRPr>
            </a:pPr>
            <a:r>
              <a:t>"accessibility", "a11y", "508", "WCAG", "screen reader", "keyboard navigation"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18288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Example Prompts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2103120"/>
            <a:ext cx="3566160" cy="1280160"/>
          </a:xfrm>
          <a:prstGeom prst="roundRect">
            <a:avLst/>
          </a:prstGeom>
          <a:solidFill>
            <a:srgbClr val="3A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21945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800">
                <a:solidFill>
                  <a:srgbClr val="10E3B3"/>
                </a:solidFill>
                <a:latin typeface="Courier New"/>
              </a:defRPr>
            </a:pPr>
            <a:r>
              <a:t>&gt; "Check TaskForm for accessibility"</a:t>
            </a:r>
          </a:p>
          <a:p>
            <a:pPr>
              <a:spcBef>
                <a:spcPts val="400"/>
              </a:spcBef>
              <a:defRPr sz="800">
                <a:solidFill>
                  <a:srgbClr val="10E3B3"/>
                </a:solidFill>
                <a:latin typeface="Courier New"/>
              </a:defRPr>
            </a:pPr>
            <a:r>
              <a:t>&gt; "Is the modal keyboard accessible?"</a:t>
            </a:r>
          </a:p>
          <a:p>
            <a:pPr>
              <a:spcBef>
                <a:spcPts val="400"/>
              </a:spcBef>
              <a:defRPr sz="800">
                <a:solidFill>
                  <a:srgbClr val="10E3B3"/>
                </a:solidFill>
                <a:latin typeface="Courier New"/>
              </a:defRPr>
            </a:pPr>
            <a:r>
              <a:t>&gt; "Audit dashboard for 508 compliance"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35204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Auto-Loaded When Relevant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37947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9AA5AF"/>
                </a:solidFill>
              </a:defRPr>
            </a:pPr>
            <a:r>
              <a:t>Claude reads SKILL.md only when your request matches the description keywords.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548640" cy="320040"/>
          </a:xfrm>
          <a:prstGeom prst="roundRect">
            <a:avLst/>
          </a:prstGeom>
          <a:solidFill>
            <a:srgbClr val="10E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329184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2B3136"/>
                </a:solidFill>
                <a:latin typeface="Arial"/>
              </a:defRPr>
            </a:pPr>
            <a:r>
              <a:t>DAY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292608"/>
            <a:ext cx="77724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329184"/>
            <a:ext cx="7406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Arial"/>
              </a:defRPr>
            </a:pPr>
            <a:r>
              <a:t>To-Do App — CLAUDE.md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4754880" cy="3840480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86868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0E3B3"/>
                </a:solidFill>
                <a:latin typeface="Arial"/>
              </a:defRPr>
            </a:pPr>
            <a:r>
              <a:t>./CLAUDE.md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4572000" cy="3383280"/>
          </a:xfrm>
          <a:prstGeom prst="roundRect">
            <a:avLst/>
          </a:prstGeom>
          <a:solidFill>
            <a:srgbClr val="3A4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16152"/>
            <a:ext cx="4389120" cy="3236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# To-Do Application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## Tech Stack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Frontend: React 18 + TypeScript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Backend: Node.js + Express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Database: PostgreSQL + Prisma ORM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Testing: Jest + React Testing Library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## Code Standards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Use functional components with hooks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All components must be accessible (WCAG 2.1 AA)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API responses follow JSON:API spec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## Key Commands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npm run dev     # Start dev server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npm run test    # Run test suite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npm run a11y    # Accessibility audit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## Critical Rules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NEVER skip accessibility attributes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All forms need aria-labels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10E3B3"/>
                </a:solidFill>
                <a:latin typeface="Courier New"/>
              </a:defRPr>
            </a:pPr>
            <a:r>
              <a:t>- Color contrast ratio &gt;= 4.5:1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777240"/>
            <a:ext cx="3474720" cy="3840480"/>
          </a:xfrm>
          <a:prstGeom prst="roundRect">
            <a:avLst/>
          </a:prstGeom>
          <a:solidFill>
            <a:srgbClr val="35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9824" y="868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E85A4F"/>
                </a:solidFill>
                <a:latin typeface="Arial"/>
              </a:defRPr>
            </a:pPr>
            <a:r>
              <a:t>Best Practices Applied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118872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00" b="1">
                <a:solidFill>
                  <a:srgbClr val="10E3B3"/>
                </a:solidFill>
              </a:defRPr>
            </a:pPr>
            <a:r>
              <a:t>Tech Stack First</a:t>
            </a:r>
          </a:p>
          <a:p>
            <a:pPr>
              <a:defRPr sz="800">
                <a:solidFill>
                  <a:srgbClr val="9AA5AF"/>
                </a:solidFill>
              </a:defRPr>
            </a:pPr>
            <a:r>
              <a:t>Claude knows exact versions and tools</a:t>
            </a:r>
          </a:p>
          <a:p>
            <a:pPr>
              <a:spcBef>
                <a:spcPts val="800"/>
              </a:spcBef>
              <a:defRPr sz="900" b="1">
                <a:solidFill>
                  <a:srgbClr val="10E3B3"/>
                </a:solidFill>
              </a:defRPr>
            </a:pPr>
            <a:r>
              <a:t>Code Standards</a:t>
            </a:r>
          </a:p>
          <a:p>
            <a:pPr>
              <a:defRPr sz="800">
                <a:solidFill>
                  <a:srgbClr val="9AA5AF"/>
                </a:solidFill>
              </a:defRPr>
            </a:pPr>
            <a:r>
              <a:t>Enforces consistency across code</a:t>
            </a:r>
          </a:p>
          <a:p>
            <a:pPr>
              <a:spcBef>
                <a:spcPts val="800"/>
              </a:spcBef>
              <a:defRPr sz="900" b="1">
                <a:solidFill>
                  <a:srgbClr val="10E3B3"/>
                </a:solidFill>
              </a:defRPr>
            </a:pPr>
            <a:r>
              <a:t>Key Commands</a:t>
            </a:r>
          </a:p>
          <a:p>
            <a:pPr>
              <a:defRPr sz="800">
                <a:solidFill>
                  <a:srgbClr val="9AA5AF"/>
                </a:solidFill>
              </a:defRPr>
            </a:pPr>
            <a:r>
              <a:t>Claude can run tests automatically</a:t>
            </a:r>
          </a:p>
          <a:p>
            <a:pPr>
              <a:spcBef>
                <a:spcPts val="800"/>
              </a:spcBef>
              <a:defRPr sz="900" b="1">
                <a:solidFill>
                  <a:srgbClr val="10E3B3"/>
                </a:solidFill>
              </a:defRPr>
            </a:pPr>
            <a:r>
              <a:t>Critical Rules</a:t>
            </a:r>
          </a:p>
          <a:p>
            <a:pPr>
              <a:defRPr sz="800">
                <a:solidFill>
                  <a:srgbClr val="9AA5AF"/>
                </a:solidFill>
              </a:defRPr>
            </a:pPr>
            <a:r>
              <a:t>Non-negotiable requirements</a:t>
            </a:r>
          </a:p>
          <a:p>
            <a:pPr>
              <a:spcBef>
                <a:spcPts val="800"/>
              </a:spcBef>
              <a:defRPr sz="900" b="1">
                <a:solidFill>
                  <a:srgbClr val="10E3B3"/>
                </a:solidFill>
              </a:defRPr>
            </a:pPr>
            <a:r>
              <a:t>Accessibility Focus</a:t>
            </a:r>
          </a:p>
          <a:p>
            <a:pPr>
              <a:defRPr sz="800">
                <a:solidFill>
                  <a:srgbClr val="9AA5AF"/>
                </a:solidFill>
              </a:defRPr>
            </a:pPr>
            <a:r>
              <a:t>508/WCAG compliance baked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Workshop Overview</dc:title>
  <dc:subject>PptxGenJS Presentation</dc:subject>
  <dc:creator>Workshop Team</dc:creator>
  <cp:lastModifiedBy>Workshop Team</cp:lastModifiedBy>
  <cp:revision>1</cp:revision>
  <dcterms:created xsi:type="dcterms:W3CDTF">2025-12-27T17:24:15Z</dcterms:created>
  <dcterms:modified xsi:type="dcterms:W3CDTF">2025-12-27T17:24:15Z</dcterms:modified>
</cp:coreProperties>
</file>